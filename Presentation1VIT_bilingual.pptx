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5" r:id="rId70"/>
    <p:sldId id="257" r:id="rId3"/>
    <p:sldId id="326" r:id="rId71"/>
    <p:sldId id="303" r:id="rId4"/>
    <p:sldId id="327" r:id="rId72"/>
    <p:sldId id="291" r:id="rId5"/>
    <p:sldId id="328" r:id="rId73"/>
    <p:sldId id="292" r:id="rId6"/>
    <p:sldId id="329" r:id="rId74"/>
    <p:sldId id="293" r:id="rId7"/>
    <p:sldId id="330" r:id="rId75"/>
    <p:sldId id="294" r:id="rId8"/>
    <p:sldId id="331" r:id="rId76"/>
    <p:sldId id="295" r:id="rId9"/>
    <p:sldId id="332" r:id="rId77"/>
    <p:sldId id="296" r:id="rId10"/>
    <p:sldId id="333" r:id="rId78"/>
    <p:sldId id="308" r:id="rId11"/>
    <p:sldId id="334" r:id="rId79"/>
    <p:sldId id="298" r:id="rId12"/>
    <p:sldId id="335" r:id="rId80"/>
    <p:sldId id="302" r:id="rId13"/>
    <p:sldId id="336" r:id="rId81"/>
    <p:sldId id="322" r:id="rId14"/>
    <p:sldId id="337" r:id="rId82"/>
    <p:sldId id="304" r:id="rId15"/>
    <p:sldId id="338" r:id="rId83"/>
    <p:sldId id="305" r:id="rId16"/>
    <p:sldId id="339" r:id="rId84"/>
    <p:sldId id="306" r:id="rId17"/>
    <p:sldId id="340" r:id="rId85"/>
    <p:sldId id="317" r:id="rId18"/>
    <p:sldId id="341" r:id="rId86"/>
    <p:sldId id="307" r:id="rId19"/>
    <p:sldId id="342" r:id="rId87"/>
    <p:sldId id="309" r:id="rId20"/>
    <p:sldId id="343" r:id="rId88"/>
    <p:sldId id="310" r:id="rId21"/>
    <p:sldId id="344" r:id="rId89"/>
    <p:sldId id="311" r:id="rId22"/>
    <p:sldId id="345" r:id="rId90"/>
    <p:sldId id="312" r:id="rId23"/>
    <p:sldId id="346" r:id="rId91"/>
    <p:sldId id="313" r:id="rId24"/>
    <p:sldId id="347" r:id="rId92"/>
    <p:sldId id="299" r:id="rId25"/>
    <p:sldId id="348" r:id="rId93"/>
    <p:sldId id="258" r:id="rId26"/>
    <p:sldId id="349" r:id="rId94"/>
    <p:sldId id="259" r:id="rId27"/>
    <p:sldId id="350" r:id="rId95"/>
    <p:sldId id="260" r:id="rId28"/>
    <p:sldId id="351" r:id="rId96"/>
    <p:sldId id="261" r:id="rId29"/>
    <p:sldId id="352" r:id="rId97"/>
    <p:sldId id="262" r:id="rId30"/>
    <p:sldId id="353" r:id="rId98"/>
    <p:sldId id="263" r:id="rId31"/>
    <p:sldId id="354" r:id="rId99"/>
    <p:sldId id="264" r:id="rId32"/>
    <p:sldId id="355" r:id="rId100"/>
    <p:sldId id="265" r:id="rId33"/>
    <p:sldId id="356" r:id="rId101"/>
    <p:sldId id="266" r:id="rId34"/>
    <p:sldId id="357" r:id="rId102"/>
    <p:sldId id="267" r:id="rId35"/>
    <p:sldId id="358" r:id="rId103"/>
    <p:sldId id="268" r:id="rId36"/>
    <p:sldId id="359" r:id="rId104"/>
    <p:sldId id="269" r:id="rId37"/>
    <p:sldId id="360" r:id="rId105"/>
    <p:sldId id="270" r:id="rId38"/>
    <p:sldId id="361" r:id="rId106"/>
    <p:sldId id="271" r:id="rId39"/>
    <p:sldId id="362" r:id="rId107"/>
    <p:sldId id="318" r:id="rId40"/>
    <p:sldId id="363" r:id="rId108"/>
    <p:sldId id="272" r:id="rId41"/>
    <p:sldId id="364" r:id="rId109"/>
    <p:sldId id="273" r:id="rId42"/>
    <p:sldId id="365" r:id="rId110"/>
    <p:sldId id="320" r:id="rId43"/>
    <p:sldId id="366" r:id="rId111"/>
    <p:sldId id="274" r:id="rId44"/>
    <p:sldId id="367" r:id="rId112"/>
    <p:sldId id="275" r:id="rId45"/>
    <p:sldId id="368" r:id="rId113"/>
    <p:sldId id="276" r:id="rId46"/>
    <p:sldId id="369" r:id="rId114"/>
    <p:sldId id="277" r:id="rId47"/>
    <p:sldId id="370" r:id="rId115"/>
    <p:sldId id="321" r:id="rId48"/>
    <p:sldId id="371" r:id="rId116"/>
    <p:sldId id="282" r:id="rId49"/>
    <p:sldId id="372" r:id="rId117"/>
    <p:sldId id="278" r:id="rId50"/>
    <p:sldId id="373" r:id="rId118"/>
    <p:sldId id="279" r:id="rId51"/>
    <p:sldId id="374" r:id="rId119"/>
    <p:sldId id="280" r:id="rId52"/>
    <p:sldId id="375" r:id="rId120"/>
    <p:sldId id="281" r:id="rId53"/>
    <p:sldId id="376" r:id="rId121"/>
    <p:sldId id="283" r:id="rId54"/>
    <p:sldId id="377" r:id="rId122"/>
    <p:sldId id="284" r:id="rId55"/>
    <p:sldId id="378" r:id="rId123"/>
    <p:sldId id="300" r:id="rId56"/>
    <p:sldId id="379" r:id="rId124"/>
    <p:sldId id="287" r:id="rId57"/>
    <p:sldId id="380" r:id="rId125"/>
    <p:sldId id="301" r:id="rId58"/>
    <p:sldId id="381" r:id="rId126"/>
    <p:sldId id="285" r:id="rId59"/>
    <p:sldId id="382" r:id="rId127"/>
    <p:sldId id="286" r:id="rId60"/>
    <p:sldId id="383" r:id="rId128"/>
    <p:sldId id="288" r:id="rId61"/>
    <p:sldId id="384" r:id="rId129"/>
    <p:sldId id="289" r:id="rId62"/>
    <p:sldId id="385" r:id="rId130"/>
    <p:sldId id="290" r:id="rId63"/>
    <p:sldId id="386" r:id="rId131"/>
    <p:sldId id="323" r:id="rId64"/>
    <p:sldId id="387" r:id="rId1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80" autoAdjust="0"/>
    <p:restoredTop sz="94660"/>
  </p:normalViewPr>
  <p:slideViewPr>
    <p:cSldViewPr snapToGrid="0">
      <p:cViewPr>
        <p:scale>
          <a:sx n="66" d="100"/>
          <a:sy n="66" d="100"/>
        </p:scale>
        <p:origin x="365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  
  <Relationship Id="rId70" Type="http://schemas.openxmlformats.org/officeDocument/2006/relationships/slide" Target="slides/slide65.xml"/>
  <Relationship Id="rId71" Type="http://schemas.openxmlformats.org/officeDocument/2006/relationships/slide" Target="slides/slide66.xml"/>
  <Relationship Id="rId72" Type="http://schemas.openxmlformats.org/officeDocument/2006/relationships/slide" Target="slides/slide67.xml"/>
  <Relationship Id="rId73" Type="http://schemas.openxmlformats.org/officeDocument/2006/relationships/slide" Target="slides/slide68.xml"/>
  <Relationship Id="rId74" Type="http://schemas.openxmlformats.org/officeDocument/2006/relationships/slide" Target="slides/slide69.xml"/>
  <Relationship Id="rId75" Type="http://schemas.openxmlformats.org/officeDocument/2006/relationships/slide" Target="slides/slide70.xml"/>
  <Relationship Id="rId76" Type="http://schemas.openxmlformats.org/officeDocument/2006/relationships/slide" Target="slides/slide71.xml"/>
  <Relationship Id="rId77" Type="http://schemas.openxmlformats.org/officeDocument/2006/relationships/slide" Target="slides/slide72.xml"/>
  <Relationship Id="rId78" Type="http://schemas.openxmlformats.org/officeDocument/2006/relationships/slide" Target="slides/slide73.xml"/>
  <Relationship Id="rId79" Type="http://schemas.openxmlformats.org/officeDocument/2006/relationships/slide" Target="slides/slide74.xml"/>
  <Relationship Id="rId80" Type="http://schemas.openxmlformats.org/officeDocument/2006/relationships/slide" Target="slides/slide75.xml"/>
  <Relationship Id="rId81" Type="http://schemas.openxmlformats.org/officeDocument/2006/relationships/slide" Target="slides/slide76.xml"/>
  <Relationship Id="rId82" Type="http://schemas.openxmlformats.org/officeDocument/2006/relationships/slide" Target="slides/slide77.xml"/>
  <Relationship Id="rId83" Type="http://schemas.openxmlformats.org/officeDocument/2006/relationships/slide" Target="slides/slide78.xml"/>
  <Relationship Id="rId84" Type="http://schemas.openxmlformats.org/officeDocument/2006/relationships/slide" Target="slides/slide79.xml"/>
  <Relationship Id="rId85" Type="http://schemas.openxmlformats.org/officeDocument/2006/relationships/slide" Target="slides/slide80.xml"/>
  <Relationship Id="rId86" Type="http://schemas.openxmlformats.org/officeDocument/2006/relationships/slide" Target="slides/slide81.xml"/>
  <Relationship Id="rId87" Type="http://schemas.openxmlformats.org/officeDocument/2006/relationships/slide" Target="slides/slide82.xml"/>
  <Relationship Id="rId88" Type="http://schemas.openxmlformats.org/officeDocument/2006/relationships/slide" Target="slides/slide83.xml"/>
  <Relationship Id="rId89" Type="http://schemas.openxmlformats.org/officeDocument/2006/relationships/slide" Target="slides/slide84.xml"/>
  <Relationship Id="rId90" Type="http://schemas.openxmlformats.org/officeDocument/2006/relationships/slide" Target="slides/slide85.xml"/>
  <Relationship Id="rId91" Type="http://schemas.openxmlformats.org/officeDocument/2006/relationships/slide" Target="slides/slide86.xml"/>
  <Relationship Id="rId92" Type="http://schemas.openxmlformats.org/officeDocument/2006/relationships/slide" Target="slides/slide87.xml"/>
  <Relationship Id="rId93" Type="http://schemas.openxmlformats.org/officeDocument/2006/relationships/slide" Target="slides/slide88.xml"/>
  <Relationship Id="rId94" Type="http://schemas.openxmlformats.org/officeDocument/2006/relationships/slide" Target="slides/slide89.xml"/>
  <Relationship Id="rId95" Type="http://schemas.openxmlformats.org/officeDocument/2006/relationships/slide" Target="slides/slide90.xml"/>
  <Relationship Id="rId96" Type="http://schemas.openxmlformats.org/officeDocument/2006/relationships/slide" Target="slides/slide91.xml"/>
  <Relationship Id="rId97" Type="http://schemas.openxmlformats.org/officeDocument/2006/relationships/slide" Target="slides/slide92.xml"/>
  <Relationship Id="rId98" Type="http://schemas.openxmlformats.org/officeDocument/2006/relationships/slide" Target="slides/slide93.xml"/>
  <Relationship Id="rId99" Type="http://schemas.openxmlformats.org/officeDocument/2006/relationships/slide" Target="slides/slide94.xml"/>
  <Relationship Id="rId100" Type="http://schemas.openxmlformats.org/officeDocument/2006/relationships/slide" Target="slides/slide95.xml"/>
  <Relationship Id="rId101" Type="http://schemas.openxmlformats.org/officeDocument/2006/relationships/slide" Target="slides/slide96.xml"/>
  <Relationship Id="rId102" Type="http://schemas.openxmlformats.org/officeDocument/2006/relationships/slide" Target="slides/slide97.xml"/>
  <Relationship Id="rId103" Type="http://schemas.openxmlformats.org/officeDocument/2006/relationships/slide" Target="slides/slide98.xml"/>
  <Relationship Id="rId104" Type="http://schemas.openxmlformats.org/officeDocument/2006/relationships/slide" Target="slides/slide99.xml"/>
  <Relationship Id="rId105" Type="http://schemas.openxmlformats.org/officeDocument/2006/relationships/slide" Target="slides/slide100.xml"/>
  <Relationship Id="rId106" Type="http://schemas.openxmlformats.org/officeDocument/2006/relationships/slide" Target="slides/slide101.xml"/>
  <Relationship Id="rId107" Type="http://schemas.openxmlformats.org/officeDocument/2006/relationships/slide" Target="slides/slide102.xml"/>
  <Relationship Id="rId108" Type="http://schemas.openxmlformats.org/officeDocument/2006/relationships/slide" Target="slides/slide103.xml"/>
  <Relationship Id="rId109" Type="http://schemas.openxmlformats.org/officeDocument/2006/relationships/slide" Target="slides/slide104.xml"/>
  <Relationship Id="rId110" Type="http://schemas.openxmlformats.org/officeDocument/2006/relationships/slide" Target="slides/slide105.xml"/>
  <Relationship Id="rId111" Type="http://schemas.openxmlformats.org/officeDocument/2006/relationships/slide" Target="slides/slide106.xml"/>
  <Relationship Id="rId112" Type="http://schemas.openxmlformats.org/officeDocument/2006/relationships/slide" Target="slides/slide107.xml"/>
  <Relationship Id="rId113" Type="http://schemas.openxmlformats.org/officeDocument/2006/relationships/slide" Target="slides/slide108.xml"/>
  <Relationship Id="rId114" Type="http://schemas.openxmlformats.org/officeDocument/2006/relationships/slide" Target="slides/slide109.xml"/>
  <Relationship Id="rId115" Type="http://schemas.openxmlformats.org/officeDocument/2006/relationships/slide" Target="slides/slide110.xml"/>
  <Relationship Id="rId116" Type="http://schemas.openxmlformats.org/officeDocument/2006/relationships/slide" Target="slides/slide111.xml"/>
  <Relationship Id="rId117" Type="http://schemas.openxmlformats.org/officeDocument/2006/relationships/slide" Target="slides/slide112.xml"/>
  <Relationship Id="rId118" Type="http://schemas.openxmlformats.org/officeDocument/2006/relationships/slide" Target="slides/slide113.xml"/>
  <Relationship Id="rId119" Type="http://schemas.openxmlformats.org/officeDocument/2006/relationships/slide" Target="slides/slide114.xml"/>
  <Relationship Id="rId120" Type="http://schemas.openxmlformats.org/officeDocument/2006/relationships/slide" Target="slides/slide115.xml"/>
  <Relationship Id="rId121" Type="http://schemas.openxmlformats.org/officeDocument/2006/relationships/slide" Target="slides/slide116.xml"/>
  <Relationship Id="rId122" Type="http://schemas.openxmlformats.org/officeDocument/2006/relationships/slide" Target="slides/slide117.xml"/>
  <Relationship Id="rId123" Type="http://schemas.openxmlformats.org/officeDocument/2006/relationships/slide" Target="slides/slide118.xml"/>
  <Relationship Id="rId124" Type="http://schemas.openxmlformats.org/officeDocument/2006/relationships/slide" Target="slides/slide119.xml"/>
  <Relationship Id="rId125" Type="http://schemas.openxmlformats.org/officeDocument/2006/relationships/slide" Target="slides/slide120.xml"/>
  <Relationship Id="rId126" Type="http://schemas.openxmlformats.org/officeDocument/2006/relationships/slide" Target="slides/slide121.xml"/>
  <Relationship Id="rId127" Type="http://schemas.openxmlformats.org/officeDocument/2006/relationships/slide" Target="slides/slide122.xml"/>
  <Relationship Id="rId128" Type="http://schemas.openxmlformats.org/officeDocument/2006/relationships/slide" Target="slides/slide123.xml"/>
  <Relationship Id="rId129" Type="http://schemas.openxmlformats.org/officeDocument/2006/relationships/slide" Target="slides/slide124.xml"/>
  <Relationship Id="rId130" Type="http://schemas.openxmlformats.org/officeDocument/2006/relationships/slide" Target="slides/slide125.xml"/>
  <Relationship Id="rId131" Type="http://schemas.openxmlformats.org/officeDocument/2006/relationships/slide" Target="slides/slide126.xml"/>
  <Relationship Id="rId132" Type="http://schemas.openxmlformats.org/officeDocument/2006/relationships/slide" Target="slides/slide127.xml"/>
  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5F9D8B-1AAB-41DE-B24F-66E78AFF16A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718B06F-1FC3-4F55-93DD-43BE09DF23AD}">
      <dgm:prSet/>
      <dgm:spPr/>
      <dgm:t>
        <a:bodyPr/>
        <a:lstStyle/>
        <a:p>
          <a:r>
            <a:rPr lang="en-US" b="1"/>
            <a:t>There is a cat locked inside a box.</a:t>
          </a:r>
          <a:endParaRPr lang="en-US"/>
        </a:p>
      </dgm:t>
    </dgm:pt>
    <dgm:pt modelId="{FDD660B9-2666-4A40-8734-43FF45FDCD60}" type="parTrans" cxnId="{FF774F97-5A43-476C-A7DD-D0277EEC248E}">
      <dgm:prSet/>
      <dgm:spPr/>
      <dgm:t>
        <a:bodyPr/>
        <a:lstStyle/>
        <a:p>
          <a:endParaRPr lang="en-US"/>
        </a:p>
      </dgm:t>
    </dgm:pt>
    <dgm:pt modelId="{8C2E33D4-38F6-44FA-A5D0-9C24F27114EF}" type="sibTrans" cxnId="{FF774F97-5A43-476C-A7DD-D0277EEC248E}">
      <dgm:prSet/>
      <dgm:spPr/>
      <dgm:t>
        <a:bodyPr/>
        <a:lstStyle/>
        <a:p>
          <a:endParaRPr lang="en-US"/>
        </a:p>
      </dgm:t>
    </dgm:pt>
    <dgm:pt modelId="{B1B41F70-7C16-458E-97F6-D7B37FEDB891}">
      <dgm:prSet/>
      <dgm:spPr/>
      <dgm:t>
        <a:bodyPr/>
        <a:lstStyle/>
        <a:p>
          <a:r>
            <a:rPr lang="en-US" b="1"/>
            <a:t>Inside the box, there's a tiny atom.</a:t>
          </a:r>
          <a:endParaRPr lang="en-US"/>
        </a:p>
      </dgm:t>
    </dgm:pt>
    <dgm:pt modelId="{A5F453F9-35B0-49BB-A449-2B98ACFCC229}" type="parTrans" cxnId="{1D4C4FA9-00E7-44BC-B207-8A3096453E76}">
      <dgm:prSet/>
      <dgm:spPr/>
      <dgm:t>
        <a:bodyPr/>
        <a:lstStyle/>
        <a:p>
          <a:endParaRPr lang="en-US"/>
        </a:p>
      </dgm:t>
    </dgm:pt>
    <dgm:pt modelId="{0D8BCD87-6E14-4F35-954F-EFFDBA75BB7A}" type="sibTrans" cxnId="{1D4C4FA9-00E7-44BC-B207-8A3096453E76}">
      <dgm:prSet/>
      <dgm:spPr/>
      <dgm:t>
        <a:bodyPr/>
        <a:lstStyle/>
        <a:p>
          <a:endParaRPr lang="en-US"/>
        </a:p>
      </dgm:t>
    </dgm:pt>
    <dgm:pt modelId="{ADE86A12-3955-45DE-ABC5-AE1B7B7A8798}">
      <dgm:prSet/>
      <dgm:spPr/>
      <dgm:t>
        <a:bodyPr/>
        <a:lstStyle/>
        <a:p>
          <a:r>
            <a:rPr lang="en-US" b="1"/>
            <a:t>If the atom breaks down, it releases poison and the cat dies.</a:t>
          </a:r>
          <a:endParaRPr lang="en-US"/>
        </a:p>
      </dgm:t>
    </dgm:pt>
    <dgm:pt modelId="{AF3485F1-32FA-461C-A800-EF61485C6046}" type="parTrans" cxnId="{93D60651-D196-4D6E-A0B3-4B4E620248B6}">
      <dgm:prSet/>
      <dgm:spPr/>
      <dgm:t>
        <a:bodyPr/>
        <a:lstStyle/>
        <a:p>
          <a:endParaRPr lang="en-US"/>
        </a:p>
      </dgm:t>
    </dgm:pt>
    <dgm:pt modelId="{85946C70-5D21-477C-A93F-F8DACC558AAE}" type="sibTrans" cxnId="{93D60651-D196-4D6E-A0B3-4B4E620248B6}">
      <dgm:prSet/>
      <dgm:spPr/>
      <dgm:t>
        <a:bodyPr/>
        <a:lstStyle/>
        <a:p>
          <a:endParaRPr lang="en-US"/>
        </a:p>
      </dgm:t>
    </dgm:pt>
    <dgm:pt modelId="{A4F6E6A0-FF84-4C57-AB0A-2C2B8A7659E9}">
      <dgm:prSet/>
      <dgm:spPr/>
      <dgm:t>
        <a:bodyPr/>
        <a:lstStyle/>
        <a:p>
          <a:r>
            <a:rPr lang="en-US" b="1"/>
            <a:t>If the atom doesn’t break down, the cat stays alive.</a:t>
          </a:r>
          <a:endParaRPr lang="en-US"/>
        </a:p>
      </dgm:t>
    </dgm:pt>
    <dgm:pt modelId="{7522D468-9F16-47E0-ADA3-ED34DBEC0A34}" type="parTrans" cxnId="{D44C8E5D-47C2-4ABF-A3CB-C63F75FCD7A2}">
      <dgm:prSet/>
      <dgm:spPr/>
      <dgm:t>
        <a:bodyPr/>
        <a:lstStyle/>
        <a:p>
          <a:endParaRPr lang="en-US"/>
        </a:p>
      </dgm:t>
    </dgm:pt>
    <dgm:pt modelId="{8DFD52C2-ED5B-48AE-A968-1B53504FA79E}" type="sibTrans" cxnId="{D44C8E5D-47C2-4ABF-A3CB-C63F75FCD7A2}">
      <dgm:prSet/>
      <dgm:spPr/>
      <dgm:t>
        <a:bodyPr/>
        <a:lstStyle/>
        <a:p>
          <a:endParaRPr lang="en-US"/>
        </a:p>
      </dgm:t>
    </dgm:pt>
    <dgm:pt modelId="{12455830-B1BD-4503-9401-42512D5EC565}" type="pres">
      <dgm:prSet presAssocID="{6D5F9D8B-1AAB-41DE-B24F-66E78AFF16A3}" presName="linear" presStyleCnt="0">
        <dgm:presLayoutVars>
          <dgm:animLvl val="lvl"/>
          <dgm:resizeHandles val="exact"/>
        </dgm:presLayoutVars>
      </dgm:prSet>
      <dgm:spPr/>
    </dgm:pt>
    <dgm:pt modelId="{DC473644-31FE-4C3C-9899-85F7418DD5D1}" type="pres">
      <dgm:prSet presAssocID="{1718B06F-1FC3-4F55-93DD-43BE09DF23A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9EDB569-42F8-46F2-8E3E-79B8B47D523F}" type="pres">
      <dgm:prSet presAssocID="{8C2E33D4-38F6-44FA-A5D0-9C24F27114EF}" presName="spacer" presStyleCnt="0"/>
      <dgm:spPr/>
    </dgm:pt>
    <dgm:pt modelId="{478E0508-DAA1-4F6F-B181-7E6AEC486F5B}" type="pres">
      <dgm:prSet presAssocID="{B1B41F70-7C16-458E-97F6-D7B37FEDB89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A2E914E-4CDC-4126-8E7A-4580190836FC}" type="pres">
      <dgm:prSet presAssocID="{0D8BCD87-6E14-4F35-954F-EFFDBA75BB7A}" presName="spacer" presStyleCnt="0"/>
      <dgm:spPr/>
    </dgm:pt>
    <dgm:pt modelId="{DD0F372E-C07A-4D09-A00E-62436CF316C5}" type="pres">
      <dgm:prSet presAssocID="{ADE86A12-3955-45DE-ABC5-AE1B7B7A879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FC8B383-5721-4452-8165-A1AAC31A69D2}" type="pres">
      <dgm:prSet presAssocID="{85946C70-5D21-477C-A93F-F8DACC558AAE}" presName="spacer" presStyleCnt="0"/>
      <dgm:spPr/>
    </dgm:pt>
    <dgm:pt modelId="{2D865E00-1065-4C62-A028-0DB041727F0B}" type="pres">
      <dgm:prSet presAssocID="{A4F6E6A0-FF84-4C57-AB0A-2C2B8A7659E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7047F16-D8EE-4BD7-913D-D6309E18DB9E}" type="presOf" srcId="{6D5F9D8B-1AAB-41DE-B24F-66E78AFF16A3}" destId="{12455830-B1BD-4503-9401-42512D5EC565}" srcOrd="0" destOrd="0" presId="urn:microsoft.com/office/officeart/2005/8/layout/vList2"/>
    <dgm:cxn modelId="{D44C8E5D-47C2-4ABF-A3CB-C63F75FCD7A2}" srcId="{6D5F9D8B-1AAB-41DE-B24F-66E78AFF16A3}" destId="{A4F6E6A0-FF84-4C57-AB0A-2C2B8A7659E9}" srcOrd="3" destOrd="0" parTransId="{7522D468-9F16-47E0-ADA3-ED34DBEC0A34}" sibTransId="{8DFD52C2-ED5B-48AE-A968-1B53504FA79E}"/>
    <dgm:cxn modelId="{9B949E5D-C039-43A3-9D58-4E0F17743222}" type="presOf" srcId="{1718B06F-1FC3-4F55-93DD-43BE09DF23AD}" destId="{DC473644-31FE-4C3C-9899-85F7418DD5D1}" srcOrd="0" destOrd="0" presId="urn:microsoft.com/office/officeart/2005/8/layout/vList2"/>
    <dgm:cxn modelId="{42A7114B-29CC-448F-B1C4-69AD3BE9088E}" type="presOf" srcId="{A4F6E6A0-FF84-4C57-AB0A-2C2B8A7659E9}" destId="{2D865E00-1065-4C62-A028-0DB041727F0B}" srcOrd="0" destOrd="0" presId="urn:microsoft.com/office/officeart/2005/8/layout/vList2"/>
    <dgm:cxn modelId="{93D60651-D196-4D6E-A0B3-4B4E620248B6}" srcId="{6D5F9D8B-1AAB-41DE-B24F-66E78AFF16A3}" destId="{ADE86A12-3955-45DE-ABC5-AE1B7B7A8798}" srcOrd="2" destOrd="0" parTransId="{AF3485F1-32FA-461C-A800-EF61485C6046}" sibTransId="{85946C70-5D21-477C-A93F-F8DACC558AAE}"/>
    <dgm:cxn modelId="{FF774F97-5A43-476C-A7DD-D0277EEC248E}" srcId="{6D5F9D8B-1AAB-41DE-B24F-66E78AFF16A3}" destId="{1718B06F-1FC3-4F55-93DD-43BE09DF23AD}" srcOrd="0" destOrd="0" parTransId="{FDD660B9-2666-4A40-8734-43FF45FDCD60}" sibTransId="{8C2E33D4-38F6-44FA-A5D0-9C24F27114EF}"/>
    <dgm:cxn modelId="{1D4C4FA9-00E7-44BC-B207-8A3096453E76}" srcId="{6D5F9D8B-1AAB-41DE-B24F-66E78AFF16A3}" destId="{B1B41F70-7C16-458E-97F6-D7B37FEDB891}" srcOrd="1" destOrd="0" parTransId="{A5F453F9-35B0-49BB-A449-2B98ACFCC229}" sibTransId="{0D8BCD87-6E14-4F35-954F-EFFDBA75BB7A}"/>
    <dgm:cxn modelId="{152ABFE1-226D-4608-87B0-5DBDA69F95EE}" type="presOf" srcId="{ADE86A12-3955-45DE-ABC5-AE1B7B7A8798}" destId="{DD0F372E-C07A-4D09-A00E-62436CF316C5}" srcOrd="0" destOrd="0" presId="urn:microsoft.com/office/officeart/2005/8/layout/vList2"/>
    <dgm:cxn modelId="{F4A0DBE3-8D3A-42D2-B1EA-C5D11F066684}" type="presOf" srcId="{B1B41F70-7C16-458E-97F6-D7B37FEDB891}" destId="{478E0508-DAA1-4F6F-B181-7E6AEC486F5B}" srcOrd="0" destOrd="0" presId="urn:microsoft.com/office/officeart/2005/8/layout/vList2"/>
    <dgm:cxn modelId="{94054A2D-A0A8-4FD3-8C40-0EEB33BA07EC}" type="presParOf" srcId="{12455830-B1BD-4503-9401-42512D5EC565}" destId="{DC473644-31FE-4C3C-9899-85F7418DD5D1}" srcOrd="0" destOrd="0" presId="urn:microsoft.com/office/officeart/2005/8/layout/vList2"/>
    <dgm:cxn modelId="{BC870FCB-B96C-4FD5-A1EC-62A49C5C44E1}" type="presParOf" srcId="{12455830-B1BD-4503-9401-42512D5EC565}" destId="{59EDB569-42F8-46F2-8E3E-79B8B47D523F}" srcOrd="1" destOrd="0" presId="urn:microsoft.com/office/officeart/2005/8/layout/vList2"/>
    <dgm:cxn modelId="{C894CADD-F655-4F53-9E94-7B77E1ADB0C9}" type="presParOf" srcId="{12455830-B1BD-4503-9401-42512D5EC565}" destId="{478E0508-DAA1-4F6F-B181-7E6AEC486F5B}" srcOrd="2" destOrd="0" presId="urn:microsoft.com/office/officeart/2005/8/layout/vList2"/>
    <dgm:cxn modelId="{DB550104-B63A-4234-BB4A-C908A85405FA}" type="presParOf" srcId="{12455830-B1BD-4503-9401-42512D5EC565}" destId="{8A2E914E-4CDC-4126-8E7A-4580190836FC}" srcOrd="3" destOrd="0" presId="urn:microsoft.com/office/officeart/2005/8/layout/vList2"/>
    <dgm:cxn modelId="{86F7703C-C681-4853-A4F2-F045675D8808}" type="presParOf" srcId="{12455830-B1BD-4503-9401-42512D5EC565}" destId="{DD0F372E-C07A-4D09-A00E-62436CF316C5}" srcOrd="4" destOrd="0" presId="urn:microsoft.com/office/officeart/2005/8/layout/vList2"/>
    <dgm:cxn modelId="{ECFE0807-3924-4848-A31A-A911E655EF4B}" type="presParOf" srcId="{12455830-B1BD-4503-9401-42512D5EC565}" destId="{6FC8B383-5721-4452-8165-A1AAC31A69D2}" srcOrd="5" destOrd="0" presId="urn:microsoft.com/office/officeart/2005/8/layout/vList2"/>
    <dgm:cxn modelId="{E3DF28FD-CECB-4562-A974-56C354B8BB2B}" type="presParOf" srcId="{12455830-B1BD-4503-9401-42512D5EC565}" destId="{2D865E00-1065-4C62-A028-0DB041727F0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F9D564-490C-4593-B71A-9363FF59B8D3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487337F-A3F4-4740-9A5E-B523C8F3DE64}">
      <dgm:prSet/>
      <dgm:spPr/>
      <dgm:t>
        <a:bodyPr/>
        <a:lstStyle/>
        <a:p>
          <a:r>
            <a:rPr lang="en-US"/>
            <a:t>Without RG</a:t>
          </a:r>
        </a:p>
      </dgm:t>
    </dgm:pt>
    <dgm:pt modelId="{143E8FB2-2C5F-46FB-A9C1-9B1687E473A3}" type="parTrans" cxnId="{011E21E3-9720-4ED5-8636-B891C73DA38F}">
      <dgm:prSet/>
      <dgm:spPr/>
      <dgm:t>
        <a:bodyPr/>
        <a:lstStyle/>
        <a:p>
          <a:endParaRPr lang="en-US"/>
        </a:p>
      </dgm:t>
    </dgm:pt>
    <dgm:pt modelId="{6CD351B2-B9BE-4FA4-A540-A257843D4DD1}" type="sibTrans" cxnId="{011E21E3-9720-4ED5-8636-B891C73DA38F}">
      <dgm:prSet/>
      <dgm:spPr/>
      <dgm:t>
        <a:bodyPr/>
        <a:lstStyle/>
        <a:p>
          <a:endParaRPr lang="en-US"/>
        </a:p>
      </dgm:t>
    </dgm:pt>
    <dgm:pt modelId="{36766282-7EFB-4374-90E0-2DCEE887433E}">
      <dgm:prSet/>
      <dgm:spPr/>
      <dgm:t>
        <a:bodyPr/>
        <a:lstStyle/>
        <a:p>
          <a:r>
            <a:rPr lang="en-US"/>
            <a:t>Simulate every hair on the cat</a:t>
          </a:r>
        </a:p>
      </dgm:t>
    </dgm:pt>
    <dgm:pt modelId="{5333D234-15DD-471E-8278-483E0F6E0D64}" type="parTrans" cxnId="{90353CE8-C5CB-4053-9958-1E77E8368CD2}">
      <dgm:prSet/>
      <dgm:spPr/>
      <dgm:t>
        <a:bodyPr/>
        <a:lstStyle/>
        <a:p>
          <a:endParaRPr lang="en-US"/>
        </a:p>
      </dgm:t>
    </dgm:pt>
    <dgm:pt modelId="{CEA50449-1D47-4A45-909A-B6F9DE4CC70C}" type="sibTrans" cxnId="{90353CE8-C5CB-4053-9958-1E77E8368CD2}">
      <dgm:prSet/>
      <dgm:spPr/>
      <dgm:t>
        <a:bodyPr/>
        <a:lstStyle/>
        <a:p>
          <a:endParaRPr lang="en-US"/>
        </a:p>
      </dgm:t>
    </dgm:pt>
    <dgm:pt modelId="{8DE71CFE-D320-4D79-8C89-D5C13C48D542}">
      <dgm:prSet/>
      <dgm:spPr/>
      <dgm:t>
        <a:bodyPr/>
        <a:lstStyle/>
        <a:p>
          <a:r>
            <a:rPr lang="en-US"/>
            <a:t>Store </a:t>
          </a:r>
          <a:r>
            <a:rPr lang="pt-BR"/>
            <a:t>2</a:t>
          </a:r>
          <a:r>
            <a:rPr lang="pt-BR" baseline="30000"/>
            <a:t>N </a:t>
          </a:r>
          <a:r>
            <a:rPr lang="en-US"/>
            <a:t>amplitudes</a:t>
          </a:r>
        </a:p>
      </dgm:t>
    </dgm:pt>
    <dgm:pt modelId="{58ADDB0C-7C09-4C50-A160-AF5D27144AA3}" type="parTrans" cxnId="{FD0D215B-49E9-4B65-A2BC-77FF8A43BAA2}">
      <dgm:prSet/>
      <dgm:spPr/>
      <dgm:t>
        <a:bodyPr/>
        <a:lstStyle/>
        <a:p>
          <a:endParaRPr lang="en-US"/>
        </a:p>
      </dgm:t>
    </dgm:pt>
    <dgm:pt modelId="{31CAAF79-1240-44FB-A208-136DC8C19643}" type="sibTrans" cxnId="{FD0D215B-49E9-4B65-A2BC-77FF8A43BAA2}">
      <dgm:prSet/>
      <dgm:spPr/>
      <dgm:t>
        <a:bodyPr/>
        <a:lstStyle/>
        <a:p>
          <a:endParaRPr lang="en-US"/>
        </a:p>
      </dgm:t>
    </dgm:pt>
    <dgm:pt modelId="{6BAB5DFA-FE2F-4100-BD4F-2A15279C969B}">
      <dgm:prSet/>
      <dgm:spPr/>
      <dgm:t>
        <a:bodyPr/>
        <a:lstStyle/>
        <a:p>
          <a:r>
            <a:rPr lang="en-US"/>
            <a:t>With RG</a:t>
          </a:r>
        </a:p>
      </dgm:t>
    </dgm:pt>
    <dgm:pt modelId="{7A953A03-AF8D-468F-83AD-1EA908C637A8}" type="parTrans" cxnId="{9AB12197-39A8-447E-B962-55807457C5DF}">
      <dgm:prSet/>
      <dgm:spPr/>
      <dgm:t>
        <a:bodyPr/>
        <a:lstStyle/>
        <a:p>
          <a:endParaRPr lang="en-US"/>
        </a:p>
      </dgm:t>
    </dgm:pt>
    <dgm:pt modelId="{4BBBE61D-32A6-4B9F-BD20-57053CD2400E}" type="sibTrans" cxnId="{9AB12197-39A8-447E-B962-55807457C5DF}">
      <dgm:prSet/>
      <dgm:spPr/>
      <dgm:t>
        <a:bodyPr/>
        <a:lstStyle/>
        <a:p>
          <a:endParaRPr lang="en-US"/>
        </a:p>
      </dgm:t>
    </dgm:pt>
    <dgm:pt modelId="{E5ADA5C4-5EDB-4DD9-B98D-61F87B3FA562}">
      <dgm:prSet/>
      <dgm:spPr/>
      <dgm:t>
        <a:bodyPr/>
        <a:lstStyle/>
        <a:p>
          <a:r>
            <a:rPr lang="en-US"/>
            <a:t>Track only two outcomes:</a:t>
          </a:r>
        </a:p>
      </dgm:t>
    </dgm:pt>
    <dgm:pt modelId="{5E66A0CF-0485-475C-9AF3-6553314A80EF}" type="parTrans" cxnId="{86078FCD-55DC-4C1F-8316-E358D4E76697}">
      <dgm:prSet/>
      <dgm:spPr/>
      <dgm:t>
        <a:bodyPr/>
        <a:lstStyle/>
        <a:p>
          <a:endParaRPr lang="en-US"/>
        </a:p>
      </dgm:t>
    </dgm:pt>
    <dgm:pt modelId="{92B039ED-C05A-4F5D-9927-0DB25C9B5BE2}" type="sibTrans" cxnId="{86078FCD-55DC-4C1F-8316-E358D4E76697}">
      <dgm:prSet/>
      <dgm:spPr/>
      <dgm:t>
        <a:bodyPr/>
        <a:lstStyle/>
        <a:p>
          <a:endParaRPr lang="en-US"/>
        </a:p>
      </dgm:t>
    </dgm:pt>
    <dgm:pt modelId="{C6295813-2812-4BAD-9724-E419B091B73C}" type="pres">
      <dgm:prSet presAssocID="{BBF9D564-490C-4593-B71A-9363FF59B8D3}" presName="diagram" presStyleCnt="0">
        <dgm:presLayoutVars>
          <dgm:dir/>
          <dgm:resizeHandles val="exact"/>
        </dgm:presLayoutVars>
      </dgm:prSet>
      <dgm:spPr/>
    </dgm:pt>
    <dgm:pt modelId="{03DE3880-90A9-417C-A4C2-9543CEA2AFE8}" type="pres">
      <dgm:prSet presAssocID="{E487337F-A3F4-4740-9A5E-B523C8F3DE64}" presName="node" presStyleLbl="node1" presStyleIdx="0" presStyleCnt="5">
        <dgm:presLayoutVars>
          <dgm:bulletEnabled val="1"/>
        </dgm:presLayoutVars>
      </dgm:prSet>
      <dgm:spPr/>
    </dgm:pt>
    <dgm:pt modelId="{6766C9D6-6A74-42C3-B68D-7986AA0F945D}" type="pres">
      <dgm:prSet presAssocID="{6CD351B2-B9BE-4FA4-A540-A257843D4DD1}" presName="sibTrans" presStyleLbl="sibTrans2D1" presStyleIdx="0" presStyleCnt="4"/>
      <dgm:spPr/>
    </dgm:pt>
    <dgm:pt modelId="{9E0C39BA-DAE3-4F80-9406-959482AFBC04}" type="pres">
      <dgm:prSet presAssocID="{6CD351B2-B9BE-4FA4-A540-A257843D4DD1}" presName="connectorText" presStyleLbl="sibTrans2D1" presStyleIdx="0" presStyleCnt="4"/>
      <dgm:spPr/>
    </dgm:pt>
    <dgm:pt modelId="{CCD451B5-DB66-495A-B710-858F35D2BF24}" type="pres">
      <dgm:prSet presAssocID="{36766282-7EFB-4374-90E0-2DCEE887433E}" presName="node" presStyleLbl="node1" presStyleIdx="1" presStyleCnt="5">
        <dgm:presLayoutVars>
          <dgm:bulletEnabled val="1"/>
        </dgm:presLayoutVars>
      </dgm:prSet>
      <dgm:spPr/>
    </dgm:pt>
    <dgm:pt modelId="{1992206A-37A4-476D-B365-F91A35DB04EC}" type="pres">
      <dgm:prSet presAssocID="{CEA50449-1D47-4A45-909A-B6F9DE4CC70C}" presName="sibTrans" presStyleLbl="sibTrans2D1" presStyleIdx="1" presStyleCnt="4"/>
      <dgm:spPr/>
    </dgm:pt>
    <dgm:pt modelId="{077BF50C-8245-4613-933A-14A56148CAE3}" type="pres">
      <dgm:prSet presAssocID="{CEA50449-1D47-4A45-909A-B6F9DE4CC70C}" presName="connectorText" presStyleLbl="sibTrans2D1" presStyleIdx="1" presStyleCnt="4"/>
      <dgm:spPr/>
    </dgm:pt>
    <dgm:pt modelId="{A83BDE79-A78A-46D9-BA2F-394C31996DCB}" type="pres">
      <dgm:prSet presAssocID="{8DE71CFE-D320-4D79-8C89-D5C13C48D542}" presName="node" presStyleLbl="node1" presStyleIdx="2" presStyleCnt="5">
        <dgm:presLayoutVars>
          <dgm:bulletEnabled val="1"/>
        </dgm:presLayoutVars>
      </dgm:prSet>
      <dgm:spPr/>
    </dgm:pt>
    <dgm:pt modelId="{9CA5FBBB-75AC-44E3-B6E4-BF04C2DA1812}" type="pres">
      <dgm:prSet presAssocID="{31CAAF79-1240-44FB-A208-136DC8C19643}" presName="sibTrans" presStyleLbl="sibTrans2D1" presStyleIdx="2" presStyleCnt="4"/>
      <dgm:spPr/>
    </dgm:pt>
    <dgm:pt modelId="{22FA0ADF-3B6D-4918-BB26-55B96713C29B}" type="pres">
      <dgm:prSet presAssocID="{31CAAF79-1240-44FB-A208-136DC8C19643}" presName="connectorText" presStyleLbl="sibTrans2D1" presStyleIdx="2" presStyleCnt="4"/>
      <dgm:spPr/>
    </dgm:pt>
    <dgm:pt modelId="{F2FFE6A9-7FB5-4AAB-817C-313BF280FF47}" type="pres">
      <dgm:prSet presAssocID="{6BAB5DFA-FE2F-4100-BD4F-2A15279C969B}" presName="node" presStyleLbl="node1" presStyleIdx="3" presStyleCnt="5">
        <dgm:presLayoutVars>
          <dgm:bulletEnabled val="1"/>
        </dgm:presLayoutVars>
      </dgm:prSet>
      <dgm:spPr/>
    </dgm:pt>
    <dgm:pt modelId="{BA77626A-D6D3-464E-90EC-2250674496FD}" type="pres">
      <dgm:prSet presAssocID="{4BBBE61D-32A6-4B9F-BD20-57053CD2400E}" presName="sibTrans" presStyleLbl="sibTrans2D1" presStyleIdx="3" presStyleCnt="4"/>
      <dgm:spPr/>
    </dgm:pt>
    <dgm:pt modelId="{E3C9AC66-7E17-43D4-A16F-9B577EBE9D2E}" type="pres">
      <dgm:prSet presAssocID="{4BBBE61D-32A6-4B9F-BD20-57053CD2400E}" presName="connectorText" presStyleLbl="sibTrans2D1" presStyleIdx="3" presStyleCnt="4"/>
      <dgm:spPr/>
    </dgm:pt>
    <dgm:pt modelId="{C4FA2A8F-69F2-4972-BD1F-89BD6006533D}" type="pres">
      <dgm:prSet presAssocID="{E5ADA5C4-5EDB-4DD9-B98D-61F87B3FA562}" presName="node" presStyleLbl="node1" presStyleIdx="4" presStyleCnt="5">
        <dgm:presLayoutVars>
          <dgm:bulletEnabled val="1"/>
        </dgm:presLayoutVars>
      </dgm:prSet>
      <dgm:spPr/>
    </dgm:pt>
  </dgm:ptLst>
  <dgm:cxnLst>
    <dgm:cxn modelId="{21B1930B-26EF-456B-BE62-AE9EF44CB886}" type="presOf" srcId="{4BBBE61D-32A6-4B9F-BD20-57053CD2400E}" destId="{E3C9AC66-7E17-43D4-A16F-9B577EBE9D2E}" srcOrd="1" destOrd="0" presId="urn:microsoft.com/office/officeart/2005/8/layout/process5"/>
    <dgm:cxn modelId="{8B5F7D0C-C1A8-4149-AEA7-71C610030EA7}" type="presOf" srcId="{8DE71CFE-D320-4D79-8C89-D5C13C48D542}" destId="{A83BDE79-A78A-46D9-BA2F-394C31996DCB}" srcOrd="0" destOrd="0" presId="urn:microsoft.com/office/officeart/2005/8/layout/process5"/>
    <dgm:cxn modelId="{1305003A-B89E-4D10-8AF0-D446D29DC17A}" type="presOf" srcId="{31CAAF79-1240-44FB-A208-136DC8C19643}" destId="{22FA0ADF-3B6D-4918-BB26-55B96713C29B}" srcOrd="1" destOrd="0" presId="urn:microsoft.com/office/officeart/2005/8/layout/process5"/>
    <dgm:cxn modelId="{FD0D215B-49E9-4B65-A2BC-77FF8A43BAA2}" srcId="{BBF9D564-490C-4593-B71A-9363FF59B8D3}" destId="{8DE71CFE-D320-4D79-8C89-D5C13C48D542}" srcOrd="2" destOrd="0" parTransId="{58ADDB0C-7C09-4C50-A160-AF5D27144AA3}" sibTransId="{31CAAF79-1240-44FB-A208-136DC8C19643}"/>
    <dgm:cxn modelId="{215ADB61-EC97-411F-9A18-44F82082F64A}" type="presOf" srcId="{6BAB5DFA-FE2F-4100-BD4F-2A15279C969B}" destId="{F2FFE6A9-7FB5-4AAB-817C-313BF280FF47}" srcOrd="0" destOrd="0" presId="urn:microsoft.com/office/officeart/2005/8/layout/process5"/>
    <dgm:cxn modelId="{5B22274B-0CC0-4483-8577-6770E907875B}" type="presOf" srcId="{E5ADA5C4-5EDB-4DD9-B98D-61F87B3FA562}" destId="{C4FA2A8F-69F2-4972-BD1F-89BD6006533D}" srcOrd="0" destOrd="0" presId="urn:microsoft.com/office/officeart/2005/8/layout/process5"/>
    <dgm:cxn modelId="{C918B071-C279-48D0-B163-3FC8558E717B}" type="presOf" srcId="{36766282-7EFB-4374-90E0-2DCEE887433E}" destId="{CCD451B5-DB66-495A-B710-858F35D2BF24}" srcOrd="0" destOrd="0" presId="urn:microsoft.com/office/officeart/2005/8/layout/process5"/>
    <dgm:cxn modelId="{7664DE87-A267-4DC4-9099-6B54B7498A26}" type="presOf" srcId="{CEA50449-1D47-4A45-909A-B6F9DE4CC70C}" destId="{1992206A-37A4-476D-B365-F91A35DB04EC}" srcOrd="0" destOrd="0" presId="urn:microsoft.com/office/officeart/2005/8/layout/process5"/>
    <dgm:cxn modelId="{E3DB368C-94F7-4206-90F6-5852C5EF92C5}" type="presOf" srcId="{6CD351B2-B9BE-4FA4-A540-A257843D4DD1}" destId="{6766C9D6-6A74-42C3-B68D-7986AA0F945D}" srcOrd="0" destOrd="0" presId="urn:microsoft.com/office/officeart/2005/8/layout/process5"/>
    <dgm:cxn modelId="{9AB12197-39A8-447E-B962-55807457C5DF}" srcId="{BBF9D564-490C-4593-B71A-9363FF59B8D3}" destId="{6BAB5DFA-FE2F-4100-BD4F-2A15279C969B}" srcOrd="3" destOrd="0" parTransId="{7A953A03-AF8D-468F-83AD-1EA908C637A8}" sibTransId="{4BBBE61D-32A6-4B9F-BD20-57053CD2400E}"/>
    <dgm:cxn modelId="{23F73198-56C5-451B-917A-336BBC71D989}" type="presOf" srcId="{4BBBE61D-32A6-4B9F-BD20-57053CD2400E}" destId="{BA77626A-D6D3-464E-90EC-2250674496FD}" srcOrd="0" destOrd="0" presId="urn:microsoft.com/office/officeart/2005/8/layout/process5"/>
    <dgm:cxn modelId="{E33E4BA2-2548-4C88-90EA-DC26AD294B5F}" type="presOf" srcId="{6CD351B2-B9BE-4FA4-A540-A257843D4DD1}" destId="{9E0C39BA-DAE3-4F80-9406-959482AFBC04}" srcOrd="1" destOrd="0" presId="urn:microsoft.com/office/officeart/2005/8/layout/process5"/>
    <dgm:cxn modelId="{404852AF-5B1B-4C76-8644-B0BDFEA65900}" type="presOf" srcId="{E487337F-A3F4-4740-9A5E-B523C8F3DE64}" destId="{03DE3880-90A9-417C-A4C2-9543CEA2AFE8}" srcOrd="0" destOrd="0" presId="urn:microsoft.com/office/officeart/2005/8/layout/process5"/>
    <dgm:cxn modelId="{1D0F59C5-9863-4CD0-92FC-5D152DAD3DC5}" type="presOf" srcId="{BBF9D564-490C-4593-B71A-9363FF59B8D3}" destId="{C6295813-2812-4BAD-9724-E419B091B73C}" srcOrd="0" destOrd="0" presId="urn:microsoft.com/office/officeart/2005/8/layout/process5"/>
    <dgm:cxn modelId="{86078FCD-55DC-4C1F-8316-E358D4E76697}" srcId="{BBF9D564-490C-4593-B71A-9363FF59B8D3}" destId="{E5ADA5C4-5EDB-4DD9-B98D-61F87B3FA562}" srcOrd="4" destOrd="0" parTransId="{5E66A0CF-0485-475C-9AF3-6553314A80EF}" sibTransId="{92B039ED-C05A-4F5D-9927-0DB25C9B5BE2}"/>
    <dgm:cxn modelId="{99F26FD4-CC76-4591-8666-14D09A2061ED}" type="presOf" srcId="{CEA50449-1D47-4A45-909A-B6F9DE4CC70C}" destId="{077BF50C-8245-4613-933A-14A56148CAE3}" srcOrd="1" destOrd="0" presId="urn:microsoft.com/office/officeart/2005/8/layout/process5"/>
    <dgm:cxn modelId="{011E21E3-9720-4ED5-8636-B891C73DA38F}" srcId="{BBF9D564-490C-4593-B71A-9363FF59B8D3}" destId="{E487337F-A3F4-4740-9A5E-B523C8F3DE64}" srcOrd="0" destOrd="0" parTransId="{143E8FB2-2C5F-46FB-A9C1-9B1687E473A3}" sibTransId="{6CD351B2-B9BE-4FA4-A540-A257843D4DD1}"/>
    <dgm:cxn modelId="{90353CE8-C5CB-4053-9958-1E77E8368CD2}" srcId="{BBF9D564-490C-4593-B71A-9363FF59B8D3}" destId="{36766282-7EFB-4374-90E0-2DCEE887433E}" srcOrd="1" destOrd="0" parTransId="{5333D234-15DD-471E-8278-483E0F6E0D64}" sibTransId="{CEA50449-1D47-4A45-909A-B6F9DE4CC70C}"/>
    <dgm:cxn modelId="{5ACCA7E8-FC00-468E-A837-152C60419C37}" type="presOf" srcId="{31CAAF79-1240-44FB-A208-136DC8C19643}" destId="{9CA5FBBB-75AC-44E3-B6E4-BF04C2DA1812}" srcOrd="0" destOrd="0" presId="urn:microsoft.com/office/officeart/2005/8/layout/process5"/>
    <dgm:cxn modelId="{4DDBD772-6D97-4361-88F0-07E41A2A9A05}" type="presParOf" srcId="{C6295813-2812-4BAD-9724-E419B091B73C}" destId="{03DE3880-90A9-417C-A4C2-9543CEA2AFE8}" srcOrd="0" destOrd="0" presId="urn:microsoft.com/office/officeart/2005/8/layout/process5"/>
    <dgm:cxn modelId="{1C96B4EE-559B-4F82-9787-97ADFA616FAB}" type="presParOf" srcId="{C6295813-2812-4BAD-9724-E419B091B73C}" destId="{6766C9D6-6A74-42C3-B68D-7986AA0F945D}" srcOrd="1" destOrd="0" presId="urn:microsoft.com/office/officeart/2005/8/layout/process5"/>
    <dgm:cxn modelId="{C485B30E-5565-4859-BABB-170DC584DD2E}" type="presParOf" srcId="{6766C9D6-6A74-42C3-B68D-7986AA0F945D}" destId="{9E0C39BA-DAE3-4F80-9406-959482AFBC04}" srcOrd="0" destOrd="0" presId="urn:microsoft.com/office/officeart/2005/8/layout/process5"/>
    <dgm:cxn modelId="{26C59407-E143-4F2D-8B6D-935B1C6753DD}" type="presParOf" srcId="{C6295813-2812-4BAD-9724-E419B091B73C}" destId="{CCD451B5-DB66-495A-B710-858F35D2BF24}" srcOrd="2" destOrd="0" presId="urn:microsoft.com/office/officeart/2005/8/layout/process5"/>
    <dgm:cxn modelId="{C8C46A33-5CAF-4D4C-AE72-243242C20AFD}" type="presParOf" srcId="{C6295813-2812-4BAD-9724-E419B091B73C}" destId="{1992206A-37A4-476D-B365-F91A35DB04EC}" srcOrd="3" destOrd="0" presId="urn:microsoft.com/office/officeart/2005/8/layout/process5"/>
    <dgm:cxn modelId="{F79A105E-0864-43B3-809E-463CB6E39C7E}" type="presParOf" srcId="{1992206A-37A4-476D-B365-F91A35DB04EC}" destId="{077BF50C-8245-4613-933A-14A56148CAE3}" srcOrd="0" destOrd="0" presId="urn:microsoft.com/office/officeart/2005/8/layout/process5"/>
    <dgm:cxn modelId="{F4F54086-EFE9-47F1-8711-4394BC5ADAAA}" type="presParOf" srcId="{C6295813-2812-4BAD-9724-E419B091B73C}" destId="{A83BDE79-A78A-46D9-BA2F-394C31996DCB}" srcOrd="4" destOrd="0" presId="urn:microsoft.com/office/officeart/2005/8/layout/process5"/>
    <dgm:cxn modelId="{B246FBD8-E7B4-468A-A930-E9425761A774}" type="presParOf" srcId="{C6295813-2812-4BAD-9724-E419B091B73C}" destId="{9CA5FBBB-75AC-44E3-B6E4-BF04C2DA1812}" srcOrd="5" destOrd="0" presId="urn:microsoft.com/office/officeart/2005/8/layout/process5"/>
    <dgm:cxn modelId="{7B79C511-C54D-47C0-BC57-179C4C5194D3}" type="presParOf" srcId="{9CA5FBBB-75AC-44E3-B6E4-BF04C2DA1812}" destId="{22FA0ADF-3B6D-4918-BB26-55B96713C29B}" srcOrd="0" destOrd="0" presId="urn:microsoft.com/office/officeart/2005/8/layout/process5"/>
    <dgm:cxn modelId="{DFC2C499-DB92-4AA1-B0D0-56336DC0318F}" type="presParOf" srcId="{C6295813-2812-4BAD-9724-E419B091B73C}" destId="{F2FFE6A9-7FB5-4AAB-817C-313BF280FF47}" srcOrd="6" destOrd="0" presId="urn:microsoft.com/office/officeart/2005/8/layout/process5"/>
    <dgm:cxn modelId="{70391DBD-E5F0-4F89-BF48-B8BB6FF35DA5}" type="presParOf" srcId="{C6295813-2812-4BAD-9724-E419B091B73C}" destId="{BA77626A-D6D3-464E-90EC-2250674496FD}" srcOrd="7" destOrd="0" presId="urn:microsoft.com/office/officeart/2005/8/layout/process5"/>
    <dgm:cxn modelId="{7A2F50A1-56C4-4798-A020-E6699ADA1FE5}" type="presParOf" srcId="{BA77626A-D6D3-464E-90EC-2250674496FD}" destId="{E3C9AC66-7E17-43D4-A16F-9B577EBE9D2E}" srcOrd="0" destOrd="0" presId="urn:microsoft.com/office/officeart/2005/8/layout/process5"/>
    <dgm:cxn modelId="{C5856919-50CC-4117-9A92-569534992747}" type="presParOf" srcId="{C6295813-2812-4BAD-9724-E419B091B73C}" destId="{C4FA2A8F-69F2-4972-BD1F-89BD6006533D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1DFE72-D6FD-4173-97A4-A8314957DED2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F57CC23-B98E-4C64-A889-07CC0B2DBF66}">
      <dgm:prSet/>
      <dgm:spPr/>
      <dgm:t>
        <a:bodyPr/>
        <a:lstStyle/>
        <a:p>
          <a:r>
            <a:rPr lang="en-US" dirty="0"/>
            <a:t>A digital signal contains both high-frequency noise and low-frequency clinical trends. To efficiently extract only clinically relevant features, a coarse-graining approach is applied by averaging every 100 consecutive samples. This is conceptually most similar to</a:t>
          </a:r>
        </a:p>
      </dgm:t>
    </dgm:pt>
    <dgm:pt modelId="{F76088D4-3368-4D8F-9366-601EF9DA40C1}" type="parTrans" cxnId="{EEBD1A33-8201-42A8-B00B-B6BE9E75072C}">
      <dgm:prSet/>
      <dgm:spPr/>
      <dgm:t>
        <a:bodyPr/>
        <a:lstStyle/>
        <a:p>
          <a:endParaRPr lang="en-US"/>
        </a:p>
      </dgm:t>
    </dgm:pt>
    <dgm:pt modelId="{EBAE54F0-4894-4247-ACA0-A83507677E65}" type="sibTrans" cxnId="{EEBD1A33-8201-42A8-B00B-B6BE9E75072C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014A6FCE-93E4-4DB7-BAAB-ACD5773278B0}">
      <dgm:prSet/>
      <dgm:spPr/>
      <dgm:t>
        <a:bodyPr/>
        <a:lstStyle/>
        <a:p>
          <a:r>
            <a:rPr lang="en-US" dirty="0"/>
            <a:t>A) Fourier Transform</a:t>
          </a:r>
          <a:br>
            <a:rPr lang="en-US" dirty="0"/>
          </a:br>
          <a:r>
            <a:rPr lang="en-US" dirty="0"/>
            <a:t>B) Principal Component Analysis</a:t>
          </a:r>
          <a:br>
            <a:rPr lang="en-US" dirty="0"/>
          </a:br>
          <a:r>
            <a:rPr lang="en-US" dirty="0"/>
            <a:t>C) Renormalization Group Flow</a:t>
          </a:r>
          <a:br>
            <a:rPr lang="en-US" dirty="0"/>
          </a:br>
          <a:r>
            <a:rPr lang="en-US" dirty="0"/>
            <a:t>D) Nyquist Sampling</a:t>
          </a:r>
          <a:br>
            <a:rPr lang="en-US" dirty="0"/>
          </a:br>
          <a:r>
            <a:rPr lang="en-US" dirty="0"/>
            <a:t>E) Histogram Equalization</a:t>
          </a:r>
        </a:p>
      </dgm:t>
    </dgm:pt>
    <dgm:pt modelId="{55C86403-4FF0-40AB-92BF-9CE66474DA1E}" type="parTrans" cxnId="{BB35F752-207D-47DF-AC47-D6BC43F7E1EC}">
      <dgm:prSet/>
      <dgm:spPr/>
      <dgm:t>
        <a:bodyPr/>
        <a:lstStyle/>
        <a:p>
          <a:endParaRPr lang="en-US"/>
        </a:p>
      </dgm:t>
    </dgm:pt>
    <dgm:pt modelId="{1EAC3101-2A2B-47EE-8AE0-E9A6450C9C30}" type="sibTrans" cxnId="{BB35F752-207D-47DF-AC47-D6BC43F7E1EC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592F580F-0D73-475D-BD56-EAA83ECC6323}" type="pres">
      <dgm:prSet presAssocID="{381DFE72-D6FD-4173-97A4-A8314957DED2}" presName="Name0" presStyleCnt="0">
        <dgm:presLayoutVars>
          <dgm:animLvl val="lvl"/>
          <dgm:resizeHandles val="exact"/>
        </dgm:presLayoutVars>
      </dgm:prSet>
      <dgm:spPr/>
    </dgm:pt>
    <dgm:pt modelId="{624DB0C5-E2D9-4B28-BE5E-F304F1DECC25}" type="pres">
      <dgm:prSet presAssocID="{FF57CC23-B98E-4C64-A889-07CC0B2DBF66}" presName="compositeNode" presStyleCnt="0">
        <dgm:presLayoutVars>
          <dgm:bulletEnabled val="1"/>
        </dgm:presLayoutVars>
      </dgm:prSet>
      <dgm:spPr/>
    </dgm:pt>
    <dgm:pt modelId="{1ECB2C9A-83B8-4947-9EE3-68613743DC33}" type="pres">
      <dgm:prSet presAssocID="{FF57CC23-B98E-4C64-A889-07CC0B2DBF66}" presName="bgRect" presStyleLbl="alignNode1" presStyleIdx="0" presStyleCnt="2" custLinFactNeighborX="1200" custLinFactNeighborY="-9577"/>
      <dgm:spPr/>
    </dgm:pt>
    <dgm:pt modelId="{A675FC8F-7B2A-4E6B-8CFD-9DF2B5B2008C}" type="pres">
      <dgm:prSet presAssocID="{EBAE54F0-4894-4247-ACA0-A83507677E65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250BC58F-C6B6-467E-A580-CBA6266C3247}" type="pres">
      <dgm:prSet presAssocID="{FF57CC23-B98E-4C64-A889-07CC0B2DBF66}" presName="nodeRect" presStyleLbl="alignNode1" presStyleIdx="0" presStyleCnt="2">
        <dgm:presLayoutVars>
          <dgm:bulletEnabled val="1"/>
        </dgm:presLayoutVars>
      </dgm:prSet>
      <dgm:spPr/>
    </dgm:pt>
    <dgm:pt modelId="{4ABF0973-1DD4-4D3F-98EA-7AEBED64BEA1}" type="pres">
      <dgm:prSet presAssocID="{EBAE54F0-4894-4247-ACA0-A83507677E65}" presName="sibTrans" presStyleCnt="0"/>
      <dgm:spPr/>
    </dgm:pt>
    <dgm:pt modelId="{BF2EEBDE-6000-4B59-BC6D-292787246E3C}" type="pres">
      <dgm:prSet presAssocID="{014A6FCE-93E4-4DB7-BAAB-ACD5773278B0}" presName="compositeNode" presStyleCnt="0">
        <dgm:presLayoutVars>
          <dgm:bulletEnabled val="1"/>
        </dgm:presLayoutVars>
      </dgm:prSet>
      <dgm:spPr/>
    </dgm:pt>
    <dgm:pt modelId="{49C3B087-8271-461F-9268-F9BD803AEA27}" type="pres">
      <dgm:prSet presAssocID="{014A6FCE-93E4-4DB7-BAAB-ACD5773278B0}" presName="bgRect" presStyleLbl="alignNode1" presStyleIdx="1" presStyleCnt="2"/>
      <dgm:spPr/>
    </dgm:pt>
    <dgm:pt modelId="{D2C6983C-58B3-4895-B3F2-B3BBF7C0E53E}" type="pres">
      <dgm:prSet presAssocID="{1EAC3101-2A2B-47EE-8AE0-E9A6450C9C30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9E354BF4-3736-4A2A-A04F-89E27C3C365B}" type="pres">
      <dgm:prSet presAssocID="{014A6FCE-93E4-4DB7-BAAB-ACD5773278B0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239FC405-CBDD-4A09-96B9-B4A0C1F1B22D}" type="presOf" srcId="{381DFE72-D6FD-4173-97A4-A8314957DED2}" destId="{592F580F-0D73-475D-BD56-EAA83ECC6323}" srcOrd="0" destOrd="0" presId="urn:microsoft.com/office/officeart/2016/7/layout/LinearBlockProcessNumbered"/>
    <dgm:cxn modelId="{D5BD160B-4EBA-419E-86EC-1A5ECA792C14}" type="presOf" srcId="{FF57CC23-B98E-4C64-A889-07CC0B2DBF66}" destId="{250BC58F-C6B6-467E-A580-CBA6266C3247}" srcOrd="1" destOrd="0" presId="urn:microsoft.com/office/officeart/2016/7/layout/LinearBlockProcessNumbered"/>
    <dgm:cxn modelId="{EEBD1A33-8201-42A8-B00B-B6BE9E75072C}" srcId="{381DFE72-D6FD-4173-97A4-A8314957DED2}" destId="{FF57CC23-B98E-4C64-A889-07CC0B2DBF66}" srcOrd="0" destOrd="0" parTransId="{F76088D4-3368-4D8F-9366-601EF9DA40C1}" sibTransId="{EBAE54F0-4894-4247-ACA0-A83507677E65}"/>
    <dgm:cxn modelId="{52CBEB6A-6ED2-43BD-8172-6BC33A6F1593}" type="presOf" srcId="{014A6FCE-93E4-4DB7-BAAB-ACD5773278B0}" destId="{9E354BF4-3736-4A2A-A04F-89E27C3C365B}" srcOrd="1" destOrd="0" presId="urn:microsoft.com/office/officeart/2016/7/layout/LinearBlockProcessNumbered"/>
    <dgm:cxn modelId="{BB35F752-207D-47DF-AC47-D6BC43F7E1EC}" srcId="{381DFE72-D6FD-4173-97A4-A8314957DED2}" destId="{014A6FCE-93E4-4DB7-BAAB-ACD5773278B0}" srcOrd="1" destOrd="0" parTransId="{55C86403-4FF0-40AB-92BF-9CE66474DA1E}" sibTransId="{1EAC3101-2A2B-47EE-8AE0-E9A6450C9C30}"/>
    <dgm:cxn modelId="{D509D355-31FA-48E0-94E5-342D77C3DC8B}" type="presOf" srcId="{014A6FCE-93E4-4DB7-BAAB-ACD5773278B0}" destId="{49C3B087-8271-461F-9268-F9BD803AEA27}" srcOrd="0" destOrd="0" presId="urn:microsoft.com/office/officeart/2016/7/layout/LinearBlockProcessNumbered"/>
    <dgm:cxn modelId="{6A70C87B-7E87-46C5-9445-E27FB11D58BB}" type="presOf" srcId="{1EAC3101-2A2B-47EE-8AE0-E9A6450C9C30}" destId="{D2C6983C-58B3-4895-B3F2-B3BBF7C0E53E}" srcOrd="0" destOrd="0" presId="urn:microsoft.com/office/officeart/2016/7/layout/LinearBlockProcessNumbered"/>
    <dgm:cxn modelId="{1B45D9A9-26D2-424B-888E-D484E2AF23DE}" type="presOf" srcId="{FF57CC23-B98E-4C64-A889-07CC0B2DBF66}" destId="{1ECB2C9A-83B8-4947-9EE3-68613743DC33}" srcOrd="0" destOrd="0" presId="urn:microsoft.com/office/officeart/2016/7/layout/LinearBlockProcessNumbered"/>
    <dgm:cxn modelId="{6DEFAFD0-33B2-49D4-8DDE-1EB57BC15E2A}" type="presOf" srcId="{EBAE54F0-4894-4247-ACA0-A83507677E65}" destId="{A675FC8F-7B2A-4E6B-8CFD-9DF2B5B2008C}" srcOrd="0" destOrd="0" presId="urn:microsoft.com/office/officeart/2016/7/layout/LinearBlockProcessNumbered"/>
    <dgm:cxn modelId="{EDA57741-5E4D-4C06-B758-03BDB56C0BF4}" type="presParOf" srcId="{592F580F-0D73-475D-BD56-EAA83ECC6323}" destId="{624DB0C5-E2D9-4B28-BE5E-F304F1DECC25}" srcOrd="0" destOrd="0" presId="urn:microsoft.com/office/officeart/2016/7/layout/LinearBlockProcessNumbered"/>
    <dgm:cxn modelId="{52060852-2E9C-4F6E-880F-84225A431DB3}" type="presParOf" srcId="{624DB0C5-E2D9-4B28-BE5E-F304F1DECC25}" destId="{1ECB2C9A-83B8-4947-9EE3-68613743DC33}" srcOrd="0" destOrd="0" presId="urn:microsoft.com/office/officeart/2016/7/layout/LinearBlockProcessNumbered"/>
    <dgm:cxn modelId="{BFDEDA38-CB21-441A-825A-DBBF0BEA9DEE}" type="presParOf" srcId="{624DB0C5-E2D9-4B28-BE5E-F304F1DECC25}" destId="{A675FC8F-7B2A-4E6B-8CFD-9DF2B5B2008C}" srcOrd="1" destOrd="0" presId="urn:microsoft.com/office/officeart/2016/7/layout/LinearBlockProcessNumbered"/>
    <dgm:cxn modelId="{A72E1E1D-4B0D-458F-958E-5835C7906B99}" type="presParOf" srcId="{624DB0C5-E2D9-4B28-BE5E-F304F1DECC25}" destId="{250BC58F-C6B6-467E-A580-CBA6266C3247}" srcOrd="2" destOrd="0" presId="urn:microsoft.com/office/officeart/2016/7/layout/LinearBlockProcessNumbered"/>
    <dgm:cxn modelId="{19272AAA-E983-4FE8-B56A-88DE2A48673B}" type="presParOf" srcId="{592F580F-0D73-475D-BD56-EAA83ECC6323}" destId="{4ABF0973-1DD4-4D3F-98EA-7AEBED64BEA1}" srcOrd="1" destOrd="0" presId="urn:microsoft.com/office/officeart/2016/7/layout/LinearBlockProcessNumbered"/>
    <dgm:cxn modelId="{8A4A2B33-9471-467E-A4AC-A89B44E4A7C3}" type="presParOf" srcId="{592F580F-0D73-475D-BD56-EAA83ECC6323}" destId="{BF2EEBDE-6000-4B59-BC6D-292787246E3C}" srcOrd="2" destOrd="0" presId="urn:microsoft.com/office/officeart/2016/7/layout/LinearBlockProcessNumbered"/>
    <dgm:cxn modelId="{30264A54-F2D5-4926-844E-CE1C92D25BE5}" type="presParOf" srcId="{BF2EEBDE-6000-4B59-BC6D-292787246E3C}" destId="{49C3B087-8271-461F-9268-F9BD803AEA27}" srcOrd="0" destOrd="0" presId="urn:microsoft.com/office/officeart/2016/7/layout/LinearBlockProcessNumbered"/>
    <dgm:cxn modelId="{8B40EA24-20A6-4463-8217-BD618AB6FBCF}" type="presParOf" srcId="{BF2EEBDE-6000-4B59-BC6D-292787246E3C}" destId="{D2C6983C-58B3-4895-B3F2-B3BBF7C0E53E}" srcOrd="1" destOrd="0" presId="urn:microsoft.com/office/officeart/2016/7/layout/LinearBlockProcessNumbered"/>
    <dgm:cxn modelId="{38C2CE94-A658-4DC2-9FEE-A04593586816}" type="presParOf" srcId="{BF2EEBDE-6000-4B59-BC6D-292787246E3C}" destId="{9E354BF4-3736-4A2A-A04F-89E27C3C365B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2203784-F5B5-4C4A-A9C0-0645C3DF515D}" type="doc">
      <dgm:prSet loTypeId="urn:microsoft.com/office/officeart/2005/8/layout/vProcess5" loCatId="process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2082AD1-D7F6-4711-B7C3-29335BF48FF5}">
      <dgm:prSet custT="1"/>
      <dgm:spPr/>
      <dgm:t>
        <a:bodyPr/>
        <a:lstStyle/>
        <a:p>
          <a:r>
            <a:rPr lang="en-US" sz="1800" dirty="0"/>
            <a:t>Just as Indian temples were built from the </a:t>
          </a:r>
          <a:r>
            <a:rPr lang="en-US" sz="1800" b="1" dirty="0"/>
            <a:t>outside in</a:t>
          </a:r>
          <a:r>
            <a:rPr lang="en-US" sz="1800" dirty="0"/>
            <a:t>, starting from complex towers (Gopuram) and moving to the </a:t>
          </a:r>
          <a:r>
            <a:rPr lang="en-US" sz="1800" b="1" dirty="0"/>
            <a:t>simple core (Sanctum)</a:t>
          </a:r>
          <a:r>
            <a:rPr lang="en-US" sz="1800" dirty="0"/>
            <a:t>,</a:t>
          </a:r>
        </a:p>
      </dgm:t>
    </dgm:pt>
    <dgm:pt modelId="{DF7EF5BE-6660-46EB-B0DC-A192359FF498}" type="parTrans" cxnId="{453A4912-9698-407B-9A2F-F2324A8D2124}">
      <dgm:prSet/>
      <dgm:spPr/>
      <dgm:t>
        <a:bodyPr/>
        <a:lstStyle/>
        <a:p>
          <a:endParaRPr lang="en-US"/>
        </a:p>
      </dgm:t>
    </dgm:pt>
    <dgm:pt modelId="{F098E2B2-C69D-4415-BA63-A2FF9AAEC9BA}" type="sibTrans" cxnId="{453A4912-9698-407B-9A2F-F2324A8D2124}">
      <dgm:prSet/>
      <dgm:spPr/>
      <dgm:t>
        <a:bodyPr/>
        <a:lstStyle/>
        <a:p>
          <a:endParaRPr lang="en-US"/>
        </a:p>
      </dgm:t>
    </dgm:pt>
    <dgm:pt modelId="{B5E6EFE0-25F8-43A9-85B5-21ED3A1A9A4B}">
      <dgm:prSet/>
      <dgm:spPr/>
      <dgm:t>
        <a:bodyPr/>
        <a:lstStyle/>
        <a:p>
          <a:r>
            <a:rPr lang="en-US" dirty="0"/>
            <a:t>AI and quantum systems must also zoom in on the </a:t>
          </a:r>
          <a:r>
            <a:rPr lang="en-US" b="1" dirty="0"/>
            <a:t>core information</a:t>
          </a:r>
          <a:r>
            <a:rPr lang="en-US" dirty="0"/>
            <a:t>  filtering out complexity using </a:t>
          </a:r>
          <a:r>
            <a:rPr lang="en-US" b="1" dirty="0"/>
            <a:t>renormalization and tensor logic</a:t>
          </a:r>
          <a:endParaRPr lang="en-US" dirty="0"/>
        </a:p>
      </dgm:t>
    </dgm:pt>
    <dgm:pt modelId="{851B5C3E-673F-4263-B9C2-EDBF9DDD4CBE}" type="parTrans" cxnId="{816F6C48-3791-45B5-890C-DDE322D6DEDB}">
      <dgm:prSet/>
      <dgm:spPr/>
      <dgm:t>
        <a:bodyPr/>
        <a:lstStyle/>
        <a:p>
          <a:endParaRPr lang="en-US"/>
        </a:p>
      </dgm:t>
    </dgm:pt>
    <dgm:pt modelId="{EA892945-18F1-42DA-9CA0-F07FEA57CFE1}" type="sibTrans" cxnId="{816F6C48-3791-45B5-890C-DDE322D6DEDB}">
      <dgm:prSet/>
      <dgm:spPr/>
      <dgm:t>
        <a:bodyPr/>
        <a:lstStyle/>
        <a:p>
          <a:endParaRPr lang="en-US"/>
        </a:p>
      </dgm:t>
    </dgm:pt>
    <dgm:pt modelId="{13783D30-256B-4EB6-B856-38C3943F4D43}" type="pres">
      <dgm:prSet presAssocID="{32203784-F5B5-4C4A-A9C0-0645C3DF515D}" presName="outerComposite" presStyleCnt="0">
        <dgm:presLayoutVars>
          <dgm:chMax val="5"/>
          <dgm:dir/>
          <dgm:resizeHandles val="exact"/>
        </dgm:presLayoutVars>
      </dgm:prSet>
      <dgm:spPr/>
    </dgm:pt>
    <dgm:pt modelId="{26A5FD9B-4D5E-4B84-BE75-33DABA1EFCE8}" type="pres">
      <dgm:prSet presAssocID="{32203784-F5B5-4C4A-A9C0-0645C3DF515D}" presName="dummyMaxCanvas" presStyleCnt="0">
        <dgm:presLayoutVars/>
      </dgm:prSet>
      <dgm:spPr/>
    </dgm:pt>
    <dgm:pt modelId="{5ACEA57D-6F5F-43BB-9C4F-83F3518C86F0}" type="pres">
      <dgm:prSet presAssocID="{32203784-F5B5-4C4A-A9C0-0645C3DF515D}" presName="TwoNodes_1" presStyleLbl="node1" presStyleIdx="0" presStyleCnt="2">
        <dgm:presLayoutVars>
          <dgm:bulletEnabled val="1"/>
        </dgm:presLayoutVars>
      </dgm:prSet>
      <dgm:spPr/>
    </dgm:pt>
    <dgm:pt modelId="{87E05058-5861-4E72-8E01-4B7D8A559B09}" type="pres">
      <dgm:prSet presAssocID="{32203784-F5B5-4C4A-A9C0-0645C3DF515D}" presName="TwoNodes_2" presStyleLbl="node1" presStyleIdx="1" presStyleCnt="2">
        <dgm:presLayoutVars>
          <dgm:bulletEnabled val="1"/>
        </dgm:presLayoutVars>
      </dgm:prSet>
      <dgm:spPr/>
    </dgm:pt>
    <dgm:pt modelId="{33BAE158-535B-41E3-AC2E-A6F5ECBDAECA}" type="pres">
      <dgm:prSet presAssocID="{32203784-F5B5-4C4A-A9C0-0645C3DF515D}" presName="TwoConn_1-2" presStyleLbl="fgAccFollowNode1" presStyleIdx="0" presStyleCnt="1">
        <dgm:presLayoutVars>
          <dgm:bulletEnabled val="1"/>
        </dgm:presLayoutVars>
      </dgm:prSet>
      <dgm:spPr/>
    </dgm:pt>
    <dgm:pt modelId="{8DDF1AA6-FB83-4C23-A65D-482A1572AF13}" type="pres">
      <dgm:prSet presAssocID="{32203784-F5B5-4C4A-A9C0-0645C3DF515D}" presName="TwoNodes_1_text" presStyleLbl="node1" presStyleIdx="1" presStyleCnt="2">
        <dgm:presLayoutVars>
          <dgm:bulletEnabled val="1"/>
        </dgm:presLayoutVars>
      </dgm:prSet>
      <dgm:spPr/>
    </dgm:pt>
    <dgm:pt modelId="{8694E304-63F4-4D8D-9C11-0BACB4909564}" type="pres">
      <dgm:prSet presAssocID="{32203784-F5B5-4C4A-A9C0-0645C3DF515D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453A4912-9698-407B-9A2F-F2324A8D2124}" srcId="{32203784-F5B5-4C4A-A9C0-0645C3DF515D}" destId="{72082AD1-D7F6-4711-B7C3-29335BF48FF5}" srcOrd="0" destOrd="0" parTransId="{DF7EF5BE-6660-46EB-B0DC-A192359FF498}" sibTransId="{F098E2B2-C69D-4415-BA63-A2FF9AAEC9BA}"/>
    <dgm:cxn modelId="{AE8EE31F-F648-4A70-AF1A-86E7F647707A}" type="presOf" srcId="{32203784-F5B5-4C4A-A9C0-0645C3DF515D}" destId="{13783D30-256B-4EB6-B856-38C3943F4D43}" srcOrd="0" destOrd="0" presId="urn:microsoft.com/office/officeart/2005/8/layout/vProcess5"/>
    <dgm:cxn modelId="{E5F78D3E-3234-478C-9873-00645D447101}" type="presOf" srcId="{B5E6EFE0-25F8-43A9-85B5-21ED3A1A9A4B}" destId="{87E05058-5861-4E72-8E01-4B7D8A559B09}" srcOrd="0" destOrd="0" presId="urn:microsoft.com/office/officeart/2005/8/layout/vProcess5"/>
    <dgm:cxn modelId="{816F6C48-3791-45B5-890C-DDE322D6DEDB}" srcId="{32203784-F5B5-4C4A-A9C0-0645C3DF515D}" destId="{B5E6EFE0-25F8-43A9-85B5-21ED3A1A9A4B}" srcOrd="1" destOrd="0" parTransId="{851B5C3E-673F-4263-B9C2-EDBF9DDD4CBE}" sibTransId="{EA892945-18F1-42DA-9CA0-F07FEA57CFE1}"/>
    <dgm:cxn modelId="{DDC29FA3-76EE-4D0F-893F-9E6B106C1C28}" type="presOf" srcId="{B5E6EFE0-25F8-43A9-85B5-21ED3A1A9A4B}" destId="{8694E304-63F4-4D8D-9C11-0BACB4909564}" srcOrd="1" destOrd="0" presId="urn:microsoft.com/office/officeart/2005/8/layout/vProcess5"/>
    <dgm:cxn modelId="{3BBAA5A6-F0D9-4672-B4C0-A90FACB4AC60}" type="presOf" srcId="{72082AD1-D7F6-4711-B7C3-29335BF48FF5}" destId="{8DDF1AA6-FB83-4C23-A65D-482A1572AF13}" srcOrd="1" destOrd="0" presId="urn:microsoft.com/office/officeart/2005/8/layout/vProcess5"/>
    <dgm:cxn modelId="{883B5DAF-C66A-46B8-8419-F0862D1FC7D2}" type="presOf" srcId="{72082AD1-D7F6-4711-B7C3-29335BF48FF5}" destId="{5ACEA57D-6F5F-43BB-9C4F-83F3518C86F0}" srcOrd="0" destOrd="0" presId="urn:microsoft.com/office/officeart/2005/8/layout/vProcess5"/>
    <dgm:cxn modelId="{C50ABAF6-6D2F-47D0-8EA9-A77FEA85C011}" type="presOf" srcId="{F098E2B2-C69D-4415-BA63-A2FF9AAEC9BA}" destId="{33BAE158-535B-41E3-AC2E-A6F5ECBDAECA}" srcOrd="0" destOrd="0" presId="urn:microsoft.com/office/officeart/2005/8/layout/vProcess5"/>
    <dgm:cxn modelId="{B2F27CBC-3A8A-44E9-8730-4AB65925961B}" type="presParOf" srcId="{13783D30-256B-4EB6-B856-38C3943F4D43}" destId="{26A5FD9B-4D5E-4B84-BE75-33DABA1EFCE8}" srcOrd="0" destOrd="0" presId="urn:microsoft.com/office/officeart/2005/8/layout/vProcess5"/>
    <dgm:cxn modelId="{EAAE09C0-4068-4A1E-A2B4-D6AEDFE20277}" type="presParOf" srcId="{13783D30-256B-4EB6-B856-38C3943F4D43}" destId="{5ACEA57D-6F5F-43BB-9C4F-83F3518C86F0}" srcOrd="1" destOrd="0" presId="urn:microsoft.com/office/officeart/2005/8/layout/vProcess5"/>
    <dgm:cxn modelId="{958E5CB1-C656-4C57-9970-EF776B496547}" type="presParOf" srcId="{13783D30-256B-4EB6-B856-38C3943F4D43}" destId="{87E05058-5861-4E72-8E01-4B7D8A559B09}" srcOrd="2" destOrd="0" presId="urn:microsoft.com/office/officeart/2005/8/layout/vProcess5"/>
    <dgm:cxn modelId="{4BDA6F2E-B6AE-47A9-AF8D-E3384AD35664}" type="presParOf" srcId="{13783D30-256B-4EB6-B856-38C3943F4D43}" destId="{33BAE158-535B-41E3-AC2E-A6F5ECBDAECA}" srcOrd="3" destOrd="0" presId="urn:microsoft.com/office/officeart/2005/8/layout/vProcess5"/>
    <dgm:cxn modelId="{1A82441D-A285-4D7A-BB48-9FE1CDB6B9AB}" type="presParOf" srcId="{13783D30-256B-4EB6-B856-38C3943F4D43}" destId="{8DDF1AA6-FB83-4C23-A65D-482A1572AF13}" srcOrd="4" destOrd="0" presId="urn:microsoft.com/office/officeart/2005/8/layout/vProcess5"/>
    <dgm:cxn modelId="{AC6CEEA3-DCAE-4CF1-AA22-1592A23DE7CD}" type="presParOf" srcId="{13783D30-256B-4EB6-B856-38C3943F4D43}" destId="{8694E304-63F4-4D8D-9C11-0BACB4909564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473644-31FE-4C3C-9899-85F7418DD5D1}">
      <dsp:nvSpPr>
        <dsp:cNvPr id="0" name=""/>
        <dsp:cNvSpPr/>
      </dsp:nvSpPr>
      <dsp:spPr>
        <a:xfrm>
          <a:off x="0" y="347373"/>
          <a:ext cx="7859736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There is a cat locked inside a box.</a:t>
          </a:r>
          <a:endParaRPr lang="en-US" sz="2200" kern="1200"/>
        </a:p>
      </dsp:txBody>
      <dsp:txXfrm>
        <a:off x="26387" y="373760"/>
        <a:ext cx="7806962" cy="487766"/>
      </dsp:txXfrm>
    </dsp:sp>
    <dsp:sp modelId="{478E0508-DAA1-4F6F-B181-7E6AEC486F5B}">
      <dsp:nvSpPr>
        <dsp:cNvPr id="0" name=""/>
        <dsp:cNvSpPr/>
      </dsp:nvSpPr>
      <dsp:spPr>
        <a:xfrm>
          <a:off x="0" y="951273"/>
          <a:ext cx="7859736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Inside the box, there's a tiny atom.</a:t>
          </a:r>
          <a:endParaRPr lang="en-US" sz="2200" kern="1200"/>
        </a:p>
      </dsp:txBody>
      <dsp:txXfrm>
        <a:off x="26387" y="977660"/>
        <a:ext cx="7806962" cy="487766"/>
      </dsp:txXfrm>
    </dsp:sp>
    <dsp:sp modelId="{DD0F372E-C07A-4D09-A00E-62436CF316C5}">
      <dsp:nvSpPr>
        <dsp:cNvPr id="0" name=""/>
        <dsp:cNvSpPr/>
      </dsp:nvSpPr>
      <dsp:spPr>
        <a:xfrm>
          <a:off x="0" y="1555174"/>
          <a:ext cx="7859736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If the atom breaks down, it releases poison and the cat dies.</a:t>
          </a:r>
          <a:endParaRPr lang="en-US" sz="2200" kern="1200"/>
        </a:p>
      </dsp:txBody>
      <dsp:txXfrm>
        <a:off x="26387" y="1581561"/>
        <a:ext cx="7806962" cy="487766"/>
      </dsp:txXfrm>
    </dsp:sp>
    <dsp:sp modelId="{2D865E00-1065-4C62-A028-0DB041727F0B}">
      <dsp:nvSpPr>
        <dsp:cNvPr id="0" name=""/>
        <dsp:cNvSpPr/>
      </dsp:nvSpPr>
      <dsp:spPr>
        <a:xfrm>
          <a:off x="0" y="2159074"/>
          <a:ext cx="7859736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If the atom doesn’t break down, the cat stays alive.</a:t>
          </a:r>
          <a:endParaRPr lang="en-US" sz="2200" kern="1200"/>
        </a:p>
      </dsp:txBody>
      <dsp:txXfrm>
        <a:off x="26387" y="2185461"/>
        <a:ext cx="7806962" cy="4877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DE3880-90A9-417C-A4C2-9543CEA2AFE8}">
      <dsp:nvSpPr>
        <dsp:cNvPr id="0" name=""/>
        <dsp:cNvSpPr/>
      </dsp:nvSpPr>
      <dsp:spPr>
        <a:xfrm>
          <a:off x="4142" y="630440"/>
          <a:ext cx="1284071" cy="770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Without RG</a:t>
          </a:r>
        </a:p>
      </dsp:txBody>
      <dsp:txXfrm>
        <a:off x="26708" y="653006"/>
        <a:ext cx="1238939" cy="725311"/>
      </dsp:txXfrm>
    </dsp:sp>
    <dsp:sp modelId="{6766C9D6-6A74-42C3-B68D-7986AA0F945D}">
      <dsp:nvSpPr>
        <dsp:cNvPr id="0" name=""/>
        <dsp:cNvSpPr/>
      </dsp:nvSpPr>
      <dsp:spPr>
        <a:xfrm>
          <a:off x="1401212" y="856437"/>
          <a:ext cx="272223" cy="318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401212" y="920127"/>
        <a:ext cx="190556" cy="191069"/>
      </dsp:txXfrm>
    </dsp:sp>
    <dsp:sp modelId="{CCD451B5-DB66-495A-B710-858F35D2BF24}">
      <dsp:nvSpPr>
        <dsp:cNvPr id="0" name=""/>
        <dsp:cNvSpPr/>
      </dsp:nvSpPr>
      <dsp:spPr>
        <a:xfrm>
          <a:off x="1801842" y="630440"/>
          <a:ext cx="1284071" cy="770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Simulate every hair on the cat</a:t>
          </a:r>
        </a:p>
      </dsp:txBody>
      <dsp:txXfrm>
        <a:off x="1824408" y="653006"/>
        <a:ext cx="1238939" cy="725311"/>
      </dsp:txXfrm>
    </dsp:sp>
    <dsp:sp modelId="{1992206A-37A4-476D-B365-F91A35DB04EC}">
      <dsp:nvSpPr>
        <dsp:cNvPr id="0" name=""/>
        <dsp:cNvSpPr/>
      </dsp:nvSpPr>
      <dsp:spPr>
        <a:xfrm>
          <a:off x="3198912" y="856437"/>
          <a:ext cx="272223" cy="318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198912" y="920127"/>
        <a:ext cx="190556" cy="191069"/>
      </dsp:txXfrm>
    </dsp:sp>
    <dsp:sp modelId="{A83BDE79-A78A-46D9-BA2F-394C31996DCB}">
      <dsp:nvSpPr>
        <dsp:cNvPr id="0" name=""/>
        <dsp:cNvSpPr/>
      </dsp:nvSpPr>
      <dsp:spPr>
        <a:xfrm>
          <a:off x="3599543" y="630440"/>
          <a:ext cx="1284071" cy="770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Store </a:t>
          </a:r>
          <a:r>
            <a:rPr lang="pt-BR" sz="1400" kern="1200"/>
            <a:t>2</a:t>
          </a:r>
          <a:r>
            <a:rPr lang="pt-BR" sz="1400" kern="1200" baseline="30000"/>
            <a:t>N </a:t>
          </a:r>
          <a:r>
            <a:rPr lang="en-US" sz="1400" kern="1200"/>
            <a:t>amplitudes</a:t>
          </a:r>
        </a:p>
      </dsp:txBody>
      <dsp:txXfrm>
        <a:off x="3622109" y="653006"/>
        <a:ext cx="1238939" cy="725311"/>
      </dsp:txXfrm>
    </dsp:sp>
    <dsp:sp modelId="{9CA5FBBB-75AC-44E3-B6E4-BF04C2DA1812}">
      <dsp:nvSpPr>
        <dsp:cNvPr id="0" name=""/>
        <dsp:cNvSpPr/>
      </dsp:nvSpPr>
      <dsp:spPr>
        <a:xfrm>
          <a:off x="4996613" y="856437"/>
          <a:ext cx="272223" cy="318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996613" y="920127"/>
        <a:ext cx="190556" cy="191069"/>
      </dsp:txXfrm>
    </dsp:sp>
    <dsp:sp modelId="{F2FFE6A9-7FB5-4AAB-817C-313BF280FF47}">
      <dsp:nvSpPr>
        <dsp:cNvPr id="0" name=""/>
        <dsp:cNvSpPr/>
      </dsp:nvSpPr>
      <dsp:spPr>
        <a:xfrm>
          <a:off x="5397243" y="630440"/>
          <a:ext cx="1284071" cy="770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With RG</a:t>
          </a:r>
        </a:p>
      </dsp:txBody>
      <dsp:txXfrm>
        <a:off x="5419809" y="653006"/>
        <a:ext cx="1238939" cy="725311"/>
      </dsp:txXfrm>
    </dsp:sp>
    <dsp:sp modelId="{BA77626A-D6D3-464E-90EC-2250674496FD}">
      <dsp:nvSpPr>
        <dsp:cNvPr id="0" name=""/>
        <dsp:cNvSpPr/>
      </dsp:nvSpPr>
      <dsp:spPr>
        <a:xfrm>
          <a:off x="6794313" y="856437"/>
          <a:ext cx="272223" cy="318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794313" y="920127"/>
        <a:ext cx="190556" cy="191069"/>
      </dsp:txXfrm>
    </dsp:sp>
    <dsp:sp modelId="{C4FA2A8F-69F2-4972-BD1F-89BD6006533D}">
      <dsp:nvSpPr>
        <dsp:cNvPr id="0" name=""/>
        <dsp:cNvSpPr/>
      </dsp:nvSpPr>
      <dsp:spPr>
        <a:xfrm>
          <a:off x="7194944" y="630440"/>
          <a:ext cx="1284071" cy="770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Track only two outcomes:</a:t>
          </a:r>
        </a:p>
      </dsp:txBody>
      <dsp:txXfrm>
        <a:off x="7217510" y="653006"/>
        <a:ext cx="1238939" cy="7253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B2C9A-83B8-4947-9EE3-68613743DC33}">
      <dsp:nvSpPr>
        <dsp:cNvPr id="0" name=""/>
        <dsp:cNvSpPr/>
      </dsp:nvSpPr>
      <dsp:spPr>
        <a:xfrm>
          <a:off x="66420" y="0"/>
          <a:ext cx="5250480" cy="41928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8631" tIns="0" rIns="518631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 digital signal contains both high-frequency noise and low-frequency clinical trends. To efficiently extract only clinically relevant features, a coarse-graining approach is applied by averaging every 100 consecutive samples. This is conceptually most similar to</a:t>
          </a:r>
        </a:p>
      </dsp:txBody>
      <dsp:txXfrm>
        <a:off x="66420" y="1677122"/>
        <a:ext cx="5250480" cy="2515683"/>
      </dsp:txXfrm>
    </dsp:sp>
    <dsp:sp modelId="{A675FC8F-7B2A-4E6B-8CFD-9DF2B5B2008C}">
      <dsp:nvSpPr>
        <dsp:cNvPr id="0" name=""/>
        <dsp:cNvSpPr/>
      </dsp:nvSpPr>
      <dsp:spPr>
        <a:xfrm>
          <a:off x="3414" y="0"/>
          <a:ext cx="5250480" cy="167712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8631" tIns="165100" rIns="518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3414" y="0"/>
        <a:ext cx="5250480" cy="1677122"/>
      </dsp:txXfrm>
    </dsp:sp>
    <dsp:sp modelId="{49C3B087-8271-461F-9268-F9BD803AEA27}">
      <dsp:nvSpPr>
        <dsp:cNvPr id="0" name=""/>
        <dsp:cNvSpPr/>
      </dsp:nvSpPr>
      <dsp:spPr>
        <a:xfrm>
          <a:off x="5673933" y="0"/>
          <a:ext cx="5250480" cy="419280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8631" tIns="0" rIns="518631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A) Fourier Transform</a:t>
          </a:r>
          <a:br>
            <a:rPr lang="en-US" sz="1900" kern="1200" dirty="0"/>
          </a:br>
          <a:r>
            <a:rPr lang="en-US" sz="1900" kern="1200" dirty="0"/>
            <a:t>B) Principal Component Analysis</a:t>
          </a:r>
          <a:br>
            <a:rPr lang="en-US" sz="1900" kern="1200" dirty="0"/>
          </a:br>
          <a:r>
            <a:rPr lang="en-US" sz="1900" kern="1200" dirty="0"/>
            <a:t>C) Renormalization Group Flow</a:t>
          </a:r>
          <a:br>
            <a:rPr lang="en-US" sz="1900" kern="1200" dirty="0"/>
          </a:br>
          <a:r>
            <a:rPr lang="en-US" sz="1900" kern="1200" dirty="0"/>
            <a:t>D) Nyquist Sampling</a:t>
          </a:r>
          <a:br>
            <a:rPr lang="en-US" sz="1900" kern="1200" dirty="0"/>
          </a:br>
          <a:r>
            <a:rPr lang="en-US" sz="1900" kern="1200" dirty="0"/>
            <a:t>E) Histogram Equalization</a:t>
          </a:r>
        </a:p>
      </dsp:txBody>
      <dsp:txXfrm>
        <a:off x="5673933" y="1677121"/>
        <a:ext cx="5250480" cy="2515683"/>
      </dsp:txXfrm>
    </dsp:sp>
    <dsp:sp modelId="{D2C6983C-58B3-4895-B3F2-B3BBF7C0E53E}">
      <dsp:nvSpPr>
        <dsp:cNvPr id="0" name=""/>
        <dsp:cNvSpPr/>
      </dsp:nvSpPr>
      <dsp:spPr>
        <a:xfrm>
          <a:off x="5673933" y="0"/>
          <a:ext cx="5250480" cy="167712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8631" tIns="165100" rIns="518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5673933" y="0"/>
        <a:ext cx="5250480" cy="16771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CEA57D-6F5F-43BB-9C4F-83F3518C86F0}">
      <dsp:nvSpPr>
        <dsp:cNvPr id="0" name=""/>
        <dsp:cNvSpPr/>
      </dsp:nvSpPr>
      <dsp:spPr>
        <a:xfrm>
          <a:off x="0" y="0"/>
          <a:ext cx="4529850" cy="182594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Just as Indian temples were built from the </a:t>
          </a:r>
          <a:r>
            <a:rPr lang="en-US" sz="1800" b="1" kern="1200" dirty="0"/>
            <a:t>outside in</a:t>
          </a:r>
          <a:r>
            <a:rPr lang="en-US" sz="1800" kern="1200" dirty="0"/>
            <a:t>, starting from complex towers (Gopuram) and moving to the </a:t>
          </a:r>
          <a:r>
            <a:rPr lang="en-US" sz="1800" b="1" kern="1200" dirty="0"/>
            <a:t>simple core (Sanctum)</a:t>
          </a:r>
          <a:r>
            <a:rPr lang="en-US" sz="1800" kern="1200" dirty="0"/>
            <a:t>,</a:t>
          </a:r>
        </a:p>
      </dsp:txBody>
      <dsp:txXfrm>
        <a:off x="53480" y="53480"/>
        <a:ext cx="2642596" cy="1718982"/>
      </dsp:txXfrm>
    </dsp:sp>
    <dsp:sp modelId="{87E05058-5861-4E72-8E01-4B7D8A559B09}">
      <dsp:nvSpPr>
        <dsp:cNvPr id="0" name=""/>
        <dsp:cNvSpPr/>
      </dsp:nvSpPr>
      <dsp:spPr>
        <a:xfrm>
          <a:off x="799385" y="2231707"/>
          <a:ext cx="4529850" cy="182594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AI and quantum systems must also zoom in on the </a:t>
          </a:r>
          <a:r>
            <a:rPr lang="en-US" sz="1700" b="1" kern="1200" dirty="0"/>
            <a:t>core information</a:t>
          </a:r>
          <a:r>
            <a:rPr lang="en-US" sz="1700" kern="1200" dirty="0"/>
            <a:t>  filtering out complexity using </a:t>
          </a:r>
          <a:r>
            <a:rPr lang="en-US" sz="1700" b="1" kern="1200" dirty="0"/>
            <a:t>renormalization and tensor logic</a:t>
          </a:r>
          <a:endParaRPr lang="en-US" sz="1700" kern="1200" dirty="0"/>
        </a:p>
      </dsp:txBody>
      <dsp:txXfrm>
        <a:off x="852865" y="2285187"/>
        <a:ext cx="2436642" cy="1718982"/>
      </dsp:txXfrm>
    </dsp:sp>
    <dsp:sp modelId="{33BAE158-535B-41E3-AC2E-A6F5ECBDAECA}">
      <dsp:nvSpPr>
        <dsp:cNvPr id="0" name=""/>
        <dsp:cNvSpPr/>
      </dsp:nvSpPr>
      <dsp:spPr>
        <a:xfrm>
          <a:off x="3342987" y="1435393"/>
          <a:ext cx="1186862" cy="118686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610031" y="1435393"/>
        <a:ext cx="652774" cy="8931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BC399-EF7C-E87B-E69D-42E965475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1E1B5-6996-2556-5E69-91F9AA0F0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4072E-3DCA-2894-8DE5-8B126843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D7674-E187-8659-E845-7576EA31A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48F64-B1F7-CC22-4563-2D503D1D4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5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7077-CA9E-0F08-2FB4-FB7F63D0D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EDF03-F322-8F43-1B2E-E174DAC08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41E36-9C97-DF5B-4228-331C6C4F6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B8AB-2328-AF91-9610-1CF9B2B9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CF10A-33D9-C6B6-0E0E-A6625475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82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83B8B-2518-313E-B114-BE39B0B5F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149D5-6937-601E-4583-325CD0AED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BDC9A-BFD9-9E8B-71FC-276AFDB8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D2A06-7420-4C49-CA6F-E0B6E642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E2D21-3054-AB3B-8FCB-5C4018082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54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F90F-60E2-CE09-839E-E1ABBDC13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AB0D4-35EC-E0FB-ECBE-0EE75D67E6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6E16C-7647-E2DB-6AB2-4625DD7A9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F15A8-B949-5E60-0C5C-89AE7C2D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4F911-2C4A-F466-3B10-AA9FAC5C3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4290B-086A-1A4C-BD1A-213D473D8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15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3E320-D28E-85E0-8EFC-A310771D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F4A4A-A80C-53CA-AE36-A6B991504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AF7DB-99D0-75B8-E546-195F1CE0B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E7A4E9-54B9-9289-4A2F-8620195845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174EE6-13C8-E63A-8859-C053EAF506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1DEDBB-9C6C-D1B1-11D3-1DC1A581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177AD1-5F57-BE57-9B49-CAC89432B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3BE6EA-65C3-E12B-D42F-A14AF545F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3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0E0EC-3D6A-EEBF-78EA-6C3571387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DD8412-8CD7-0B72-E810-701BBCA31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99E94-0210-029F-261E-FC6F7D320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B3EA7-3173-1034-B497-5048A7AC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1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D2F703-C213-7870-004C-CC41C2D94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5BE776-2FD3-DBC8-02F6-E4D8611F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842C9-90DA-E104-56AE-100BCA9B4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37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90D5D-5A73-7478-2F0F-BCDEF8467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9513A-E7EF-5FF6-81DF-D20858FA3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C7A43-0FFA-F241-1F01-4EA27EDFA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BEFCD-640C-C038-66A0-F5674669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AD3BA-889D-F286-4136-CD05B14CD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DE756-5C8D-C0C8-32E4-828317EEB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19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F58D9-5B7E-7461-22B7-4948B5B23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52EF2-C9C1-2A6E-9E3B-F62932B49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0E26DE-DFE2-09AF-04D2-9363BD129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41E71D-C9CC-44C1-87C4-C4C597964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6DA83-7DBD-ACF3-6EA2-D561C0287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96E1C-7BDE-8051-C587-A3C18B81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074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83F64-180D-7764-B26D-C9212EE7A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4C760-35C0-A287-9423-9B40C2F67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CB18E-6C1A-9BA9-EA29-4C0FFBF26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8C186-F7A6-BC28-58D4-FE250913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BBF11-DF9A-7BB3-D9D6-1C0EEA8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8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00425B-9149-9678-28FF-760F66833F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98CA5-A60F-BC82-CE30-B2B2D8C7F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63BDA-9BAF-F7EF-C1DC-D1ECEE272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293C5-1C3D-6208-A9A8-9BF499FDB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333F1-80C1-09DD-1A57-9D0B2353E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76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953223-5743-CA43-28B1-268B09837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6AD7E-83B5-29A4-66D8-BBDD5A8B0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3A3A5-EA62-D40A-F552-AECCED750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BFE34-4EA4-0226-B6F7-CB7A0DB501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85BED-6D55-DFBC-0E16-455EBAB54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7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65.xml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6" Type="http://schemas.openxmlformats.org/officeDocument/2006/relationships/slide" Target="slide66.xml"/></Relationships>
</file>

<file path=ppt/slides/_rels/slide3.xml.rels><?xml version="1.0" encoding="UTF-8" standalone="yes"?>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slide" Target="slide67.xml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68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6" Type="http://schemas.openxmlformats.org/officeDocument/2006/relationships/slide" Target="slide69.xml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Relationship Id="rId6" Type="http://schemas.openxmlformats.org/officeDocument/2006/relationships/slide" Target="slide70.xml"/></Relationships>
</file>

<file path=ppt/slides/_rels/slide7.xml.rels><?xml version="1.0" encoding="UTF-8" standalone="yes"?>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diagramColors" Target="../diagrams/colors1.xml"/><Relationship Id="rId3" Type="http://schemas.openxmlformats.org/officeDocument/2006/relationships/image" Target="../media/image2.jpeg"/><Relationship Id="rId7" Type="http://schemas.openxmlformats.org/officeDocument/2006/relationships/image" Target="../media/image13.png"/><Relationship Id="rId12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diagramLayout" Target="../diagrams/layout1.xml"/><Relationship Id="rId5" Type="http://schemas.openxmlformats.org/officeDocument/2006/relationships/image" Target="../media/image11.png"/><Relationship Id="rId10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openxmlformats.org/officeDocument/2006/relationships/image" Target="../media/image15.png"/><Relationship Id="rId14" Type="http://schemas.microsoft.com/office/2007/relationships/diagramDrawing" Target="../diagrams/drawing1.xml"/><Relationship Id="rId15" Type="http://schemas.openxmlformats.org/officeDocument/2006/relationships/slide" Target="slide71.xml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Relationship Id="rId6" Type="http://schemas.openxmlformats.org/officeDocument/2006/relationships/slide" Target="slide72.xml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73.xml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Relationship Id="rId7" Type="http://schemas.openxmlformats.org/officeDocument/2006/relationships/slide" Target="slide74.xml"/></Relationships>
</file>

<file path=ppt/slides/_rels/slide11.xml.rels><?xml version="1.0" encoding="UTF-8" standalone="yes"?>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2.jpeg"/><Relationship Id="rId7" Type="http://schemas.openxmlformats.org/officeDocument/2006/relationships/diagramLayout" Target="../diagrams/layou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2.xml"/><Relationship Id="rId5" Type="http://schemas.openxmlformats.org/officeDocument/2006/relationships/image" Target="../media/image18.png"/><Relationship Id="rId10" Type="http://schemas.microsoft.com/office/2007/relationships/diagramDrawing" Target="../diagrams/drawing2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2.xml"/><Relationship Id="rId11" Type="http://schemas.openxmlformats.org/officeDocument/2006/relationships/slide" Target="slide75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76.xml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Relationship Id="rId7" Type="http://schemas.openxmlformats.org/officeDocument/2006/relationships/slide" Target="slide77.xml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78.xml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79.xml"/></Relationships>
</file>

<file path=ppt/slides/_rels/slide16.xml.rels><?xml version="1.0" encoding="UTF-8" standalone="yes"?>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3.png"/><Relationship Id="rId9" Type="http://schemas.microsoft.com/office/2007/relationships/diagramDrawing" Target="../diagrams/drawing3.xml"/><Relationship Id="rId10" Type="http://schemas.openxmlformats.org/officeDocument/2006/relationships/slide" Target="slide80.xml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81.xml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82.xml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83.xml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84.xml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85.xml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Relationship Id="rId6" Type="http://schemas.openxmlformats.org/officeDocument/2006/relationships/slide" Target="slide86.xml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87.xml"/></Relationships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88.xml"/></Relationships>
</file>

<file path=ppt/slides/_rels/slide25.xml.rels><?xml version="1.0" encoding="UTF-8" standalone="yes"?>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image" Target="../media/image1.png"/><Relationship Id="rId7" Type="http://schemas.openxmlformats.org/officeDocument/2006/relationships/diagramLayout" Target="../diagrams/layout4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4.xml"/><Relationship Id="rId5" Type="http://schemas.openxmlformats.org/officeDocument/2006/relationships/image" Target="../media/image3.png"/><Relationship Id="rId10" Type="http://schemas.microsoft.com/office/2007/relationships/diagramDrawing" Target="../diagrams/drawing4.xml"/><Relationship Id="rId4" Type="http://schemas.openxmlformats.org/officeDocument/2006/relationships/image" Target="../media/image2.jpeg"/><Relationship Id="rId9" Type="http://schemas.openxmlformats.org/officeDocument/2006/relationships/diagramColors" Target="../diagrams/colors4.xml"/><Relationship Id="rId11" Type="http://schemas.openxmlformats.org/officeDocument/2006/relationships/slide" Target="slide89.xml"/></Relationships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3.png"/><Relationship Id="rId6" Type="http://schemas.openxmlformats.org/officeDocument/2006/relationships/slide" Target="slide90.xml"/></Relationships>
</file>

<file path=ppt/slides/_rels/slide27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6" Type="http://schemas.openxmlformats.org/officeDocument/2006/relationships/slide" Target="slide91.xml"/></Relationships>
</file>

<file path=ppt/slides/_rels/slide2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92.xml"/></Relationships>
</file>

<file path=ppt/slides/_rels/slide2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93.xml"/></Relationships>
</file>

<file path=ppt/slides/_rels/slide3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94.xml"/></Relationships>
</file>

<file path=ppt/slides/_rels/slide3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95.xml"/></Relationships>
</file>

<file path=ppt/slides/_rels/slide3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6" Type="http://schemas.openxmlformats.org/officeDocument/2006/relationships/slide" Target="slide96.xml"/></Relationships>
</file>

<file path=ppt/slides/_rels/slide3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97.xml"/></Relationships>
</file>

<file path=ppt/slides/_rels/slide3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98.xml"/></Relationships>
</file>

<file path=ppt/slides/_rels/slide3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99.xml"/></Relationships>
</file>

<file path=ppt/slides/_rels/slide3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00.xml"/></Relationships>
</file>

<file path=ppt/slides/_rels/slide3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01.xml"/></Relationships>
</file>

<file path=ppt/slides/_rels/slide3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02.xml"/></Relationships>
</file>

<file path=ppt/slides/_rels/slide3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3.png"/><Relationship Id="rId6" Type="http://schemas.openxmlformats.org/officeDocument/2006/relationships/slide" Target="slide103.xml"/></Relationships>
</file>

<file path=ppt/slides/_rels/slide4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04.xml"/></Relationships>
</file>

<file path=ppt/slides/_rels/slide4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05.xml"/></Relationships>
</file>

<file path=ppt/slides/_rels/slide4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.png"/><Relationship Id="rId6" Type="http://schemas.openxmlformats.org/officeDocument/2006/relationships/slide" Target="slide106.xml"/></Relationships>
</file>

<file path=ppt/slides/_rels/slide4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3.png"/><Relationship Id="rId6" Type="http://schemas.openxmlformats.org/officeDocument/2006/relationships/slide" Target="slide107.xml"/></Relationships>
</file>

<file path=ppt/slides/_rels/slide4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3.png"/><Relationship Id="rId6" Type="http://schemas.openxmlformats.org/officeDocument/2006/relationships/slide" Target="slide108.xml"/></Relationships>
</file>

<file path=ppt/slides/_rels/slide4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09.xml"/></Relationships>
</file>

<file path=ppt/slides/_rels/slide4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10.xml"/></Relationships>
</file>

<file path=ppt/slides/_rels/slide4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3.png"/><Relationship Id="rId6" Type="http://schemas.openxmlformats.org/officeDocument/2006/relationships/slide" Target="slide111.xml"/></Relationships>
</file>

<file path=ppt/slides/_rels/slide4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12.xml"/></Relationships>
</file>

<file path=ppt/slides/_rels/slide4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13.xml"/></Relationships>
</file>

<file path=ppt/slides/_rels/slide5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14.xml"/></Relationships>
</file>

<file path=ppt/slides/_rels/slide5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15.xml"/></Relationships>
</file>

<file path=ppt/slides/_rels/slide5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.png"/><Relationship Id="rId8" Type="http://schemas.openxmlformats.org/officeDocument/2006/relationships/slide" Target="slide116.xml"/></Relationships>
</file>

<file path=ppt/slides/_rels/slide5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.png"/><Relationship Id="rId6" Type="http://schemas.openxmlformats.org/officeDocument/2006/relationships/slide" Target="slide117.xml"/></Relationships>
</file>

<file path=ppt/slides/_rels/slide5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.png"/><Relationship Id="rId7" Type="http://schemas.openxmlformats.org/officeDocument/2006/relationships/slide" Target="slide118.xml"/></Relationships>
</file>

<file path=ppt/slides/_rels/slide5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.png"/><Relationship Id="rId6" Type="http://schemas.openxmlformats.org/officeDocument/2006/relationships/slide" Target="slide119.xml"/></Relationships>
</file>

<file path=ppt/slides/_rels/slide5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.png"/><Relationship Id="rId6" Type="http://schemas.openxmlformats.org/officeDocument/2006/relationships/slide" Target="slide120.xml"/></Relationships>
</file>

<file path=ppt/slides/_rels/slide5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.png"/><Relationship Id="rId6" Type="http://schemas.openxmlformats.org/officeDocument/2006/relationships/slide" Target="slide121.xml"/></Relationships>
</file>

<file path=ppt/slides/_rels/slide5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.png"/><Relationship Id="rId6" Type="http://schemas.openxmlformats.org/officeDocument/2006/relationships/slide" Target="slide122.xml"/></Relationships>
</file>

<file path=ppt/slides/_rels/slide5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23.xml"/></Relationships>
</file>

<file path=ppt/slides/_rels/slide6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24.xml"/></Relationships>
</file>

<file path=ppt/slides/_rels/slide6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25.xml"/></Relationships>
</file>

<file path=ppt/slides/_rels/slide6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.png"/><Relationship Id="rId7" Type="http://schemas.openxmlformats.org/officeDocument/2006/relationships/slide" Target="slide126.xml"/></Relationships>
</file>

<file path=ppt/slides/_rels/slide6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27.xml"/></Relationships>
</file>

<file path=ppt/slides/_rels/slide6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101" Type="http://schemas.openxmlformats.org/officeDocument/2006/relationships/slide" Target="slide1.xml"/></Relationships>
</file>

<file path=ppt/slides/_rels/slide66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6" Type="http://schemas.openxmlformats.org/officeDocument/2006/relationships/slide" Target="slide2.xml"/></Relationships>
</file>

<file path=ppt/slides/_rels/slide67.xml.rels><?xml version="1.0" encoding="UTF-8" standalone="yes"?>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slide" Target="slide3.xml"/></Relationships>
</file>

<file path=ppt/slides/_rels/slide6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4.xml"/></Relationships>
</file>

<file path=ppt/slides/_rels/slide69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6" Type="http://schemas.openxmlformats.org/officeDocument/2006/relationships/slide" Target="slide5.xml"/></Relationships>
</file>

<file path=ppt/slides/_rels/slide7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Relationship Id="rId6" Type="http://schemas.openxmlformats.org/officeDocument/2006/relationships/slide" Target="slide6.xml"/></Relationships>
</file>

<file path=ppt/slides/_rels/slide71.xml.rels><?xml version="1.0" encoding="UTF-8" standalone="yes"?>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diagramColors" Target="../diagrams/colors1.xml"/><Relationship Id="rId3" Type="http://schemas.openxmlformats.org/officeDocument/2006/relationships/image" Target="../media/image2.jpeg"/><Relationship Id="rId7" Type="http://schemas.openxmlformats.org/officeDocument/2006/relationships/image" Target="../media/image13.png"/><Relationship Id="rId12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diagramLayout" Target="../diagrams/layout1.xml"/><Relationship Id="rId5" Type="http://schemas.openxmlformats.org/officeDocument/2006/relationships/image" Target="../media/image11.png"/><Relationship Id="rId10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openxmlformats.org/officeDocument/2006/relationships/image" Target="../media/image15.png"/><Relationship Id="rId14" Type="http://schemas.microsoft.com/office/2007/relationships/diagramDrawing" Target="../diagrams/drawing1.xml"/><Relationship Id="rId15" Type="http://schemas.openxmlformats.org/officeDocument/2006/relationships/slide" Target="slide7.xml"/></Relationships>
</file>

<file path=ppt/slides/_rels/slide7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Relationship Id="rId6" Type="http://schemas.openxmlformats.org/officeDocument/2006/relationships/slide" Target="slide8.xml"/></Relationships>
</file>

<file path=ppt/slides/_rels/slide7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9.xml"/></Relationships>
</file>

<file path=ppt/slides/_rels/slide7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Relationship Id="rId7" Type="http://schemas.openxmlformats.org/officeDocument/2006/relationships/slide" Target="slide10.xml"/></Relationships>
</file>

<file path=ppt/slides/_rels/slide75.xml.rels><?xml version="1.0" encoding="UTF-8" standalone="yes"?>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2.jpeg"/><Relationship Id="rId7" Type="http://schemas.openxmlformats.org/officeDocument/2006/relationships/diagramLayout" Target="../diagrams/layou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2.xml"/><Relationship Id="rId5" Type="http://schemas.openxmlformats.org/officeDocument/2006/relationships/image" Target="../media/image18.png"/><Relationship Id="rId10" Type="http://schemas.microsoft.com/office/2007/relationships/diagramDrawing" Target="../diagrams/drawing2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2.xml"/><Relationship Id="rId11" Type="http://schemas.openxmlformats.org/officeDocument/2006/relationships/slide" Target="slide11.xml"/></Relationships>
</file>

<file path=ppt/slides/_rels/slide7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2.xml"/></Relationships>
</file>

<file path=ppt/slides/_rels/slide7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Relationship Id="rId7" Type="http://schemas.openxmlformats.org/officeDocument/2006/relationships/slide" Target="slide13.xml"/></Relationships>
</file>

<file path=ppt/slides/_rels/slide7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4.xml"/></Relationships>
</file>

<file path=ppt/slides/_rels/slide7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5.xml"/></Relationships>
</file>

<file path=ppt/slides/_rels/slide80.xml.rels><?xml version="1.0" encoding="UTF-8" standalone="yes"?>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3.png"/><Relationship Id="rId9" Type="http://schemas.microsoft.com/office/2007/relationships/diagramDrawing" Target="../diagrams/drawing3.xml"/><Relationship Id="rId10" Type="http://schemas.openxmlformats.org/officeDocument/2006/relationships/slide" Target="slide16.xml"/></Relationships>
</file>

<file path=ppt/slides/_rels/slide8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7.xml"/></Relationships>
</file>

<file path=ppt/slides/_rels/slide8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8.xml"/></Relationships>
</file>

<file path=ppt/slides/_rels/slide8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19.xml"/></Relationships>
</file>

<file path=ppt/slides/_rels/slide8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20.xml"/></Relationships>
</file>

<file path=ppt/slides/_rels/slide8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21.xml"/></Relationships>
</file>

<file path=ppt/slides/_rels/slide8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Relationship Id="rId6" Type="http://schemas.openxmlformats.org/officeDocument/2006/relationships/slide" Target="slide22.xml"/></Relationships>
</file>

<file path=ppt/slides/_rels/slide8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23.xml"/></Relationships>
</file>

<file path=ppt/slides/_rels/slide8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24.xml"/></Relationships>
</file>

<file path=ppt/slides/_rels/slide89.xml.rels><?xml version="1.0" encoding="UTF-8" standalone="yes"?>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image" Target="../media/image1.png"/><Relationship Id="rId7" Type="http://schemas.openxmlformats.org/officeDocument/2006/relationships/diagramLayout" Target="../diagrams/layout4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4.xml"/><Relationship Id="rId5" Type="http://schemas.openxmlformats.org/officeDocument/2006/relationships/image" Target="../media/image3.png"/><Relationship Id="rId10" Type="http://schemas.microsoft.com/office/2007/relationships/diagramDrawing" Target="../diagrams/drawing4.xml"/><Relationship Id="rId4" Type="http://schemas.openxmlformats.org/officeDocument/2006/relationships/image" Target="../media/image2.jpeg"/><Relationship Id="rId9" Type="http://schemas.openxmlformats.org/officeDocument/2006/relationships/diagramColors" Target="../diagrams/colors4.xml"/><Relationship Id="rId11" Type="http://schemas.openxmlformats.org/officeDocument/2006/relationships/slide" Target="slide25.xml"/></Relationships>
</file>

<file path=ppt/slides/_rels/slide9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3.png"/><Relationship Id="rId6" Type="http://schemas.openxmlformats.org/officeDocument/2006/relationships/slide" Target="slide26.xml"/></Relationships>
</file>

<file path=ppt/slides/_rels/slide9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6" Type="http://schemas.openxmlformats.org/officeDocument/2006/relationships/slide" Target="slide27.xml"/></Relationships>
</file>

<file path=ppt/slides/_rels/slide9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28.xml"/></Relationships>
</file>

<file path=ppt/slides/_rels/slide9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29.xml"/></Relationships>
</file>

<file path=ppt/slides/_rels/slide9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30.xml"/></Relationships>
</file>

<file path=ppt/slides/_rels/slide9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31.xml"/></Relationships>
</file>

<file path=ppt/slides/_rels/slide96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6" Type="http://schemas.openxmlformats.org/officeDocument/2006/relationships/slide" Target="slide32.xml"/></Relationships>
</file>

<file path=ppt/slides/_rels/slide9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33.xml"/></Relationships>
</file>

<file path=ppt/slides/_rels/slide9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34.xml"/></Relationships>
</file>

<file path=ppt/slides/_rels/slide9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35.xml"/></Relationships>
</file>

<file path=ppt/slides/_rels/slide10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36.xml"/></Relationships>
</file>

<file path=ppt/slides/_rels/slide10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37.xml"/></Relationships>
</file>

<file path=ppt/slides/_rels/slide10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38.xml"/></Relationships>
</file>

<file path=ppt/slides/_rels/slide10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3.png"/><Relationship Id="rId6" Type="http://schemas.openxmlformats.org/officeDocument/2006/relationships/slide" Target="slide39.xml"/></Relationships>
</file>

<file path=ppt/slides/_rels/slide10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40.xml"/></Relationships>
</file>

<file path=ppt/slides/_rels/slide10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41.xml"/></Relationships>
</file>

<file path=ppt/slides/_rels/slide10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.png"/><Relationship Id="rId6" Type="http://schemas.openxmlformats.org/officeDocument/2006/relationships/slide" Target="slide42.xml"/></Relationships>
</file>

<file path=ppt/slides/_rels/slide10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3.png"/><Relationship Id="rId6" Type="http://schemas.openxmlformats.org/officeDocument/2006/relationships/slide" Target="slide43.xml"/></Relationships>
</file>

<file path=ppt/slides/_rels/slide10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3.png"/><Relationship Id="rId6" Type="http://schemas.openxmlformats.org/officeDocument/2006/relationships/slide" Target="slide44.xml"/></Relationships>
</file>

<file path=ppt/slides/_rels/slide10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45.xml"/></Relationships>
</file>

<file path=ppt/slides/_rels/slide11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46.xml"/></Relationships>
</file>

<file path=ppt/slides/_rels/slide11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3.png"/><Relationship Id="rId6" Type="http://schemas.openxmlformats.org/officeDocument/2006/relationships/slide" Target="slide47.xml"/></Relationships>
</file>

<file path=ppt/slides/_rels/slide11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48.xml"/></Relationships>
</file>

<file path=ppt/slides/_rels/slide11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49.xml"/></Relationships>
</file>

<file path=ppt/slides/_rels/slide11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50.xml"/></Relationships>
</file>

<file path=ppt/slides/_rels/slide11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51.xml"/></Relationships>
</file>

<file path=ppt/slides/_rels/slide11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.png"/><Relationship Id="rId8" Type="http://schemas.openxmlformats.org/officeDocument/2006/relationships/slide" Target="slide52.xml"/></Relationships>
</file>

<file path=ppt/slides/_rels/slide11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.png"/><Relationship Id="rId6" Type="http://schemas.openxmlformats.org/officeDocument/2006/relationships/slide" Target="slide53.xml"/></Relationships>
</file>

<file path=ppt/slides/_rels/slide11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.png"/><Relationship Id="rId7" Type="http://schemas.openxmlformats.org/officeDocument/2006/relationships/slide" Target="slide54.xml"/></Relationships>
</file>

<file path=ppt/slides/_rels/slide11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.png"/><Relationship Id="rId6" Type="http://schemas.openxmlformats.org/officeDocument/2006/relationships/slide" Target="slide55.xml"/></Relationships>
</file>

<file path=ppt/slides/_rels/slide12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.png"/><Relationship Id="rId6" Type="http://schemas.openxmlformats.org/officeDocument/2006/relationships/slide" Target="slide56.xml"/></Relationships>
</file>

<file path=ppt/slides/_rels/slide12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.png"/><Relationship Id="rId6" Type="http://schemas.openxmlformats.org/officeDocument/2006/relationships/slide" Target="slide57.xml"/></Relationships>
</file>

<file path=ppt/slides/_rels/slide12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.png"/><Relationship Id="rId6" Type="http://schemas.openxmlformats.org/officeDocument/2006/relationships/slide" Target="slide58.xml"/></Relationships>
</file>

<file path=ppt/slides/_rels/slide1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59.xml"/></Relationships>
</file>

<file path=ppt/slides/_rels/slide12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60.xml"/></Relationships>
</file>

<file path=ppt/slides/_rels/slide12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61.xml"/></Relationships>
</file>

<file path=ppt/slides/_rels/slide12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.png"/><Relationship Id="rId7" Type="http://schemas.openxmlformats.org/officeDocument/2006/relationships/slide" Target="slide62.xml"/></Relationships>
</file>

<file path=ppt/slides/_rels/slide12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5" Type="http://schemas.openxmlformats.org/officeDocument/2006/relationships/slide" Target="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DBB8D5F7-CFF0-33E8-D36F-870C145AA0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7" y="135081"/>
            <a:ext cx="1273741" cy="1028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43D496B-3A6B-C97F-2AA1-617C35529D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6754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913F0FA-9496-8823-3A97-22C82DA4D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942A814-A9DA-B395-A41B-0BCC96EC2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2ED4FA-6048-E4B1-933B-62759902C54A}"/>
              </a:ext>
            </a:extLst>
          </p:cNvPr>
          <p:cNvSpPr txBox="1"/>
          <p:nvPr/>
        </p:nvSpPr>
        <p:spPr>
          <a:xfrm>
            <a:off x="3048965" y="6189084"/>
            <a:ext cx="6094070" cy="369332"/>
          </a:xfrm>
          <a:prstGeom prst="rect">
            <a:avLst/>
          </a:prstGeom>
          <a:gradFill>
            <a:gsLst>
              <a:gs pos="0">
                <a:srgbClr val="00B050"/>
              </a:gs>
              <a:gs pos="2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US" b="1" i="1" u="sng" dirty="0">
                <a:solidFill>
                  <a:schemeClr val="accent1">
                    <a:lumMod val="75000"/>
                  </a:schemeClr>
                </a:solidFill>
              </a:rPr>
              <a:t>Ignora el ruido. Aléjate. Concéntrate en lo que importa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7A5B94-CD21-487D-BCD5-23533048CCE9}"/>
              </a:ext>
            </a:extLst>
          </p:cNvPr>
          <p:cNvSpPr txBox="1"/>
          <p:nvPr/>
        </p:nvSpPr>
        <p:spPr>
          <a:xfrm>
            <a:off x="966887" y="1203733"/>
            <a:ext cx="10514634" cy="4759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Teoría de Renormalización en Inteligencia Cuántica: Unificando la Física, la IA y los Sistemas Inteligentes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sz="2800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Dr Saravana Prakash </a:t>
            </a:r>
            <a:r>
              <a:rPr lang="en-US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Thirumuruganandham</a:t>
            </a:r>
            <a:endParaRPr lang="en-US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Director de Investigación y Desarrollo </a:t>
            </a: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SIT Health and SMART CO</a:t>
            </a: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Catalina </a:t>
            </a:r>
            <a:r>
              <a:rPr lang="en-US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aldez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 av Portugal </a:t>
            </a: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Quito, Ecuador</a:t>
            </a: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Correo </a:t>
            </a:r>
            <a:r>
              <a:rPr lang="en-US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Saravana@sit.health</a:t>
            </a:r>
            <a:endParaRPr lang="en-US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A3716D-F103-693A-F0AE-9FA50B13420C}"/>
              </a:ext>
            </a:extLst>
          </p:cNvPr>
          <p:cNvSpPr txBox="1"/>
          <p:nvPr/>
        </p:nvSpPr>
        <p:spPr>
          <a:xfrm>
            <a:off x="3576830" y="5413633"/>
            <a:ext cx="4607159" cy="400110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Venue, Universidad del Quindío, Armenia, Colombia, 03/08/2026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738891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E49311-96D9-37CE-C311-9B24D3463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7D95AF-4BE5-184A-FCC2-78ED3A130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934" y="457200"/>
            <a:ext cx="9824131" cy="5943600"/>
          </a:xfrm>
          <a:prstGeom prst="rect">
            <a:avLst/>
          </a:prstGeom>
        </p:spPr>
      </p:pic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95585CDD-45B2-21F5-14DF-DD39852C8C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04981B2E-D718-857C-849E-79309A9EAC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48A7C21-C35C-9914-846D-20729671B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3C918064-F675-7C9D-D82F-7F86F2A74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314994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BB3BB-68A3-F58C-3C3E-620523241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C06880C-5985-417F-959E-29F79AE0CF6D}"/>
              </a:ext>
            </a:extLst>
          </p:cNvPr>
          <p:cNvSpPr txBox="1"/>
          <p:nvPr/>
        </p:nvSpPr>
        <p:spPr>
          <a:xfrm>
            <a:off x="840441" y="554307"/>
            <a:ext cx="5230018" cy="26309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b="1" u="sng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La RG filtra las contribuciones pequeñas a grandes escalas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85DFE8-AE3F-BED3-D95A-8CFDF27D57B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6142297" y="1199931"/>
            <a:ext cx="4558247" cy="8921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E38DD3-B56C-8C59-65AD-2BECBEC99CD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441385" y="4049583"/>
            <a:ext cx="6028130" cy="7393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136AD1-1542-AD32-3BA0-834A299E743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441385" y="3124256"/>
            <a:ext cx="8674637" cy="6505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07BBAE-82E9-5965-6E6D-0C6AE88AAC8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368441" y="5122895"/>
            <a:ext cx="11495610" cy="483278"/>
          </a:xfrm>
          <a:prstGeom prst="rect">
            <a:avLst/>
          </a:prstGeom>
        </p:spPr>
      </p:pic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2587CD67-9D5B-5736-3350-9433333651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E5EDA6E2-E0D0-0605-747D-223C10F15B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BE1B5038-01A1-661D-8D72-7644EF6DA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1FB4ECDE-9D95-0D6A-6613-FFDBF7E69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2E6998-59ED-FB36-CA68-FA6504AE5BE4}"/>
              </a:ext>
            </a:extLst>
          </p:cNvPr>
          <p:cNvSpPr txBox="1"/>
          <p:nvPr/>
        </p:nvSpPr>
        <p:spPr>
          <a:xfrm>
            <a:off x="6694534" y="3712164"/>
            <a:ext cx="4545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Las potencias más altas son casi invisibles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48393D-30A9-8777-3824-FB5D1186D301}"/>
              </a:ext>
            </a:extLst>
          </p:cNvPr>
          <p:cNvSpPr txBox="1"/>
          <p:nvPr/>
        </p:nvSpPr>
        <p:spPr>
          <a:xfrm>
            <a:off x="6600463" y="426421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Todos los términos importan un poco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8786C1-5FE7-7593-3134-BD767C8CCD38}"/>
              </a:ext>
            </a:extLst>
          </p:cNvPr>
          <p:cNvSpPr txBox="1"/>
          <p:nvPr/>
        </p:nvSpPr>
        <p:spPr>
          <a:xfrm>
            <a:off x="3715472" y="5806032"/>
            <a:ext cx="7315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El término x^4 domina completamente — los demás pueden ignorarse.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9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272826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CDF88B-A1F3-DAB2-4599-82D28E55C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43650567-DF69-EB52-ADAA-C5D336CD71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294BDA74-7603-6BF1-835D-29CBB6343D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F1E519C-3EB5-8084-AAF0-E56116DE4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39365664-70C6-208D-C8BF-A82C61BDD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766366-4A3E-12E4-FB13-30B1E2E2F23B}"/>
              </a:ext>
            </a:extLst>
          </p:cNvPr>
          <p:cNvSpPr txBox="1"/>
          <p:nvPr/>
        </p:nvSpPr>
        <p:spPr>
          <a:xfrm>
            <a:off x="1552989" y="2745551"/>
            <a:ext cx="78606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Un qubit ≠ superposición</a:t>
            </a:r>
          </a:p>
          <a:p>
            <a:endParaRPr lang="en-US" sz="3200" dirty="0"/>
          </a:p>
          <a:p>
            <a:r>
              <a:rPr lang="en-US" sz="3200" dirty="0"/>
              <a:t>Un qubit puede estar en superposición</a:t>
            </a:r>
            <a:r>
              <a:rPr lang="en-US" sz="3200" b="1" dirty="0"/>
              <a:t/>
            </a:r>
            <a:endParaRPr lang="en-US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792D94-6A7E-7E14-B38F-9F1D36771F5E}"/>
              </a:ext>
            </a:extLst>
          </p:cNvPr>
          <p:cNvGraphicFramePr>
            <a:graphicFrameLocks noGrp="1"/>
          </p:cNvGraphicFramePr>
          <p:nvPr/>
        </p:nvGraphicFramePr>
        <p:xfrm>
          <a:off x="1552989" y="4524116"/>
          <a:ext cx="10515600" cy="5791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5327718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3200" b="1" dirty="0"/>
                        <a:t>La superposición es una propiedad de los qubits</a:t>
                      </a:r>
                      <a:r>
                        <a:rPr lang="en-US" sz="3200" b="0" dirty="0"/>
                        <a:t/>
                      </a:r>
                      <a:r>
                        <a:rPr lang="en-US" sz="3200" b="1" dirty="0"/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98921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01C856-9D92-385A-1297-9315FBFED860}"/>
              </a:ext>
            </a:extLst>
          </p:cNvPr>
          <p:cNvGraphicFramePr>
            <a:graphicFrameLocks noGrp="1"/>
          </p:cNvGraphicFramePr>
          <p:nvPr/>
        </p:nvGraphicFramePr>
        <p:xfrm>
          <a:off x="1634012" y="5238034"/>
          <a:ext cx="6946252" cy="863011"/>
        </p:xfrm>
        <a:graphic>
          <a:graphicData uri="http://schemas.openxmlformats.org/drawingml/2006/table">
            <a:tbl>
              <a:tblPr/>
              <a:tblGrid>
                <a:gridCol w="6946252">
                  <a:extLst>
                    <a:ext uri="{9D8B030D-6E8A-4147-A177-3AD203B41FA5}">
                      <a16:colId xmlns:a16="http://schemas.microsoft.com/office/drawing/2014/main" val="379918977"/>
                    </a:ext>
                  </a:extLst>
                </a:gridCol>
              </a:tblGrid>
              <a:tr h="863011">
                <a:tc>
                  <a:txBody>
                    <a:bodyPr/>
                    <a:lstStyle/>
                    <a:p>
                      <a:r>
                        <a:rPr lang="en-US" sz="3200" b="1" dirty="0"/>
                        <a:t>No todos los qubits están en superposición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21171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21CE202-7C36-D6C8-4EE5-D7AAC3D1C4FB}"/>
              </a:ext>
            </a:extLst>
          </p:cNvPr>
          <p:cNvSpPr txBox="1"/>
          <p:nvPr/>
        </p:nvSpPr>
        <p:spPr>
          <a:xfrm>
            <a:off x="1552989" y="920665"/>
            <a:ext cx="101258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Un qubit es la unidad fundamental de la información cuántica</a:t>
            </a:r>
            <a:r>
              <a:rPr lang="en-US" sz="3200" b="1" dirty="0"/>
              <a:t/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Una superposición es un estado especial en el que puede estar un qubit</a:t>
            </a:r>
            <a:r>
              <a:rPr lang="en-US" sz="3200" b="1" dirty="0"/>
              <a:t/>
            </a:r>
            <a:r>
              <a:rPr lang="en-US" sz="3200" dirty="0"/>
              <a:t/>
            </a:r>
            <a:r>
              <a:rPr lang="en-US" sz="3200" i="1" dirty="0"/>
              <a:t/>
            </a:r>
            <a:r>
              <a:rPr lang="en-US" sz="3200" dirty="0"/>
              <a:t/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3887417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7E1C1-DA0D-3001-98DE-9B9A4E8D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C5A29CC-B9CB-F974-A4CE-72A9617B5C54}"/>
              </a:ext>
            </a:extLst>
          </p:cNvPr>
          <p:cNvSpPr txBox="1"/>
          <p:nvPr/>
        </p:nvSpPr>
        <p:spPr>
          <a:xfrm>
            <a:off x="838200" y="1060682"/>
            <a:ext cx="3687041" cy="23683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Estado cuántico general de un qubit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65A13-53DE-6352-26C5-EDAA1E045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4268653"/>
            <a:ext cx="3648941" cy="13234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6069F7-3988-0058-F42D-901B810CF024}"/>
              </a:ext>
            </a:extLst>
          </p:cNvPr>
          <p:cNvSpPr txBox="1"/>
          <p:nvPr/>
        </p:nvSpPr>
        <p:spPr>
          <a:xfrm>
            <a:off x="5348086" y="1035843"/>
            <a:ext cx="6005713" cy="4945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Un solo qubit no puede estar entrelazado — el entrelazamiento siempre requiere dos o más qubits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El entrelazamiento es una propiedad de un sistema de qubits, no de uno individual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El estado combinado de dos (o más) qubits no puede escribirse como un producto de sus estados individuales</a:t>
            </a:r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AAFDD13-F5EF-2B3F-F4E0-19F9C56250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9ED377EE-640A-F391-8D96-9696E75FAB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FCF1E7B1-1BA1-3B14-EC73-4FC11F116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6C596C9A-F42F-7489-8776-880A6EC49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3317721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185463-C53D-4CC3-B920-9D54B6E66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0687E48C-71B4-D453-2D59-94CAA10E0C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072550AA-BB72-8EFC-5C0F-EEA19E8F57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88E8450-3753-9172-9CBE-132BF2C48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21BA1421-1801-6C20-F655-18BED4A59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567056-6251-D2A1-FE21-E581139D13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2553" y="2136318"/>
            <a:ext cx="7456505" cy="1441591"/>
          </a:xfrm>
          <a:prstGeom prst="rect">
            <a:avLst/>
          </a:prstGeom>
        </p:spPr>
      </p:pic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32257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3F97A5-0D5B-B604-35BA-D1A8F90A6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54261240-2A4F-CF03-6D33-BA87D65C79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2A789B0F-7057-853A-0222-79AFD4C578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F04AEC9-977F-E6F6-780C-5222093E0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D9842AEE-9705-26C8-508F-A38F19BBC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B96872-CCAE-58A8-7698-CABECA35C8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950" y="1135309"/>
            <a:ext cx="3676650" cy="1869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FFDCA7-9C6E-9883-7F39-83EAC91B8C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346" y="2294267"/>
            <a:ext cx="5810654" cy="7967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1F1996-D4BD-75F5-EC9B-05711015EF5B}"/>
              </a:ext>
            </a:extLst>
          </p:cNvPr>
          <p:cNvSpPr txBox="1"/>
          <p:nvPr/>
        </p:nvSpPr>
        <p:spPr>
          <a:xfrm>
            <a:off x="1588067" y="245924"/>
            <a:ext cx="93180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Entrelazamiento — El gato está vinculado al átomo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97BB03-15A0-E294-4964-8388DC3277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8721" y="1135309"/>
            <a:ext cx="4111584" cy="9349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90C7C8-334B-E2C1-BF09-8DC7CD6D6B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0290" y="3304638"/>
            <a:ext cx="3669373" cy="13918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7ECBEE-82D0-C810-E13D-2DFEA94253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6883" y="5818024"/>
            <a:ext cx="2910015" cy="9614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F17720-9B99-70F5-CA24-7C3DE3D9E7E7}"/>
              </a:ext>
            </a:extLst>
          </p:cNvPr>
          <p:cNvSpPr txBox="1"/>
          <p:nvPr/>
        </p:nvSpPr>
        <p:spPr>
          <a:xfrm>
            <a:off x="1492813" y="6133152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 se puede separar esto en el estado de “solo el átomo” y el estado de “solo el gato”. Están vinculados.</a:t>
            </a:r>
            <a:r>
              <a:rPr lang="en-US" b="1" dirty="0"/>
              <a:t/>
            </a:r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</a:p>
        </p:txBody>
      </p:sp>
      <p:graphicFrame>
        <p:nvGraphicFramePr>
          <p:cNvPr id="1036" name="TextBox 2">
            <a:extLst>
              <a:ext uri="{FF2B5EF4-FFF2-40B4-BE49-F238E27FC236}">
                <a16:creationId xmlns:a16="http://schemas.microsoft.com/office/drawing/2014/main" id="{613FE57B-AAE2-AE5B-C922-A3D56413AE26}"/>
              </a:ext>
            </a:extLst>
          </p:cNvPr>
          <p:cNvGraphicFramePr/>
          <p:nvPr/>
        </p:nvGraphicFramePr>
        <p:xfrm>
          <a:off x="207818" y="2921794"/>
          <a:ext cx="7859736" cy="3046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1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3930057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3F380E-7A37-A431-2685-FEBE34108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0B4B8A8-0E29-22DE-A061-D91C69432D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03C5F371-4F04-9730-FC11-6CA7C3BFA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01D65A28-CE6D-A8CF-53B1-6B1F219CF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15618922-9B86-895D-15C7-2E3F5173A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314D8D8-6E2B-AB24-F7A8-9F76991E8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18" y="2012855"/>
            <a:ext cx="9602309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Es un estado de Bell, que pasa la prueba de entrelazamiento máximo: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 se puede escribir como un producto.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Medir el átomo te dice el estado del gato inmediatamente.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 mides átomo = decaído (1) → el gato está muerto (1)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 átomo = no decaído (0) → el gato está vivo (0)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D26C7B-AF79-7527-5C49-414EC71F80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4620" y="798653"/>
            <a:ext cx="3768005" cy="1180618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AABBE9D-E13F-4ACC-1304-1BF7CBEC1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18" y="4228693"/>
            <a:ext cx="1159783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Antes de la medición: tanto el átomo como el gato están en un estado compartido, mixto y entrelazado. Después de la medición: todo el sistema colapsa a |00⟩ o a |11⟩.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FC4D9-8C46-7EAA-4CDB-29EF50ED744F}"/>
              </a:ext>
            </a:extLst>
          </p:cNvPr>
          <p:cNvSpPr txBox="1"/>
          <p:nvPr/>
        </p:nvSpPr>
        <p:spPr>
          <a:xfrm>
            <a:off x="1556213" y="5983326"/>
            <a:ext cx="96202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+mj-lt"/>
              </a:rPr>
              <a:t>El entrelazamiento juega un papel antes de la medición, no después</a:t>
            </a:r>
            <a:r>
              <a:rPr lang="en-US" sz="2800" b="1" i="1" dirty="0">
                <a:latin typeface="+mj-lt"/>
              </a:rPr>
              <a:t/>
            </a:r>
            <a:r>
              <a:rPr lang="en-US" sz="2800" b="1" dirty="0">
                <a:latin typeface="+mj-lt"/>
              </a:rPr>
              <a:t/>
            </a:r>
            <a:endParaRPr lang="en-US" sz="28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DD5626-EAD3-CA01-0C9E-4C5C74BABA0B}"/>
              </a:ext>
            </a:extLst>
          </p:cNvPr>
          <p:cNvSpPr txBox="1"/>
          <p:nvPr/>
        </p:nvSpPr>
        <p:spPr>
          <a:xfrm>
            <a:off x="2106592" y="59066"/>
            <a:ext cx="71637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+mj-lt"/>
              </a:rPr>
              <a:t>¿Cuándo juega un papel el entrelazamiento?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1647799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58875-4263-9BF6-85C7-DA06AA2BF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B79381AC-BD49-2AD8-EA42-76604303BD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1673D505-C41E-CBEA-8ADC-CE0CC3AE64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09387761-4526-389D-6CF1-6EF3B4911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DAF305E7-97A3-8C6A-EA2E-61DA84412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91F2A6-60C2-739A-2E48-E924B3830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724508"/>
              </p:ext>
            </p:extLst>
          </p:nvPr>
        </p:nvGraphicFramePr>
        <p:xfrm>
          <a:off x="555585" y="1442466"/>
          <a:ext cx="11181144" cy="3973068"/>
        </p:xfrm>
        <a:graphic>
          <a:graphicData uri="http://schemas.openxmlformats.org/drawingml/2006/table">
            <a:tbl>
              <a:tblPr/>
              <a:tblGrid>
                <a:gridCol w="11181144">
                  <a:extLst>
                    <a:ext uri="{9D8B030D-6E8A-4147-A177-3AD203B41FA5}">
                      <a16:colId xmlns:a16="http://schemas.microsoft.com/office/drawing/2014/main" val="3829470331"/>
                    </a:ext>
                  </a:extLst>
                </a:gridCol>
              </a:tblGrid>
              <a:tr h="653796">
                <a:tc>
                  <a:txBody>
                    <a:bodyPr/>
                    <a:lstStyle/>
                    <a:p>
                      <a:r>
                        <a:rPr lang="en-US" sz="3300" b="1"/>
                        <a:t>¿Qué hace especial al entrelazamiento?</a:t>
                      </a:r>
                    </a:p>
                  </a:txBody>
                  <a:tcPr marL="107769" marR="107769" marT="53884" marB="53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659015"/>
                  </a:ext>
                </a:extLst>
              </a:tr>
              <a:tr h="1659636">
                <a:tc>
                  <a:txBody>
                    <a:bodyPr/>
                    <a:lstStyle/>
                    <a:p>
                      <a:r>
                        <a:rPr lang="en-US" sz="3300" b="1" dirty="0"/>
                        <a:t>No se trata solo de ser incierto. Se trata de que dos sistemas sean incierto juntos.</a:t>
                      </a:r>
                    </a:p>
                  </a:txBody>
                  <a:tcPr marL="107769" marR="107769" marT="53884" marB="53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958370"/>
                  </a:ext>
                </a:extLst>
              </a:tr>
              <a:tr h="1659636">
                <a:tc>
                  <a:txBody>
                    <a:bodyPr/>
                    <a:lstStyle/>
                    <a:p>
                      <a:r>
                        <a:rPr lang="en-US" sz="3300" b="1" dirty="0"/>
                        <a:t>El estado de uno depende del estado del otro, aunque ambos estén indefinidos individualmente.</a:t>
                      </a:r>
                    </a:p>
                  </a:txBody>
                  <a:tcPr marL="107769" marR="107769" marT="53884" marB="53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913349"/>
                  </a:ext>
                </a:extLst>
              </a:tr>
            </a:tbl>
          </a:graphicData>
        </a:graphic>
      </p:graphicFrame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1551457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4000"/>
                <a:lumOff val="16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B6417-43AA-2B92-D4CA-7FE83CCEC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531E5351-9BE5-9A15-EC9D-03DA18238A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3324BDAF-68BE-44E2-27A8-C60C2495D3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2456B188-CB7A-61A5-1635-9D5DD1820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A09456A9-FCC3-9073-00D2-DBF008079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94373E-1454-AACE-B168-10FBB35823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3759" y="1850332"/>
            <a:ext cx="6716702" cy="880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88683D-4176-F8F6-3C0D-2CED3FFC9A23}"/>
              </a:ext>
            </a:extLst>
          </p:cNvPr>
          <p:cNvSpPr txBox="1"/>
          <p:nvPr/>
        </p:nvSpPr>
        <p:spPr>
          <a:xfrm>
            <a:off x="1466599" y="585901"/>
            <a:ext cx="87885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+mj-lt"/>
              </a:rPr>
              <a:t>Cómo alejar la vista (RG) ayuda a simplificar sistemas entrelazados complejos, como un gato cuántico</a:t>
            </a:r>
            <a:endParaRPr lang="en-US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01AA5AD-E43F-4B81-A516-981056F19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367" y="2846025"/>
            <a:ext cx="104259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átomo es un qubit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gato es un sistema macroscópico, pero tratado como acoplado al qubit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D055E-F00A-4419-8B52-FBC5AF14F605}"/>
              </a:ext>
            </a:extLst>
          </p:cNvPr>
          <p:cNvSpPr txBox="1"/>
          <p:nvPr/>
        </p:nvSpPr>
        <p:spPr>
          <a:xfrm>
            <a:off x="207818" y="3869309"/>
            <a:ext cx="79373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el gato está compuesto de N∼10^27 átomos = 2^N configuraciones cuánticas posibles</a:t>
            </a:r>
            <a:r>
              <a:rPr lang="pt-BR" sz="2400" dirty="0"/>
              <a:t/>
            </a:r>
            <a:r>
              <a:rPr lang="pt-BR" sz="2400" baseline="30000" dirty="0"/>
              <a:t/>
            </a:r>
            <a:r>
              <a:rPr lang="pt-BR" sz="2400" dirty="0"/>
              <a:t/>
            </a:r>
            <a:r>
              <a:rPr lang="pt-BR" sz="2400" baseline="30000" dirty="0"/>
              <a:t/>
            </a:r>
            <a:r>
              <a:rPr lang="pt-BR" sz="2400" dirty="0"/>
              <a:t/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6A9D99-502F-9CC1-8E69-FDEE5FCB52CB}"/>
              </a:ext>
            </a:extLst>
          </p:cNvPr>
          <p:cNvSpPr txBox="1"/>
          <p:nvPr/>
        </p:nvSpPr>
        <p:spPr>
          <a:xfrm>
            <a:off x="1036943" y="5310807"/>
            <a:ext cx="101181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El sistema entrelazado completo es matemáticamente imposible de tratar sin simplificación</a:t>
            </a:r>
            <a:r>
              <a:rPr lang="en-US" sz="2400" b="1" dirty="0"/>
              <a:t/>
            </a:r>
            <a:r>
              <a:rPr lang="en-US" sz="2400" dirty="0"/>
              <a:t/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C546F5-9CC4-255B-43E9-7B6C342B70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197" y="3984769"/>
            <a:ext cx="3314700" cy="600075"/>
          </a:xfrm>
          <a:prstGeom prst="rect">
            <a:avLst/>
          </a:prstGeom>
        </p:spPr>
      </p:pic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7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02883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13964F-CF2D-D4E6-A7DD-67754AECE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2FC0994-A6E6-3899-9A7B-D689B2FA08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B0E273B4-A71C-10CD-E9CD-38FC872F98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2FF2783D-7E60-696F-634B-9E7E6D694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288B92FB-477B-EA20-C6E7-1C9A4428C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ADFB97-6795-34A4-1C1A-3B3A3C5F702F}"/>
              </a:ext>
            </a:extLst>
          </p:cNvPr>
          <p:cNvSpPr txBox="1"/>
          <p:nvPr/>
        </p:nvSpPr>
        <p:spPr>
          <a:xfrm>
            <a:off x="1018572" y="1059872"/>
            <a:ext cx="107876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 RG comprime esta información en una variable macroscópica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803107-9FD1-87B5-E019-E07AE370E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120" y="2119744"/>
            <a:ext cx="9785005" cy="8414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9011CE-1E8E-EC14-2667-C85B153D69F8}"/>
              </a:ext>
            </a:extLst>
          </p:cNvPr>
          <p:cNvSpPr txBox="1"/>
          <p:nvPr/>
        </p:nvSpPr>
        <p:spPr>
          <a:xfrm>
            <a:off x="1265500" y="3308630"/>
            <a:ext cx="10540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Dos amplitudes de nuevo — un estado efectivo comprimido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529020-42B0-3FF8-5F6D-4815F449F5FF}"/>
              </a:ext>
            </a:extLst>
          </p:cNvPr>
          <p:cNvSpPr txBox="1"/>
          <p:nvPr/>
        </p:nvSpPr>
        <p:spPr>
          <a:xfrm>
            <a:off x="1785395" y="5865918"/>
            <a:ext cx="90022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Olvida los estados microscópicos — conserva solo la idea general: ¿el gato está vivo o muerto?</a:t>
            </a:r>
          </a:p>
        </p:txBody>
      </p:sp>
      <p:graphicFrame>
        <p:nvGraphicFramePr>
          <p:cNvPr id="1034" name="TextBox 8">
            <a:extLst>
              <a:ext uri="{FF2B5EF4-FFF2-40B4-BE49-F238E27FC236}">
                <a16:creationId xmlns:a16="http://schemas.microsoft.com/office/drawing/2014/main" id="{114A8E2E-4C3F-54FE-E917-30056F0EC45B}"/>
              </a:ext>
            </a:extLst>
          </p:cNvPr>
          <p:cNvGraphicFramePr/>
          <p:nvPr/>
        </p:nvGraphicFramePr>
        <p:xfrm>
          <a:off x="1661509" y="3761324"/>
          <a:ext cx="8483158" cy="2031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11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684345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483">
              <a:schemeClr val="accent1">
                <a:lumMod val="86000"/>
                <a:lumOff val="14000"/>
              </a:schemeClr>
            </a:gs>
            <a:gs pos="9000">
              <a:schemeClr val="accent1">
                <a:lumMod val="86000"/>
                <a:lumOff val="14000"/>
              </a:schemeClr>
            </a:gs>
            <a:gs pos="82000">
              <a:schemeClr val="accent4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6A4870-ADE8-C14E-BF9E-448BF684D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BE165DA8-DC47-6C06-ED44-0B13E62407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B4B988B4-0722-C29A-7C5B-5DC310D1C9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BDA4B1C9-031E-F0CF-0F25-BA84B5249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445C01FD-38FF-8604-4051-AD038ABEB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668322-F930-0A01-5D18-5C8AC952247D}"/>
              </a:ext>
            </a:extLst>
          </p:cNvPr>
          <p:cNvSpPr txBox="1"/>
          <p:nvPr/>
        </p:nvSpPr>
        <p:spPr>
          <a:xfrm>
            <a:off x="396915" y="1224269"/>
            <a:ext cx="109578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La RG ayuda a la computación cuántica y a la física porque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Reduce datos microscópicos abrumadores (átomos en el gato)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Conserva solo variables efectivas (como vivo/muerto)</a:t>
            </a:r>
            <a:r>
              <a:rPr lang="en-US" sz="2400" b="1" dirty="0"/>
              <a:t/>
            </a:r>
            <a:r>
              <a:rPr lang="en-US" sz="2400" dirty="0"/>
              <a:t/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Permite que las computadoras cuánticas simulen sistemas grandes y realistas</a:t>
            </a:r>
            <a:r>
              <a:rPr lang="en-US" sz="2400" b="1" dirty="0"/>
              <a:t/>
            </a: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5F8A30-9B8C-312D-2AF7-52F2B203C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098390"/>
              </p:ext>
            </p:extLst>
          </p:nvPr>
        </p:nvGraphicFramePr>
        <p:xfrm>
          <a:off x="1352797" y="2929010"/>
          <a:ext cx="9411660" cy="3570075"/>
        </p:xfrm>
        <a:graphic>
          <a:graphicData uri="http://schemas.openxmlformats.org/drawingml/2006/table">
            <a:tbl>
              <a:tblPr/>
              <a:tblGrid>
                <a:gridCol w="2954684">
                  <a:extLst>
                    <a:ext uri="{9D8B030D-6E8A-4147-A177-3AD203B41FA5}">
                      <a16:colId xmlns:a16="http://schemas.microsoft.com/office/drawing/2014/main" val="1166797562"/>
                    </a:ext>
                  </a:extLst>
                </a:gridCol>
                <a:gridCol w="3228488">
                  <a:extLst>
                    <a:ext uri="{9D8B030D-6E8A-4147-A177-3AD203B41FA5}">
                      <a16:colId xmlns:a16="http://schemas.microsoft.com/office/drawing/2014/main" val="2606962852"/>
                    </a:ext>
                  </a:extLst>
                </a:gridCol>
                <a:gridCol w="3228488">
                  <a:extLst>
                    <a:ext uri="{9D8B030D-6E8A-4147-A177-3AD203B41FA5}">
                      <a16:colId xmlns:a16="http://schemas.microsoft.com/office/drawing/2014/main" val="2320070842"/>
                    </a:ext>
                  </a:extLst>
                </a:gridCol>
              </a:tblGrid>
              <a:tr h="643995">
                <a:tc>
                  <a:txBody>
                    <a:bodyPr/>
                    <a:lstStyle/>
                    <a:p>
                      <a:r>
                        <a:rPr lang="en-US" b="1" dirty="0"/>
                        <a:t>Componente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Sistema del gato cuántico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Computadora cuántica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1917073"/>
                  </a:ext>
                </a:extLst>
              </a:tr>
              <a:tr h="362511">
                <a:tc>
                  <a:txBody>
                    <a:bodyPr/>
                    <a:lstStyle/>
                    <a:p>
                      <a:r>
                        <a:rPr lang="en-US"/>
                        <a:t>Detalles microscópicos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10^{27} qubits atómicos en el gato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2N qubits físicos</a:t>
                      </a:r>
                      <a:r>
                        <a:rPr lang="en-US" baseline="30000" dirty="0"/>
                        <a:t/>
                      </a:r>
                      <a:r>
                        <a:rPr lang="en-US" dirty="0"/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25778449"/>
                  </a:ext>
                </a:extLst>
              </a:tr>
              <a:tr h="634394">
                <a:tc>
                  <a:txBody>
                    <a:bodyPr/>
                    <a:lstStyle/>
                    <a:p>
                      <a:r>
                        <a:rPr lang="en-US" dirty="0"/>
                        <a:t>Objetivo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Determinar vivo/muerto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Predecir el resultado final / medición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123932632"/>
                  </a:ext>
                </a:extLst>
              </a:tr>
              <a:tr h="634394">
                <a:tc>
                  <a:txBody>
                    <a:bodyPr/>
                    <a:lstStyle/>
                    <a:p>
                      <a:r>
                        <a:rPr lang="en-US"/>
                        <a:t>Sin RG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Simular todo: demasiado difícil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Simular todos los qubits: memoria exponencial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49956614"/>
                  </a:ext>
                </a:extLst>
              </a:tr>
              <a:tr h="634394">
                <a:tc>
                  <a:txBody>
                    <a:bodyPr/>
                    <a:lstStyle/>
                    <a:p>
                      <a:r>
                        <a:rPr lang="en-US" dirty="0"/>
                        <a:t>Con RG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Solo rastrear "decayó o no" → “vivo/muerto”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66000">
                          <a:schemeClr val="accent4">
                            <a:lumMod val="75000"/>
                          </a:schemeClr>
                        </a:gs>
                        <a:gs pos="17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Solo rastrear la estructura de entrelazamiento (por ejemplo, MPS)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16034626"/>
                  </a:ext>
                </a:extLst>
              </a:tr>
              <a:tr h="634394">
                <a:tc>
                  <a:txBody>
                    <a:bodyPr/>
                    <a:lstStyle/>
                    <a:p>
                      <a:r>
                        <a:rPr lang="en-US"/>
                        <a:t>Salida de la RG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Observable macroscópico (muerto/vivo)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Estado cuántico comprimido (MPS/QTT)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1623427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BB06DAD-D8E1-95A4-E57D-42E6B6D360CF}"/>
              </a:ext>
            </a:extLst>
          </p:cNvPr>
          <p:cNvSpPr txBox="1"/>
          <p:nvPr/>
        </p:nvSpPr>
        <p:spPr>
          <a:xfrm>
            <a:off x="1449729" y="135081"/>
            <a:ext cx="94563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 RG comprime esta información en una variable macroscópica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746490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6000">
              <a:schemeClr val="accent1">
                <a:lumMod val="5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5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96E7C-6F29-41AE-4FFC-D1831842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BB42ADFD-357E-C90B-5472-9845AF57A3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E46517CF-49B5-7D2B-032E-F7ED1FD660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DA4A7921-889E-F1CC-DE5A-C9E350B13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E1E2F9F7-3083-507F-73E1-DA584A303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80E2FB-C7D6-AA14-6C6C-B0284A71F60A}"/>
              </a:ext>
            </a:extLst>
          </p:cNvPr>
          <p:cNvSpPr txBox="1"/>
          <p:nvPr/>
        </p:nvSpPr>
        <p:spPr>
          <a:xfrm>
            <a:off x="1449729" y="135081"/>
            <a:ext cx="94563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 RG comprime esta información en una variable macroscópica</a:t>
            </a:r>
            <a:endParaRPr lang="en-US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CAAF14-1424-607B-1A7F-33F469CE00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21" y="1194954"/>
            <a:ext cx="9792098" cy="1860762"/>
          </a:xfrm>
          <a:prstGeom prst="rect">
            <a:avLst/>
          </a:prstGeom>
          <a:effectLst>
            <a:glow>
              <a:schemeClr val="accent3"/>
            </a:glow>
            <a:softEdge rad="762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F2D543-AC62-09D5-A9D3-FAEA2DA196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722" y="3171158"/>
            <a:ext cx="6544402" cy="2731931"/>
          </a:xfrm>
          <a:prstGeom prst="rect">
            <a:avLst/>
          </a:prstGeom>
          <a:effectLst>
            <a:glow rad="63500">
              <a:schemeClr val="accent4">
                <a:alpha val="40000"/>
              </a:schemeClr>
            </a:glow>
            <a:softEdge rad="88900"/>
          </a:effectLst>
        </p:spPr>
      </p:pic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7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1835481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091EB-AF77-17F2-E12D-7991C7CF8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A955823F-FAAA-AB4E-0924-EDC93D1D6D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5FBBCAA3-A975-E6C5-BBFF-467C508129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BD6632B1-A6EE-A084-BF26-35CBE994D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6C74D4FC-AEA5-3771-6501-B07CF407D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6C7A4A-CFEB-9946-8791-BC31A81826D9}"/>
              </a:ext>
            </a:extLst>
          </p:cNvPr>
          <p:cNvSpPr txBox="1"/>
          <p:nvPr/>
        </p:nvSpPr>
        <p:spPr>
          <a:xfrm>
            <a:off x="1037907" y="1430795"/>
            <a:ext cx="1028898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Al entrenar una IA para clasificar anomalías en ECG, usas una ventana de promedio móvil para reducir el número de puntos de entrenamiento. ¿Qué principio se está aplicando aquí?</a:t>
            </a:r>
          </a:p>
          <a:p>
            <a:endParaRPr lang="en-US" sz="3200" dirty="0"/>
          </a:p>
          <a:p>
            <a:r>
              <a:rPr lang="en-US" sz="3200" dirty="0"/>
              <a:t>A) Reducción de sobreajuste</a:t>
            </a:r>
            <a:br>
              <a:rPr lang="en-US" sz="3200" dirty="0"/>
            </a:br>
            <a:r>
              <a:rPr lang="en-US" sz="3200" dirty="0"/>
              <a:t>B) Renormalización</a:t>
            </a:r>
            <a:br>
              <a:rPr lang="en-US" sz="3200" dirty="0"/>
            </a:br>
            <a:r>
              <a:rPr lang="en-US" sz="3200" dirty="0"/>
              <a:t>C) Convolución de señal</a:t>
            </a:r>
            <a:br>
              <a:rPr lang="en-US" sz="3200" dirty="0"/>
            </a:br>
            <a:r>
              <a:rPr lang="en-US" sz="3200" dirty="0"/>
              <a:t>D) Expansión de características</a:t>
            </a:r>
            <a:br>
              <a:rPr lang="en-US" sz="3200" dirty="0"/>
            </a:br>
            <a:r>
              <a:rPr lang="en-US" sz="3200" dirty="0"/>
              <a:t>E) Estimación de ancho de banda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4D727B-4D69-AB97-AACD-B94D3F26BF73}"/>
              </a:ext>
            </a:extLst>
          </p:cNvPr>
          <p:cNvSpPr txBox="1"/>
          <p:nvPr/>
        </p:nvSpPr>
        <p:spPr>
          <a:xfrm>
            <a:off x="1808316" y="120766"/>
            <a:ext cx="8828818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La RG filtra las contribuciones pequeñas a grandes escalas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472562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6FC90-8D27-9EB4-4F35-CCB9B587E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Freeform: Shape 104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3B406-F47A-958D-2134-C161D3484C23}"/>
              </a:ext>
            </a:extLst>
          </p:cNvPr>
          <p:cNvSpPr txBox="1"/>
          <p:nvPr/>
        </p:nvSpPr>
        <p:spPr>
          <a:xfrm>
            <a:off x="1638313" y="1229857"/>
            <a:ext cx="10053763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simplificas el sistema agrupando valores cercanos y eliminando pequeñas fluctuaciones, es decir, haciendo un coarse-graining (grano grueso) de los datos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/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/>
            </a:r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95791332-0FB5-D455-0EE3-914BC2E3A4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5DAC3562-8297-2FAA-8B9F-6BDD775323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805B82BA-0EC8-B48C-0B71-729D719A5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B256E66-CAD8-9CD1-61EC-35E220CD4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CC8F7C-E56A-2BDB-CE01-AD66E3A8495B}"/>
              </a:ext>
            </a:extLst>
          </p:cNvPr>
          <p:cNvSpPr txBox="1"/>
          <p:nvPr/>
        </p:nvSpPr>
        <p:spPr>
          <a:xfrm>
            <a:off x="1808316" y="120766"/>
            <a:ext cx="8863542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La RG filtra las contribuciones pequeñas a grandes escalas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1729935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967390-9B3D-13E1-6734-19453DFCA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03D75A1A-9114-054C-83A6-57FC9195E0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C029076-BD5E-0C23-6E44-4CBCE0DDF7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F6D1E80B-663E-2852-F579-4AB5BD848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2874F525-4C2A-CF0B-F6BA-72F27BD36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35" name="TextBox 2">
            <a:extLst>
              <a:ext uri="{FF2B5EF4-FFF2-40B4-BE49-F238E27FC236}">
                <a16:creationId xmlns:a16="http://schemas.microsoft.com/office/drawing/2014/main" id="{532E90B5-D752-117D-E76B-5BBFD98A71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1155287"/>
              </p:ext>
            </p:extLst>
          </p:nvPr>
        </p:nvGraphicFramePr>
        <p:xfrm>
          <a:off x="780307" y="1575955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BD7B27E-C6D9-5806-4101-CAB8F0B69ED5}"/>
              </a:ext>
            </a:extLst>
          </p:cNvPr>
          <p:cNvSpPr txBox="1"/>
          <p:nvPr/>
        </p:nvSpPr>
        <p:spPr>
          <a:xfrm>
            <a:off x="1808315" y="120766"/>
            <a:ext cx="8615745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La RG filtra las contribuciones pequeñas a grandes escalas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10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1649449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2D50B6-1F00-DCFD-B7EA-CADFD9A0D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787A20A9-8CBD-66A5-287D-EB8154F1AD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8F7C786C-AEBF-A8EA-CF84-63EFC1FEB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2E183929-8A97-C125-2ED4-FDEDBD101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5625D5B5-FFEB-39CC-F605-571487EF5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7F76DB-A739-EA41-7EDF-335F54D302DE}"/>
              </a:ext>
            </a:extLst>
          </p:cNvPr>
          <p:cNvSpPr txBox="1"/>
          <p:nvPr/>
        </p:nvSpPr>
        <p:spPr>
          <a:xfrm>
            <a:off x="517002" y="1462195"/>
            <a:ext cx="11157995" cy="3046988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Flujo del Grupo de Renormalización</a:t>
            </a:r>
            <a:endParaRPr lang="en-US" sz="3200" dirty="0"/>
          </a:p>
          <a:p>
            <a:r>
              <a:rPr lang="en-US" sz="3200" b="1" dirty="0"/>
              <a:t>ExplicaciónEste proceso es como el flujo de RG porque estás eliminando fluctuaciones de corto alcance (alta frecuencia) y enfocándote en el comportamiento de largo alcance (baja frecuencia) — exactamente la idea detrás de la RG en física.</a:t>
            </a:r>
            <a:br>
              <a:rPr lang="en-US" sz="3200" dirty="0"/>
            </a:br>
            <a:r>
              <a:rPr lang="en-US" sz="3200" dirty="0"/>
              <a:t/>
            </a:r>
            <a:r>
              <a:rPr lang="en-US" sz="3200" b="1" dirty="0"/>
              <a:t/>
            </a:r>
            <a:r>
              <a:rPr lang="en-US" sz="3200" dirty="0"/>
              <a:t/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E06366-FFD0-9612-0942-0A18CFC2BB16}"/>
              </a:ext>
            </a:extLst>
          </p:cNvPr>
          <p:cNvSpPr txBox="1"/>
          <p:nvPr/>
        </p:nvSpPr>
        <p:spPr>
          <a:xfrm>
            <a:off x="1808316" y="120766"/>
            <a:ext cx="770471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La RG filtra las contribuciones pequeñas a grandes escalas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3043557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alpha val="9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486C8F-A576-7379-785F-60527ECD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EB22DA2D-47CF-A617-39E3-D79BA8F4B3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8C7E19A-3E7D-CB52-210E-048DCEA3F2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3F22446-81D3-585C-71BB-E819A60E4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24CBC1C6-6862-FEE6-9B9E-7778ACC11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235416-62EA-0E95-ADC5-B27557259383}"/>
              </a:ext>
            </a:extLst>
          </p:cNvPr>
          <p:cNvSpPr txBox="1"/>
          <p:nvPr/>
        </p:nvSpPr>
        <p:spPr>
          <a:xfrm>
            <a:off x="836270" y="1247981"/>
            <a:ext cx="10344873" cy="4524315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Un ingeniero aplica un método que agrupa cada 60 minutos de datos en valores promedio para enfocarse en patrones macro de una microrred solar. Este enfoque es conceptualmente equivalente a</a:t>
            </a:r>
          </a:p>
          <a:p>
            <a:r>
              <a:rPr lang="en-US" sz="3200" dirty="0"/>
              <a:t>A) Integración de Runge-Kutta</a:t>
            </a:r>
            <a:r>
              <a:rPr lang="en-US" sz="3200" dirty="0" err="1"/>
              <a:t/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B) Descomposición wavelet multinivel</a:t>
            </a:r>
            <a:br>
              <a:rPr lang="en-US" sz="3200" dirty="0"/>
            </a:br>
            <a:r>
              <a:rPr lang="en-US" sz="3200" dirty="0"/>
              <a:t>C) Flujo del Grupo de Renormalización</a:t>
            </a:r>
            <a:br>
              <a:rPr lang="en-US" sz="3200" dirty="0"/>
            </a:br>
            <a:r>
              <a:rPr lang="en-US" sz="3200" dirty="0"/>
              <a:t>D) Muestreo a la frecuencia de Nyquist</a:t>
            </a:r>
            <a:br>
              <a:rPr lang="en-US" sz="3200" dirty="0"/>
            </a:br>
            <a:r>
              <a:rPr lang="en-US" sz="3200" dirty="0"/>
              <a:t>E) Descomposición en autovalores de la matriz de covarianza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21D3B8-2139-6599-AE17-19748D1D2BDE}"/>
              </a:ext>
            </a:extLst>
          </p:cNvPr>
          <p:cNvSpPr txBox="1"/>
          <p:nvPr/>
        </p:nvSpPr>
        <p:spPr>
          <a:xfrm>
            <a:off x="1808316" y="120766"/>
            <a:ext cx="770471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La RG filtra las contribuciones pequeñas a grandes escalas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55375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69906-1B7B-EDDA-0802-18C9CAEFA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656D9D4C-3603-1C90-EADA-53588385D6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336936B9-2BC1-D495-BB2D-2D2B0E226B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055185B7-22CE-CE42-0F6F-618E7291E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4BF67FA8-8D05-5DB5-89B7-440CA3E11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B65C3B-EDED-92BA-64C0-F5EE98EF0045}"/>
              </a:ext>
            </a:extLst>
          </p:cNvPr>
          <p:cNvSpPr txBox="1"/>
          <p:nvPr/>
        </p:nvSpPr>
        <p:spPr>
          <a:xfrm>
            <a:off x="627926" y="1455928"/>
            <a:ext cx="11564073" cy="4524315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En la optimización de redes neuronales, un método reduce las características redundantes capa por capa y conserva solo los patrones dominantes en cada escala. Esta estrategia se parece a</a:t>
            </a:r>
          </a:p>
          <a:p>
            <a:pPr>
              <a:buNone/>
            </a:pPr>
            <a:endParaRPr lang="en-US" sz="3200" b="1" dirty="0"/>
          </a:p>
          <a:p>
            <a:r>
              <a:rPr lang="en-US" sz="3200" b="1" dirty="0"/>
              <a:t>A) Descenso de Newton-Raphson</a:t>
            </a:r>
            <a:br>
              <a:rPr lang="en-US" sz="3200" b="1" dirty="0"/>
            </a:br>
            <a:r>
              <a:rPr lang="en-US" sz="3200" b="1" dirty="0"/>
              <a:t>B) Upsampling </a:t>
            </a:r>
            <a:r>
              <a:rPr lang="en-US" sz="3200" b="1" dirty="0" err="1"/>
              <a:t>convolucional</a:t>
            </a:r>
            <a:br>
              <a:rPr lang="en-US" sz="3200" b="1" dirty="0"/>
            </a:br>
            <a:r>
              <a:rPr lang="en-US" sz="3200" b="1" dirty="0"/>
              <a:t>C) Flujo del Grupo de Renormalización</a:t>
            </a:r>
            <a:br>
              <a:rPr lang="en-US" sz="3200" b="1" dirty="0"/>
            </a:br>
            <a:r>
              <a:rPr lang="en-US" sz="3200" b="1" dirty="0"/>
              <a:t>D) Simplificación de Naive Bayes</a:t>
            </a:r>
            <a:br>
              <a:rPr lang="en-US" sz="3200" b="1" dirty="0"/>
            </a:br>
            <a:r>
              <a:rPr lang="en-US" sz="3200" b="1" dirty="0"/>
              <a:t>E) Regularización por dropout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42C299-BFCC-BC82-0E28-ABE95100A373}"/>
              </a:ext>
            </a:extLst>
          </p:cNvPr>
          <p:cNvSpPr txBox="1"/>
          <p:nvPr/>
        </p:nvSpPr>
        <p:spPr>
          <a:xfrm>
            <a:off x="1808316" y="120766"/>
            <a:ext cx="8516302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La RG filtra las contribuciones pequeñas a grandes escalas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3948362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AB542-F628-0131-E084-B2BF559FC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82FAB711-B0AA-0A89-9763-E055042840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381E5399-4066-8C04-5A90-18E2B77EDD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CEC8C0F3-4458-976B-8E83-10411E909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620D7637-E195-2790-F240-E554128C3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BEB21C-0A22-F964-8616-E21AE2D05692}"/>
              </a:ext>
            </a:extLst>
          </p:cNvPr>
          <p:cNvSpPr txBox="1"/>
          <p:nvPr/>
        </p:nvSpPr>
        <p:spPr>
          <a:xfrm>
            <a:off x="441767" y="1059872"/>
            <a:ext cx="1130846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Quieres comprimir un video usando un algoritmo inteligente que no solo mire la compresión píxel por píxel, sino la compresión a nivel semántico.</a:t>
            </a:r>
            <a:r>
              <a:rPr lang="en-US" sz="3200" b="1" dirty="0"/>
              <a:t/>
            </a:r>
            <a:r>
              <a:rPr lang="en-US" sz="3200" dirty="0"/>
              <a:t/>
            </a:r>
            <a:r>
              <a:rPr lang="en-US" sz="3200" b="1" dirty="0"/>
              <a:t/>
            </a:r>
            <a:r>
              <a:rPr lang="en-US" sz="3200" dirty="0"/>
              <a:t/>
            </a:r>
          </a:p>
          <a:p>
            <a:pPr>
              <a:buNone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Analiza los fotogramas en bloques de 16x16.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Extrae características mediante una CNN.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Aplica PCA o SVD para descartar los modos de baja energía.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Rastrea cómo se degrada la calidad.</a:t>
            </a:r>
          </a:p>
          <a:p>
            <a:r>
              <a:rPr lang="en-US" sz="3200" dirty="0"/>
              <a:t>Esta compresión jerárquica es conceptualmente como la RG: elimina el ruido en escalas pequeñas, conserva la estructura en las más grandes.</a:t>
            </a:r>
            <a:r>
              <a:rPr lang="en-US" sz="3200" b="1" dirty="0"/>
              <a:t/>
            </a:r>
            <a:r>
              <a:rPr lang="en-US" sz="3200" dirty="0"/>
              <a:t/>
            </a:r>
            <a:r>
              <a:rPr lang="en-US" dirty="0"/>
              <a:t/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995A6A-2462-DFF7-4AD8-B74A823646B1}"/>
              </a:ext>
            </a:extLst>
          </p:cNvPr>
          <p:cNvSpPr txBox="1"/>
          <p:nvPr/>
        </p:nvSpPr>
        <p:spPr>
          <a:xfrm>
            <a:off x="1808316" y="120766"/>
            <a:ext cx="770471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La RG filtra las contribuciones pequeñas a grandes escalas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4105033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B42C82-F578-BB22-FF1C-602A5283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B0443085-ED70-528F-8F8D-0588C2C5FD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C4ABFE2C-BA2F-BBBE-E1DF-E118341162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083FFE57-FC04-7D39-80B7-7C87C1BE7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889C960-99A2-3A88-6B2C-2961C58B1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16356B-B64D-38FA-2A40-01266D4411F5}"/>
              </a:ext>
            </a:extLst>
          </p:cNvPr>
          <p:cNvSpPr txBox="1"/>
          <p:nvPr/>
        </p:nvSpPr>
        <p:spPr>
          <a:xfrm>
            <a:off x="135082" y="1348769"/>
            <a:ext cx="1165952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Dos departamentos (Ventas y Logística) están entrelazados: si Ventas aumenta, Logística se estresa. En lugar de modelar las 1000 rutas de venta, te enfocas solo en 3 cuellos de botella logísticos dominantes.</a:t>
            </a:r>
            <a:r>
              <a:rPr lang="en-US" sz="3200" b="1" dirty="0"/>
              <a:t/>
            </a:r>
            <a:r>
              <a:rPr lang="en-US" sz="3200" dirty="0"/>
              <a:t/>
            </a:r>
          </a:p>
          <a:p>
            <a:pPr>
              <a:buNone/>
            </a:pPr>
            <a:r>
              <a:rPr lang="en-US" sz="3200" dirty="0"/>
              <a:t>Esta simplificación es más similar a</a:t>
            </a:r>
          </a:p>
          <a:p>
            <a:pPr>
              <a:buNone/>
            </a:pPr>
            <a:endParaRPr lang="en-US" sz="3200" dirty="0"/>
          </a:p>
          <a:p>
            <a:r>
              <a:rPr lang="en-US" sz="3200" b="1" dirty="0"/>
              <a:t>A.</a:t>
            </a:r>
            <a:r>
              <a:rPr lang="en-US" sz="3200" dirty="0"/>
              <a:t> Simulación de fuerza bruta</a:t>
            </a:r>
            <a:br>
              <a:rPr lang="en-US" sz="3200" dirty="0"/>
            </a:br>
            <a:r>
              <a:rPr lang="en-US" sz="3200" b="1" dirty="0"/>
              <a:t>B.</a:t>
            </a:r>
            <a:r>
              <a:rPr lang="en-US" sz="3200" dirty="0"/>
              <a:t> Aprendizaje profundo</a:t>
            </a:r>
            <a:br>
              <a:rPr lang="en-US" sz="3200" dirty="0"/>
            </a:br>
            <a:r>
              <a:rPr lang="en-US" sz="3200" b="1" dirty="0"/>
              <a:t>C.</a:t>
            </a:r>
            <a:r>
              <a:rPr lang="en-US" sz="3200" dirty="0"/>
              <a:t> Filtrado de renormalización</a:t>
            </a:r>
            <a:br>
              <a:rPr lang="en-US" sz="3200" dirty="0"/>
            </a:br>
            <a:r>
              <a:rPr lang="en-US" sz="3200" b="1" dirty="0"/>
              <a:t>D.</a:t>
            </a:r>
            <a:r>
              <a:rPr lang="en-US" sz="3200" dirty="0"/>
              <a:t> Propagación de creencias bayesiana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E53C30-8E4C-C433-4BE7-7678F465456A}"/>
              </a:ext>
            </a:extLst>
          </p:cNvPr>
          <p:cNvSpPr txBox="1"/>
          <p:nvPr/>
        </p:nvSpPr>
        <p:spPr>
          <a:xfrm>
            <a:off x="1808316" y="120766"/>
            <a:ext cx="770471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La RG filtra las contribuciones pequeñas a grandes escalas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180697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5F517-1ADD-4CD2-7767-F92AA7FCF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40715397-19F0-A972-E5D6-D5B2BD33B6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5835A74E-53B6-630D-F4E0-AB22FA4717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13B48ED4-306B-114E-7C80-2DA6BB33A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720E5CBC-9B6A-6A55-F026-5DABAF2B1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047843-D640-260C-74F3-173D820F2A99}"/>
              </a:ext>
            </a:extLst>
          </p:cNvPr>
          <p:cNvSpPr txBox="1"/>
          <p:nvPr/>
        </p:nvSpPr>
        <p:spPr>
          <a:xfrm>
            <a:off x="207818" y="1274564"/>
            <a:ext cx="1149366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Modelas a cada consumidor como un qubit</a:t>
            </a:r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sz="2800" b="1" dirty="0"/>
              <a:t>Con el tiempo, las preferencias del usuario cambian debido a la influencia de las recomendaciones (entrelazamiento con el estado del sistema). Aplicar la RG te ayuda a</a:t>
            </a:r>
          </a:p>
          <a:p>
            <a:r>
              <a:rPr lang="en-US" sz="2800" b="1" dirty="0"/>
              <a:t>A. Aumentar el entrelazamiento</a:t>
            </a:r>
            <a:br>
              <a:rPr lang="en-US" sz="2800" b="1" dirty="0"/>
            </a:br>
            <a:r>
              <a:rPr lang="en-US" sz="2800" b="1" dirty="0"/>
              <a:t>B. Colapsar el estado del usuario más rápido</a:t>
            </a:r>
            <a:br>
              <a:rPr lang="en-US" sz="2800" b="1" dirty="0"/>
            </a:br>
            <a:r>
              <a:rPr lang="en-US" sz="2800" b="1" dirty="0"/>
              <a:t>C. Rastrear solo las influencias dominantes como precio, emoción y tiempo</a:t>
            </a:r>
            <a:br>
              <a:rPr lang="en-US" sz="2800" b="1" dirty="0"/>
            </a:br>
            <a:r>
              <a:rPr lang="en-US" sz="2800" b="1" dirty="0"/>
              <a:t>D. Representar cada clic como una puerta cuántica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12119B-DAD0-87EA-DB2A-442965DE1B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834" y="1805788"/>
            <a:ext cx="3680106" cy="7869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D48423-A0F7-8A2C-879C-6D44FBBA518F}"/>
              </a:ext>
            </a:extLst>
          </p:cNvPr>
          <p:cNvSpPr txBox="1"/>
          <p:nvPr/>
        </p:nvSpPr>
        <p:spPr>
          <a:xfrm>
            <a:off x="1808315" y="120766"/>
            <a:ext cx="8909842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La RG filtra las contribuciones pequeñas a grandes escalas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958568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D54F74-9AEE-3B6B-4F53-4317285DB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60F03AD2-8A2D-D986-CB7D-9C4FF2B893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BEE54E4D-F0AD-502B-370B-838FF7F3B1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12C7CA2F-E526-1430-188E-2CF3E0134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8D6E7661-5843-1535-2A89-0194651D9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BE42E2-DDDB-6C3E-C41F-059C3B3F650F}"/>
              </a:ext>
            </a:extLst>
          </p:cNvPr>
          <p:cNvSpPr txBox="1"/>
          <p:nvPr/>
        </p:nvSpPr>
        <p:spPr>
          <a:xfrm>
            <a:off x="780307" y="1525774"/>
            <a:ext cx="1092169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Una IA de marketing rastrea 100 millones de clientes. Cada cliente tiene 1000 variables (clics, edad, ubicación, tiempo, etc.). Un modelo inspirado en la RG agrupa a los usuarios por patrones emergentes (por ejemplo, tiempo en página vs. conversión) y comprime el tamaño de entrada.</a:t>
            </a:r>
          </a:p>
          <a:p>
            <a:pPr>
              <a:buNone/>
            </a:pP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Este enfoque</a:t>
            </a:r>
          </a:p>
          <a:p>
            <a:pPr>
              <a:buNone/>
            </a:pPr>
            <a:endParaRPr lang="en-US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A.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Hace el modelo más lento pero más detallado</a:t>
            </a:r>
            <a:b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B.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Causa pérdida de información a nivel local</a:t>
            </a:r>
            <a:b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C.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Reduce el sobreajuste y mejora la generalización</a:t>
            </a:r>
            <a:b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D.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Aumenta el número de parámetros de entrenamiento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D1737E-7E55-DDC7-E1AB-A4F26EE80559}"/>
              </a:ext>
            </a:extLst>
          </p:cNvPr>
          <p:cNvSpPr txBox="1"/>
          <p:nvPr/>
        </p:nvSpPr>
        <p:spPr>
          <a:xfrm>
            <a:off x="1808316" y="120766"/>
            <a:ext cx="770471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La RG filtra las contribuciones pequeñas a grandes escalas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7421886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A0861-5001-16EC-14AB-90DD8E42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871EA76F-9DFF-E4BC-BD90-5F9C27266E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0C36C0E9-01F4-ACAD-14F0-0AEC51D245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AB65B11C-1A2D-5D99-50B6-0BB59C9ED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533FA951-A085-A255-5163-3F59E7BD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C5B8C24-A2BC-AAF3-2D03-348123353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573183"/>
            <a:ext cx="10590934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				Analogía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Imagina que estás construyendo un sistema de IA que tiene que observar cada detalle: cada píxel, cada variable, cada entrada de sensor. En algún momento, el sistema simplemente se ve abrumado. Necesitas una forma de alejar la vista, enfocarte en lo que realmente importa e ignorar el resto. Eso es exactamente lo que tuvieron que hacer los físicos en la década de 1940, cuando la teoría cuántica de campos empezó a dar respuestas infinitas. Inventaron algo radical: la renormalización, una forma de alejar la vista sin perder el significado. Hoy veremos cómo esa misma lógica puede ayudar a que la IA cuántica sea más inteligente, más rápida y más escalable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/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/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/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/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/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/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/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masis MT Pro Black" panose="02040A04050005020304" pitchFamily="18" charset="0"/>
            </a:endParaRP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065285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15CEC-23A0-16FA-E32E-BAAA5CA31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035">
            <a:extLst>
              <a:ext uri="{FF2B5EF4-FFF2-40B4-BE49-F238E27FC236}">
                <a16:creationId xmlns:a16="http://schemas.microsoft.com/office/drawing/2014/main" id="{6C0D61D5-5D75-B49F-0E6B-77E5C9FEFD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16" b="-3"/>
          <a:stretch>
            <a:fillRect/>
          </a:stretch>
        </p:blipFill>
        <p:spPr>
          <a:xfrm>
            <a:off x="20" y="10"/>
            <a:ext cx="6204384" cy="5114534"/>
          </a:xfrm>
          <a:custGeom>
            <a:avLst/>
            <a:gdLst/>
            <a:ahLst/>
            <a:cxnLst/>
            <a:rect l="l" t="t" r="r" b="b"/>
            <a:pathLst>
              <a:path w="6204404" h="5114544">
                <a:moveTo>
                  <a:pt x="5659431" y="0"/>
                </a:moveTo>
                <a:lnTo>
                  <a:pt x="6157098" y="0"/>
                </a:lnTo>
                <a:lnTo>
                  <a:pt x="6181355" y="190991"/>
                </a:lnTo>
                <a:cubicBezTo>
                  <a:pt x="6196596" y="341154"/>
                  <a:pt x="6204404" y="493515"/>
                  <a:pt x="6204404" y="647700"/>
                </a:cubicBezTo>
                <a:cubicBezTo>
                  <a:pt x="6204404" y="3114670"/>
                  <a:pt x="4205578" y="5114544"/>
                  <a:pt x="1739900" y="5114544"/>
                </a:cubicBezTo>
                <a:cubicBezTo>
                  <a:pt x="1123481" y="5114544"/>
                  <a:pt x="536240" y="4989552"/>
                  <a:pt x="2114" y="4763518"/>
                </a:cubicBezTo>
                <a:lnTo>
                  <a:pt x="0" y="4762561"/>
                </a:lnTo>
                <a:lnTo>
                  <a:pt x="0" y="4226363"/>
                </a:lnTo>
                <a:lnTo>
                  <a:pt x="15791" y="4234455"/>
                </a:lnTo>
                <a:cubicBezTo>
                  <a:pt x="537360" y="4485921"/>
                  <a:pt x="1122182" y="4626842"/>
                  <a:pt x="1739899" y="4626842"/>
                </a:cubicBezTo>
                <a:cubicBezTo>
                  <a:pt x="3936226" y="4626842"/>
                  <a:pt x="5716700" y="2845319"/>
                  <a:pt x="5716700" y="647700"/>
                </a:cubicBezTo>
                <a:cubicBezTo>
                  <a:pt x="5716700" y="510349"/>
                  <a:pt x="5709745" y="374623"/>
                  <a:pt x="5696169" y="240856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10B8CB-698B-6947-5DC8-4EF8DE04F836}"/>
              </a:ext>
            </a:extLst>
          </p:cNvPr>
          <p:cNvSpPr txBox="1"/>
          <p:nvPr/>
        </p:nvSpPr>
        <p:spPr>
          <a:xfrm>
            <a:off x="745399" y="1194943"/>
            <a:ext cx="4164011" cy="2611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dirty="0">
                <a:latin typeface="+mj-lt"/>
                <a:ea typeface="+mj-ea"/>
                <a:cs typeface="+mj-cs"/>
              </a:rPr>
              <a:t>Hay demasiada información, demasiado ruido, demasiado sucediendo, y se vuelve difícil o imposible encontrar lo que realmente importa.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9A9B41-63BE-F41A-A6C1-0F1EF96BE348}"/>
              </a:ext>
            </a:extLst>
          </p:cNvPr>
          <p:cNvSpPr txBox="1"/>
          <p:nvPr/>
        </p:nvSpPr>
        <p:spPr>
          <a:xfrm>
            <a:off x="2113538" y="4700044"/>
            <a:ext cx="304100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necesitamos atajos como la renormalización, la compresión, alejar la vista o el filtrado</a:t>
            </a:r>
            <a:r>
              <a:rPr lang="en-US" sz="2400" b="1" dirty="0"/>
              <a:t/>
            </a:r>
            <a:r>
              <a:rPr lang="en-US" sz="2400" dirty="0"/>
              <a:t/>
            </a:r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22BC8EF8-C3E6-8AE6-4D8B-8E87F91899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FA00C908-ABA0-E98E-4E56-AA51938341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A2150387-51E4-C4ED-9B7A-2573CD048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F7AC106D-5A0A-2661-7097-410791565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34" name="TextBox 6">
            <a:extLst>
              <a:ext uri="{FF2B5EF4-FFF2-40B4-BE49-F238E27FC236}">
                <a16:creationId xmlns:a16="http://schemas.microsoft.com/office/drawing/2014/main" id="{0001DD51-2AFE-2EEE-60AE-4C05425C06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2049788"/>
              </p:ext>
            </p:extLst>
          </p:nvPr>
        </p:nvGraphicFramePr>
        <p:xfrm>
          <a:off x="6381750" y="2119313"/>
          <a:ext cx="5329236" cy="405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421A055-B371-FD59-1590-B022508346C7}"/>
              </a:ext>
            </a:extLst>
          </p:cNvPr>
          <p:cNvSpPr txBox="1"/>
          <p:nvPr/>
        </p:nvSpPr>
        <p:spPr>
          <a:xfrm>
            <a:off x="5616916" y="135081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Analogía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11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1235607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5543BE-F2EF-6252-C615-083A95814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1AA9D6E7-89FA-A791-5D2E-5BAE81ACEF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17215482-6298-9FEA-79BF-1C00A7D491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8E67D59-6C5A-6BE1-D357-956C83801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AE5D60ED-B378-93E7-950E-DC609F7CE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10" name="Picture 2">
            <a:extLst>
              <a:ext uri="{FF2B5EF4-FFF2-40B4-BE49-F238E27FC236}">
                <a16:creationId xmlns:a16="http://schemas.microsoft.com/office/drawing/2014/main" id="{3DF6FC47-F571-E8D5-D0C9-E6BCC1561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071" y="681307"/>
            <a:ext cx="4778651" cy="301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F5390D-D0E8-0A1D-7AD2-02EEC1A82656}"/>
              </a:ext>
            </a:extLst>
          </p:cNvPr>
          <p:cNvSpPr txBox="1"/>
          <p:nvPr/>
        </p:nvSpPr>
        <p:spPr>
          <a:xfrm>
            <a:off x="389724" y="1824114"/>
            <a:ext cx="3092103" cy="1236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El templo tiene capas de complejidad, pero su idea central es simple. Del caos a la claridad.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A30C53-2F2E-2994-85B7-DDDB9714A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101" y="3797144"/>
            <a:ext cx="596091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Este plano geométrico muestra cómo se diseñaban los templos antiguos usando patrones simétricos y en capas.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mandala filtra el ruido y crea un espacio ordenado. Como un mapa que comprime la complejidad del templo en algo comprensible — esto es como la renormalización.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1B3FDE-2693-EB57-6D5C-5397A1C11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3083" y="3830616"/>
            <a:ext cx="468308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neuronal: los nodos de azul a naranja con conexiones imitan cómo la IA aprende patrones.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tensorial: una forma estructurada de reducir el tamaño de sistemas cuánticos complejos (usada en IA cuántica).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A6A815-497F-CFD5-27EC-B1FA335808A0}"/>
              </a:ext>
            </a:extLst>
          </p:cNvPr>
          <p:cNvSpPr txBox="1"/>
          <p:nvPr/>
        </p:nvSpPr>
        <p:spPr>
          <a:xfrm>
            <a:off x="5485392" y="5684112"/>
            <a:ext cx="40482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Estas redes también filtran, comprimen y alejan la vista, igual que el diseño del templo o la renormalización en física.</a:t>
            </a:r>
            <a:r>
              <a:rPr lang="en-US" b="1" dirty="0"/>
              <a:t/>
            </a:r>
            <a:r>
              <a:rPr lang="en-US" dirty="0"/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DADD6-2EDA-A916-8EF9-B7DAAE50EC6E}"/>
              </a:ext>
            </a:extLst>
          </p:cNvPr>
          <p:cNvSpPr txBox="1"/>
          <p:nvPr/>
        </p:nvSpPr>
        <p:spPr>
          <a:xfrm>
            <a:off x="4609618" y="20776"/>
            <a:ext cx="21731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Analogía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1698131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845224-A3F9-3BA9-A135-25C91CF08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996" name="Rectangle 41995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3B80E5-4F37-5E3A-2F22-31DD0A877213}"/>
              </a:ext>
            </a:extLst>
          </p:cNvPr>
          <p:cNvSpPr txBox="1"/>
          <p:nvPr/>
        </p:nvSpPr>
        <p:spPr>
          <a:xfrm>
            <a:off x="6739128" y="638089"/>
            <a:ext cx="4818888" cy="1476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54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Analogía</a:t>
            </a:r>
          </a:p>
        </p:txBody>
      </p:sp>
      <p:pic>
        <p:nvPicPr>
          <p:cNvPr id="41987" name="Picture 3" descr="Generated image">
            <a:extLst>
              <a:ext uri="{FF2B5EF4-FFF2-40B4-BE49-F238E27FC236}">
                <a16:creationId xmlns:a16="http://schemas.microsoft.com/office/drawing/2014/main" id="{DCA54547-8186-94A6-F6CC-3628C83EF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3144" y="1542775"/>
            <a:ext cx="6125990" cy="4089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97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52BAC3-DDCC-B399-1B04-2D33C7282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9128" y="2664886"/>
            <a:ext cx="4818888" cy="35507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Intentar conservar un bosque rastreando cada hoja es abrumador. Pero cuando alejas la vista, detectas patrones y te enfocas en las escalas correctas, proteges todo el sistema de forma inteligente, eficiente y significativa. Eso es la renormalización. En bosques, en física o en IA.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/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/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/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/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/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/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/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/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/>
            </a:r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B637FFAA-275C-7A37-65B7-818828269C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B475055-59CC-DB3A-F200-63050BF78C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54E729E6-C291-2241-636B-0F3617467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CEF63911-0B43-EBF2-A06F-30EFD0BEE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943134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3905F8-087D-6DAB-1459-6E40DFC27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72F0F224-1D1A-3B2D-3D88-B546143D2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AF56AEC7-E8B7-E919-072C-4FF957C752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83145A6A-6223-CCD4-692E-896CCFB28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B68A376F-3928-4C03-4A16-1D457484C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1EDE54-7790-81F5-E57A-FFFEB3E34E1C}"/>
              </a:ext>
            </a:extLst>
          </p:cNvPr>
          <p:cNvSpPr txBox="1"/>
          <p:nvPr/>
        </p:nvSpPr>
        <p:spPr>
          <a:xfrm>
            <a:off x="1044616" y="1059872"/>
            <a:ext cx="1073841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Un equipo de conservacionistas forestales está abrumado con datos de millones de árboles individuales, especies y sensores climáticos en una selva tropical densa. Para simplificar su análisis, adoptan una estrategia de "alejar la vista" que se enfoca en indicadores a gran escala como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Clasificación de zonas (húmeda/seca/borde),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Monitoreo de especies animales seleccionadas,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Métricas agregadas de absorción de CO₂.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¿Cuál de las siguientes opciones describe mejor el enfoque que están usando?</a:t>
            </a:r>
          </a:p>
          <a:p>
            <a:r>
              <a:rPr lang="en-US" sz="2400" b="1" dirty="0"/>
              <a:t>A. Modelado de regresión lineal</a:t>
            </a:r>
            <a:br>
              <a:rPr lang="en-US" sz="2400" b="1" dirty="0"/>
            </a:br>
            <a:r>
              <a:rPr lang="en-US" sz="2400" b="1" dirty="0"/>
              <a:t>B. Renormalización o reducción de dimensionalidad</a:t>
            </a:r>
            <a:br>
              <a:rPr lang="en-US" sz="2400" b="1" dirty="0"/>
            </a:br>
            <a:r>
              <a:rPr lang="en-US" sz="2400" b="1" dirty="0"/>
              <a:t>C. Amplificación profunda de características</a:t>
            </a:r>
            <a:br>
              <a:rPr lang="en-US" sz="2400" b="1" dirty="0"/>
            </a:br>
            <a:r>
              <a:rPr lang="en-US" sz="2400" b="1" dirty="0"/>
              <a:t>D. Agotamiento localizado de biodiversidad</a:t>
            </a:r>
            <a:br>
              <a:rPr lang="en-US" sz="2400" b="1" dirty="0"/>
            </a:br>
            <a:r>
              <a:rPr lang="en-US" sz="2400" b="1" dirty="0"/>
              <a:t>E. Muestreo aleatorio sin reemplazo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918632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FD7DD-2BE3-2B22-93DC-1B8B04004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6850F7F9-AFA3-355A-3C8F-1CC5360839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50393AF8-1671-A41D-0BBC-E1258E749F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8761F184-DE5C-B056-CEB2-B4D8A1DC2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4A24564-30E5-F083-9271-D4393DA4E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7CDD59-5654-E5C5-11B9-D1923A01B5AC}"/>
              </a:ext>
            </a:extLst>
          </p:cNvPr>
          <p:cNvSpPr txBox="1"/>
          <p:nvPr/>
        </p:nvSpPr>
        <p:spPr>
          <a:xfrm>
            <a:off x="396435" y="1335156"/>
            <a:ext cx="609407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Enfoque clásico de ciencia de datos</a:t>
            </a:r>
          </a:p>
          <a:p>
            <a:r>
              <a:rPr lang="en-US" sz="2400" dirty="0"/>
              <a:t> Usa todos los datos disponibles. Construye modelos grandes con cientos de variables. Intenta encontrar patrones a partir del conjunto de datos completo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9C91D-6401-53D2-1BF5-BE25F0796991}"/>
              </a:ext>
            </a:extLst>
          </p:cNvPr>
          <p:cNvSpPr txBox="1"/>
          <p:nvPr/>
        </p:nvSpPr>
        <p:spPr>
          <a:xfrm>
            <a:off x="5395167" y="3429000"/>
            <a:ext cx="609407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+mj-lt"/>
              </a:rPr>
              <a:t>Enfoque inspirado en la renormalización</a:t>
            </a:r>
          </a:p>
          <a:p>
            <a:r>
              <a:rPr lang="en-US" sz="2400" dirty="0">
                <a:latin typeface="+mj-lt"/>
              </a:rPr>
              <a:t> Inspirado en la física: descarta las fluctuaciones a pequeña escala, enfócate en el comportamiento efectivo. Enfatiza la escala, la jerarquía y los patrones emergentes. Usa solo las variables más relevantes en la escala correcta</a:t>
            </a:r>
            <a:r>
              <a:rPr lang="en-US" sz="2400" b="1" dirty="0">
                <a:latin typeface="+mj-lt"/>
              </a:rPr>
              <a:t/>
            </a:r>
            <a:br>
              <a:rPr lang="en-US" sz="2400" dirty="0">
                <a:latin typeface="+mj-lt"/>
              </a:rPr>
            </a:br>
            <a:r>
              <a:rPr lang="en-US" sz="2400" dirty="0">
                <a:latin typeface="+mj-lt"/>
              </a:rPr>
              <a:t/>
            </a:r>
            <a:r>
              <a:rPr lang="en-US" sz="2400" b="1" dirty="0">
                <a:latin typeface="+mj-lt"/>
              </a:rPr>
              <a:t/>
            </a:r>
            <a:r>
              <a:rPr lang="en-US" sz="2400" dirty="0">
                <a:latin typeface="+mj-lt"/>
              </a:rPr>
              <a:t/>
            </a:r>
            <a:r>
              <a:rPr lang="en-US" sz="2400" b="1" dirty="0">
                <a:latin typeface="+mj-lt"/>
              </a:rPr>
              <a:t/>
            </a:r>
            <a:br>
              <a:rPr lang="en-US" sz="2400" dirty="0">
                <a:latin typeface="+mj-lt"/>
              </a:rPr>
            </a:br>
            <a:r>
              <a:rPr lang="en-US" sz="2400" dirty="0">
                <a:latin typeface="+mj-lt"/>
              </a:rPr>
              <a:t/>
            </a:r>
            <a:r>
              <a:rPr lang="en-US" sz="2400" b="1" dirty="0">
                <a:latin typeface="+mj-lt"/>
              </a:rPr>
              <a:t/>
            </a:r>
            <a:r>
              <a:rPr lang="en-US" sz="2400" dirty="0">
                <a:latin typeface="+mj-lt"/>
              </a:rPr>
              <a:t/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5BE0BD-8EB0-ADFB-5F39-2C8385CBABA7}"/>
              </a:ext>
            </a:extLst>
          </p:cNvPr>
          <p:cNvSpPr txBox="1"/>
          <p:nvPr/>
        </p:nvSpPr>
        <p:spPr>
          <a:xfrm>
            <a:off x="4213185" y="358815"/>
            <a:ext cx="215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Diferencia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1072142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C398D-A6DB-6261-CFED-6965D8FDB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E6299742-DA00-5B6B-B657-2EF9F1CB81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A43FCBB6-2DE2-BC16-C089-967EE9ED86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2ACA6B38-38AC-BBE7-3A1B-7B431863C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789705BC-6A84-5378-FE58-D336F2121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029D03-FA34-3E9E-F52D-3DDDA1DEA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053262"/>
              </p:ext>
            </p:extLst>
          </p:nvPr>
        </p:nvGraphicFramePr>
        <p:xfrm>
          <a:off x="1018572" y="980624"/>
          <a:ext cx="10529963" cy="5107920"/>
        </p:xfrm>
        <a:graphic>
          <a:graphicData uri="http://schemas.openxmlformats.org/drawingml/2006/table">
            <a:tbl>
              <a:tblPr/>
              <a:tblGrid>
                <a:gridCol w="3451077">
                  <a:extLst>
                    <a:ext uri="{9D8B030D-6E8A-4147-A177-3AD203B41FA5}">
                      <a16:colId xmlns:a16="http://schemas.microsoft.com/office/drawing/2014/main" val="2472931081"/>
                    </a:ext>
                  </a:extLst>
                </a:gridCol>
                <a:gridCol w="3483210">
                  <a:extLst>
                    <a:ext uri="{9D8B030D-6E8A-4147-A177-3AD203B41FA5}">
                      <a16:colId xmlns:a16="http://schemas.microsoft.com/office/drawing/2014/main" val="2415245065"/>
                    </a:ext>
                  </a:extLst>
                </a:gridCol>
                <a:gridCol w="3595676">
                  <a:extLst>
                    <a:ext uri="{9D8B030D-6E8A-4147-A177-3AD203B41FA5}">
                      <a16:colId xmlns:a16="http://schemas.microsoft.com/office/drawing/2014/main" val="568615598"/>
                    </a:ext>
                  </a:extLst>
                </a:gridCol>
              </a:tblGrid>
              <a:tr h="838112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Problema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Enfoque clásico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Enfoque de renormalización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38370552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/>
                        <a:t>Maldición de la dimensionalidad</a:t>
                      </a:r>
                      <a:endParaRPr lang="en-US" sz="240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Necesita datos exponencialmente mayores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Funciona con menos variables, escaladas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90507677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/>
                        <a:t>Riesgo de sobreajuste</a:t>
                      </a:r>
                      <a:endParaRPr lang="en-US" sz="240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Alto (más características → más ajuste al ruido)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Bajo (solo queda la estructura central)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56238915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/>
                        <a:t>Complejidad del modelo</a:t>
                      </a:r>
                      <a:endParaRPr lang="en-US" sz="240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O(n²) u O(n³) en sistemas grandes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Modelos O(log n) o de tiempo constante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64509413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/>
                        <a:t>Entropía y teoría de la información</a:t>
                      </a:r>
                      <a:endParaRPr lang="en-US" sz="240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Alta entropía, baja relación señal-ruido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Menor entropía, mayor densidad de información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991111915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 dirty="0"/>
                        <a:t>Escalabilidad</a:t>
                      </a:r>
                      <a:endParaRPr lang="en-US" sz="2400" dirty="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Pobre — con cuellos de botella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Excelente — escalable a grandes bosques o campos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93704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3F4DD4B-ADD2-AEB4-93F2-356D798AF2A6}"/>
              </a:ext>
            </a:extLst>
          </p:cNvPr>
          <p:cNvSpPr txBox="1"/>
          <p:nvPr/>
        </p:nvSpPr>
        <p:spPr>
          <a:xfrm>
            <a:off x="4213185" y="358815"/>
            <a:ext cx="215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Diferencia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3204134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29593-07A6-D72D-DD1F-C4CB4770F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AC21D62E-4293-1F56-EF1B-2447FC1688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B288659E-A2F6-A0DD-CCC9-FC30225AC7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9D632F5-D1CE-5E13-97AB-1E739508A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9155A961-3977-D529-49D7-3E391FB2F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9C35C7-CC53-76A1-F5C5-959E5DC88481}"/>
              </a:ext>
            </a:extLst>
          </p:cNvPr>
          <p:cNvSpPr txBox="1"/>
          <p:nvPr/>
        </p:nvSpPr>
        <p:spPr>
          <a:xfrm>
            <a:off x="558479" y="1287213"/>
            <a:ext cx="112824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Matemáticamente, la renormalización actúa como el Análisis de Componentes Principales (PCA) o el filtrado de Fourier — proyectando los datos sobre los estados base que más importan</a:t>
            </a:r>
            <a:r>
              <a:rPr lang="en-US" sz="2800" b="1" dirty="0"/>
              <a:t/>
            </a:r>
            <a:r>
              <a:rPr lang="en-US" sz="2800" dirty="0"/>
              <a:t/>
            </a:r>
            <a:r>
              <a:rPr lang="en-US" sz="2800" b="1" dirty="0"/>
              <a:t/>
            </a:r>
            <a:r>
              <a:rPr lang="en-US" sz="2800" dirty="0"/>
              <a:t/>
            </a:r>
            <a:r>
              <a:rPr lang="en-US" sz="2800" b="1" dirty="0"/>
              <a:t/>
            </a:r>
            <a:endParaRPr lang="en-US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388C5B-171D-E38E-3DB9-C1ED5CE95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79" y="3376602"/>
            <a:ext cx="1128242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ML clásico: 100 variables → tamaño del modelo = O(100²) = 10,000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ML cuántico renormalizado se usan estados entrelazados, conservando solo la estructura tensorial de bajo rango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Enorme ahorro de cómputo + reducción de ruido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B67A5-901F-420E-EC0B-382B66E4F03F}"/>
              </a:ext>
            </a:extLst>
          </p:cNvPr>
          <p:cNvSpPr txBox="1"/>
          <p:nvPr/>
        </p:nvSpPr>
        <p:spPr>
          <a:xfrm>
            <a:off x="4213185" y="358815"/>
            <a:ext cx="215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Diferencia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17924438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36EF2-34E0-FBF1-1D37-D1BF0AC35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871" name="Rectangle 3687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0317B1-0627-5AD5-2D38-264507AB1186}"/>
              </a:ext>
            </a:extLst>
          </p:cNvPr>
          <p:cNvSpPr txBox="1"/>
          <p:nvPr/>
        </p:nvSpPr>
        <p:spPr>
          <a:xfrm>
            <a:off x="6412091" y="501651"/>
            <a:ext cx="4395340" cy="17162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Diferencia</a:t>
            </a:r>
          </a:p>
        </p:txBody>
      </p:sp>
      <p:sp>
        <p:nvSpPr>
          <p:cNvPr id="36873" name="Rectangle 3687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866" name="Picture 2" descr="Generated image">
            <a:extLst>
              <a:ext uri="{FF2B5EF4-FFF2-40B4-BE49-F238E27FC236}">
                <a16:creationId xmlns:a16="http://schemas.microsoft.com/office/drawing/2014/main" id="{965AA1DE-2AEC-037B-E9D8-59EB30347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0307" y="1059872"/>
            <a:ext cx="4993503" cy="477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B5300A-577B-914B-6AEC-4751B8F81AA8}"/>
              </a:ext>
            </a:extLst>
          </p:cNvPr>
          <p:cNvSpPr txBox="1"/>
          <p:nvPr/>
        </p:nvSpPr>
        <p:spPr>
          <a:xfrm>
            <a:off x="6065165" y="2217906"/>
            <a:ext cx="5385914" cy="371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alpha val="80000"/>
                  </a:schemeClr>
                </a:solidFill>
              </a:rPr>
              <a:t>La ciencia de datos clásica memoriza el ruido.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2800" b="1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800" b="1" dirty="0">
                <a:solidFill>
                  <a:schemeClr val="tx1">
                    <a:alpha val="80000"/>
                  </a:schemeClr>
                </a:solidFill>
              </a:rPr>
              <a:t>La renormalización encuentra la estructura, ahorrando millones de cálculos y conservando solo lo que realmente gobierna el sistema.</a:t>
            </a:r>
          </a:p>
        </p:txBody>
      </p:sp>
      <p:cxnSp>
        <p:nvCxnSpPr>
          <p:cNvPr id="36875" name="Straight Connector 3687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991530CF-BB85-0D3A-061E-12616BBFFF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5AC029F-2812-CCC2-CB7D-C674C7E757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0DD6E13E-195B-A7E9-D559-429EDF5B2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557274F9-0821-D58C-B48C-787757112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1448113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3EBB79-E82B-25DB-0F45-CAD7FDDA0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417A15EB-0923-9ABF-84E6-AECF2B74E3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A38DC41A-D5EF-0F70-1637-4A01D7BB98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39BBC27-C64B-4056-FFC8-524EB9F37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F509DC1-8D13-D317-37BA-A87CFBCE0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A4A0EB-69CC-AF0A-0E8C-6E8AFECF8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44908"/>
              </p:ext>
            </p:extLst>
          </p:nvPr>
        </p:nvGraphicFramePr>
        <p:xfrm>
          <a:off x="710478" y="1158059"/>
          <a:ext cx="10933255" cy="3847428"/>
        </p:xfrm>
        <a:graphic>
          <a:graphicData uri="http://schemas.openxmlformats.org/drawingml/2006/table">
            <a:tbl>
              <a:tblPr/>
              <a:tblGrid>
                <a:gridCol w="2186651">
                  <a:extLst>
                    <a:ext uri="{9D8B030D-6E8A-4147-A177-3AD203B41FA5}">
                      <a16:colId xmlns:a16="http://schemas.microsoft.com/office/drawing/2014/main" val="560666311"/>
                    </a:ext>
                  </a:extLst>
                </a:gridCol>
                <a:gridCol w="2186651">
                  <a:extLst>
                    <a:ext uri="{9D8B030D-6E8A-4147-A177-3AD203B41FA5}">
                      <a16:colId xmlns:a16="http://schemas.microsoft.com/office/drawing/2014/main" val="613470265"/>
                    </a:ext>
                  </a:extLst>
                </a:gridCol>
                <a:gridCol w="2186651">
                  <a:extLst>
                    <a:ext uri="{9D8B030D-6E8A-4147-A177-3AD203B41FA5}">
                      <a16:colId xmlns:a16="http://schemas.microsoft.com/office/drawing/2014/main" val="3583003475"/>
                    </a:ext>
                  </a:extLst>
                </a:gridCol>
                <a:gridCol w="2186651">
                  <a:extLst>
                    <a:ext uri="{9D8B030D-6E8A-4147-A177-3AD203B41FA5}">
                      <a16:colId xmlns:a16="http://schemas.microsoft.com/office/drawing/2014/main" val="1027761924"/>
                    </a:ext>
                  </a:extLst>
                </a:gridCol>
                <a:gridCol w="2186651">
                  <a:extLst>
                    <a:ext uri="{9D8B030D-6E8A-4147-A177-3AD203B41FA5}">
                      <a16:colId xmlns:a16="http://schemas.microsoft.com/office/drawing/2014/main" val="3003377033"/>
                    </a:ext>
                  </a:extLst>
                </a:gridCol>
              </a:tblGrid>
              <a:tr h="1282476">
                <a:tc>
                  <a:txBody>
                    <a:bodyPr/>
                    <a:lstStyle/>
                    <a:p>
                      <a:r>
                        <a:rPr lang="en-US" sz="2400"/>
                        <a:t>Método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¿Usa todas las variables?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¿Sobreajusta?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¿Generaliza?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Costo computacional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87638408"/>
                  </a:ext>
                </a:extLst>
              </a:tr>
              <a:tr h="1282476">
                <a:tc>
                  <a:txBody>
                    <a:bodyPr/>
                    <a:lstStyle/>
                    <a:p>
                      <a:r>
                        <a:rPr lang="en-US" sz="2400"/>
                        <a:t>Ciencia de datos clásica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Frecuentemente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Débil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🔺 O(n²) o peor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58926431"/>
                  </a:ext>
                </a:extLst>
              </a:tr>
              <a:tr h="1282476">
                <a:tc>
                  <a:txBody>
                    <a:bodyPr/>
                    <a:lstStyle/>
                    <a:p>
                      <a:r>
                        <a:rPr lang="en-US" sz="2400"/>
                        <a:t>Lógica de renormalización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No — filtra el ruido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Robusto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Fuerte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🔻 O(log n) o bajo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950081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A7D252E-7D4C-C8BB-E64C-59358633A3C8}"/>
              </a:ext>
            </a:extLst>
          </p:cNvPr>
          <p:cNvSpPr txBox="1"/>
          <p:nvPr/>
        </p:nvSpPr>
        <p:spPr>
          <a:xfrm>
            <a:off x="1843751" y="5207875"/>
            <a:ext cx="888598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Sistema sin procesar: 1000 variables → complejidad ~ O(1000²) = 1,000,000 de operaciones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Después de la renormalización: 3–5 variables efectivas → O(5²) = 25 operaciones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~compresión de 40,000× mientras se conserva la estructura gobernante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44C29-F705-55DD-0D32-F1E00AA5E5AF}"/>
              </a:ext>
            </a:extLst>
          </p:cNvPr>
          <p:cNvSpPr txBox="1"/>
          <p:nvPr/>
        </p:nvSpPr>
        <p:spPr>
          <a:xfrm>
            <a:off x="4213185" y="358815"/>
            <a:ext cx="215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Diferencia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9230092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443FD-E95C-125B-98F6-444C3E835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23246FEB-4230-1C1A-9170-5BC00FF8E1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061EB54D-8C6A-F1E6-43C2-BF077A903A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5300EE9-D184-B894-0A50-4AE8AB0B6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A92ABB8A-C761-0CF4-26D1-05D85DDC0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2C42A1-9E47-BB39-57E5-6ABEF730E215}"/>
              </a:ext>
            </a:extLst>
          </p:cNvPr>
          <p:cNvSpPr txBox="1"/>
          <p:nvPr/>
        </p:nvSpPr>
        <p:spPr>
          <a:xfrm>
            <a:off x="1626685" y="823671"/>
            <a:ext cx="85474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Supón que estás modelando la altura de los árboles en un bosque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457A0D-3F3B-4F43-CAC1-CA90E66A0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1774" y="2560997"/>
            <a:ext cx="7621041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Recolectas datos de 10,000 árboles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AlturaDelÁrbol depende de: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NutrientesDelSuelo (X₁)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LuzSolar (X₂)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Precipitación (X₃)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997 otras variables de sensores: X₄ a X₁₀₀₀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Solo X₁ a X₃ importan. El resto es ruido o irrelevante.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/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7371904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2ED22-1193-0A52-FF00-A29F5988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F477BDA-4F0B-7347-7C5B-7E94A8EAF0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8B45FEB3-0DD2-2182-8F3F-6E7D348535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551EDD31-4C8E-3104-23B2-D4E25B3FB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BDD2B61C-2494-7E90-4163-49DBDBFDD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F1A187-D415-1D52-7E00-9591C14D40D0}"/>
              </a:ext>
            </a:extLst>
          </p:cNvPr>
          <p:cNvSpPr txBox="1"/>
          <p:nvPr/>
        </p:nvSpPr>
        <p:spPr>
          <a:xfrm>
            <a:off x="491924" y="1567065"/>
            <a:ext cx="11208152" cy="3600986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u="sng" dirty="0">
                <a:latin typeface="+mj-lt"/>
              </a:rPr>
              <a:t>Enfoque clásico de ciencia de datos</a:t>
            </a:r>
          </a:p>
          <a:p>
            <a:pPr>
              <a:buNone/>
            </a:pPr>
            <a:endParaRPr lang="en-US" sz="32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err="1">
                <a:latin typeface="+mj-lt"/>
              </a:rPr>
              <a:t>AlturaDelÁrbol=f(X1,X2,...,X1000)+ϵ</a:t>
            </a:r>
            <a:r>
              <a:rPr lang="en-US" sz="3200" dirty="0">
                <a:latin typeface="+mj-lt"/>
              </a:rPr>
              <a:t/>
            </a:r>
            <a:r>
              <a:rPr lang="en-US" sz="3200" baseline="-25000" dirty="0">
                <a:latin typeface="+mj-lt"/>
              </a:rPr>
              <a:t/>
            </a:r>
            <a:r>
              <a:rPr lang="en-US" sz="3200" dirty="0">
                <a:latin typeface="+mj-lt"/>
              </a:rPr>
              <a:t/>
            </a:r>
            <a:r>
              <a:rPr lang="en-US" sz="3200" baseline="-25000" dirty="0">
                <a:latin typeface="+mj-lt"/>
              </a:rPr>
              <a:t/>
            </a:r>
            <a:r>
              <a:rPr lang="en-US" sz="3200" dirty="0">
                <a:latin typeface="+mj-lt"/>
              </a:rPr>
              <a:t/>
            </a:r>
            <a:r>
              <a:rPr lang="en-US" sz="3200" baseline="-25000" dirty="0"/>
              <a:t/>
            </a:r>
            <a:r>
              <a:rPr lang="en-US" sz="3200" dirty="0">
                <a:latin typeface="+mj-lt"/>
              </a:rPr>
              <a:t/>
            </a:r>
            <a:r>
              <a:rPr lang="el-GR" sz="3200" dirty="0">
                <a:latin typeface="+mj-lt"/>
              </a:rPr>
              <a:t/>
            </a:r>
            <a:endParaRPr lang="en-US" sz="32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El modelo intenta usar las 1000 características.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Puede ajustarse al ruido en X₄ a X₁₀₀₀.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Necesita entre O(n²) y O(n³) cálculos (donde n = características = 1000).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Sobreajusta. No logra generalizar.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446960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91283-96EF-F44D-5FDD-589034C4B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4D45A5D4-ED3B-D7F8-5C30-9E436C0C67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7BF45493-32B8-C2E7-F0DA-BBAC66BE8A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A170C37-2DA9-EE51-E69E-A666E2FC4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820F5D20-D40B-EC45-BFD2-10F973BC3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FA37EB-F0E1-0162-D013-A9BCDE7A9450}"/>
              </a:ext>
            </a:extLst>
          </p:cNvPr>
          <p:cNvSpPr txBox="1"/>
          <p:nvPr/>
        </p:nvSpPr>
        <p:spPr>
          <a:xfrm>
            <a:off x="1203767" y="1059872"/>
            <a:ext cx="10255170" cy="4339650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u="sng" dirty="0">
                <a:latin typeface="+mj-lt"/>
              </a:rPr>
              <a:t>Estrategia inspirada en la renormalización</a:t>
            </a:r>
          </a:p>
          <a:p>
            <a:pPr>
              <a:buNone/>
            </a:pPr>
            <a:r>
              <a:rPr lang="en-US" sz="2400" dirty="0">
                <a:latin typeface="+mj-lt"/>
              </a:rPr>
              <a:t>Paso 1: Alejar la vista / Reducir dimensiones</a:t>
            </a:r>
            <a:r>
              <a:rPr lang="en-US" sz="2400" b="1" dirty="0">
                <a:latin typeface="+mj-lt"/>
              </a:rPr>
              <a:t/>
            </a:r>
            <a:endParaRPr lang="en-US" sz="24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Usa PCA, Fourier o intuición física</a:t>
            </a:r>
            <a:r>
              <a:rPr lang="en-US" sz="2400" b="1" dirty="0">
                <a:latin typeface="+mj-lt"/>
              </a:rPr>
              <a:t/>
            </a:r>
            <a:r>
              <a:rPr lang="en-US" sz="2400" dirty="0">
                <a:latin typeface="+mj-lt"/>
              </a:rPr>
              <a:t/>
            </a:r>
            <a:r>
              <a:rPr lang="en-US" sz="2400" b="1" dirty="0">
                <a:latin typeface="+mj-lt"/>
              </a:rPr>
              <a:t/>
            </a:r>
            <a:r>
              <a:rPr lang="en-US" sz="2400" dirty="0">
                <a:latin typeface="+mj-lt"/>
              </a:rPr>
              <a:t/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Identifica solo 3 variables gobernantes: X₁, X₂, X₃.</a:t>
            </a:r>
            <a:r>
              <a:rPr lang="en-US" sz="2400" b="1" dirty="0">
                <a:latin typeface="+mj-lt"/>
              </a:rPr>
              <a:t/>
            </a:r>
            <a:r>
              <a:rPr lang="en-US" sz="2400" dirty="0">
                <a:latin typeface="+mj-lt"/>
              </a:rPr>
              <a:t/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O combínalas en 1–2 variables efectivas:</a:t>
            </a:r>
            <a:r>
              <a:rPr lang="en-US" sz="2400" b="1" dirty="0">
                <a:latin typeface="+mj-lt"/>
              </a:rPr>
              <a:t/>
            </a:r>
            <a:r>
              <a:rPr lang="en-US" sz="2400" dirty="0">
                <a:latin typeface="+mj-lt"/>
              </a:rPr>
              <a:t/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Z1=0.5X1+0.3X2+0.2X3 </a:t>
            </a:r>
          </a:p>
          <a:p>
            <a:pPr>
              <a:buNone/>
            </a:pPr>
            <a:r>
              <a:rPr lang="en-US" sz="2400" dirty="0">
                <a:latin typeface="+mj-lt"/>
              </a:rPr>
              <a:t>Paso 2: Modela solo el comportamiento efectivo:</a:t>
            </a:r>
            <a:r>
              <a:rPr lang="en-US" sz="2400" b="1" dirty="0">
                <a:latin typeface="+mj-lt"/>
              </a:rPr>
              <a:t/>
            </a:r>
            <a:r>
              <a:rPr lang="en-US" sz="2400" dirty="0">
                <a:latin typeface="+mj-lt"/>
              </a:rPr>
              <a:t/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+mj-lt"/>
              </a:rPr>
              <a:t>AlturaDelÁrbol≈g(Z1 ) </a:t>
            </a:r>
            <a:r>
              <a:rPr lang="en-US" sz="2400" dirty="0">
                <a:latin typeface="+mj-lt"/>
              </a:rPr>
              <a:t/>
            </a:r>
            <a:r>
              <a:rPr lang="en-US" sz="2400" dirty="0"/>
              <a:t/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cálculo: O(3²) = 9 ops vs. O(1000²) = 1,000,000+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Sin sobreajuste.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Mejor generalización entre zonas y regiones.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36952616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EBDDBC-84C1-0A87-421B-7D31DF0DE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62A0B7AF-167B-912F-43E6-E02713C483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105669FF-2F3D-4442-7286-6CBB36C299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64D0E9E-D465-009E-D450-9B43B579A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38E46EE0-2463-1F74-3393-45D06DAEC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5B8CD3-8F57-BACE-ED3E-5A5EC293CA05}"/>
              </a:ext>
            </a:extLst>
          </p:cNvPr>
          <p:cNvSpPr txBox="1"/>
          <p:nvPr/>
        </p:nvSpPr>
        <p:spPr>
          <a:xfrm>
            <a:off x="1451203" y="93519"/>
            <a:ext cx="982253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u="sng" dirty="0">
                <a:latin typeface="+mj-lt"/>
              </a:rPr>
              <a:t>Por qué lo clásico memoriza el ruido</a:t>
            </a:r>
          </a:p>
          <a:p>
            <a:pPr algn="ctr">
              <a:buNone/>
            </a:pPr>
            <a:endParaRPr lang="en-US" sz="3600" b="1" u="sng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El ML clásico trata todas las dimensiones de entrada por igual.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Si muchas son irrelevantes o están débilmente correlacionadas, aun así construye superficies de decisión complejas usándolas.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Esto "se ajusta a los datos de entrenamiento" pero aprende patrones que no generalizan — es decir, memoriza el ruido.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46E049-4390-CB8F-D969-5F6CE680D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203" y="3210186"/>
            <a:ext cx="1033619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Por qué la renormalización encuentra estructura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Asume que la naturaleza funciona en diferentes escalas.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 lugar de cada detalle, pregunta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¿Qué combinación de entradas controla realmente el sistema?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Proyecta los datos sobre subespacios significativos de baja dimensión (como en: PCA (filtrado de autovalores), flujo de RG (colapso de escala), redes tensoriales (aproximaciones de bajo rango)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4913969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B45B0-949D-755E-DD7D-2B19CC3A0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23017023-395C-1767-D8EB-489F7FDA56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35E1ADA6-72B8-05D8-0877-E834D808CE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81DDF657-5E84-B244-FACA-4F5D2353D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C395DD70-74CC-2055-97DA-17F129068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F58041-2E52-7B02-E873-88C26A9134C0}"/>
              </a:ext>
            </a:extLst>
          </p:cNvPr>
          <p:cNvSpPr txBox="1"/>
          <p:nvPr/>
        </p:nvSpPr>
        <p:spPr>
          <a:xfrm>
            <a:off x="1285875" y="1059872"/>
            <a:ext cx="1046061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Un sistema de aprendizaje automático usa originalmente 1000 variables de entrada, resultando en una complejidad de O(1000^2)). Después de aplicar una reducción inspirada en la renormalización, el sistema ahora usa solo 5 variables efectivas.</a:t>
            </a:r>
          </a:p>
          <a:p>
            <a:pPr>
              <a:buNone/>
            </a:pPr>
            <a:r>
              <a:rPr lang="en-US" sz="2800" dirty="0"/>
              <a:t>¿Cuál es la reducción porcentual aproximada en el número de operaciones?</a:t>
            </a:r>
            <a:r>
              <a:rPr lang="en-US" sz="2800" b="1" dirty="0"/>
              <a:t/>
            </a:r>
            <a:r>
              <a:rPr lang="en-US" sz="2800" dirty="0"/>
              <a:t/>
            </a:r>
          </a:p>
          <a:p>
            <a:r>
              <a:rPr lang="en-US" sz="2800" b="1" dirty="0"/>
              <a:t>A.</a:t>
            </a:r>
            <a:r>
              <a:rPr lang="en-US" sz="2800" dirty="0"/>
              <a:t> 50%</a:t>
            </a:r>
            <a:br>
              <a:rPr lang="en-US" sz="2800" dirty="0"/>
            </a:br>
            <a:r>
              <a:rPr lang="en-US" sz="2800" b="1" dirty="0"/>
              <a:t>B.</a:t>
            </a:r>
            <a:r>
              <a:rPr lang="en-US" sz="2800" dirty="0"/>
              <a:t> 90%</a:t>
            </a:r>
            <a:br>
              <a:rPr lang="en-US" sz="2800" dirty="0"/>
            </a:br>
            <a:r>
              <a:rPr lang="en-US" sz="2800" b="1" dirty="0"/>
              <a:t>C.</a:t>
            </a:r>
            <a:r>
              <a:rPr lang="en-US" sz="2800" dirty="0"/>
              <a:t> 99.5%</a:t>
            </a:r>
            <a:br>
              <a:rPr lang="en-US" sz="2800" dirty="0"/>
            </a:br>
            <a:r>
              <a:rPr lang="en-US" sz="2800" b="1" dirty="0"/>
              <a:t>D.</a:t>
            </a:r>
            <a:r>
              <a:rPr lang="en-US" sz="2800" dirty="0"/>
              <a:t> 99.9975%</a:t>
            </a:r>
            <a:br>
              <a:rPr lang="en-US" sz="2800" dirty="0"/>
            </a:br>
            <a:r>
              <a:rPr lang="en-US" sz="2800" b="1" dirty="0"/>
              <a:t>E.</a:t>
            </a:r>
            <a:r>
              <a:rPr lang="en-US" sz="2800" dirty="0"/>
              <a:t> 100%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7D1B56-FA79-0CE9-2FCC-38171A88C7ED}"/>
              </a:ext>
            </a:extLst>
          </p:cNvPr>
          <p:cNvSpPr txBox="1"/>
          <p:nvPr/>
        </p:nvSpPr>
        <p:spPr>
          <a:xfrm>
            <a:off x="4054034" y="228145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/>
              <a:t>Reducción porcentual</a:t>
            </a:r>
            <a:endParaRPr lang="en-US" sz="4000" u="sng" dirty="0"/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4522146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17F0A-3E7A-0139-DFF3-689F9C65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84136580-2CF2-6D54-DD8F-0DB5A625E9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7D4CA298-027F-FE4E-F363-3A00B4855F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4F4CCC09-0FDE-0541-B196-8C3B6FFEC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786D7EA0-DD1C-1A80-98C0-B9108CD87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43A9FE-682E-5F12-8EE5-3C4B592BA2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9513" y="1927946"/>
            <a:ext cx="7780506" cy="2412560"/>
          </a:xfrm>
          <a:prstGeom prst="rect">
            <a:avLst/>
          </a:prstGeom>
        </p:spPr>
      </p:pic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14295195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A6FB4-5597-0174-2DF2-8ABF09E6E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B57C73FD-B49B-5DAB-AEF3-A5421D155B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E52BCBC9-7279-0B95-AF71-3167D7DF25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D284C498-1CE4-04A9-E012-FAE0FEB0F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EB878563-B717-D3FB-FC4F-E569F5AC8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49FF62-49A6-A8E0-A4CF-D40C02DC622F}"/>
              </a:ext>
            </a:extLst>
          </p:cNvPr>
          <p:cNvSpPr txBox="1"/>
          <p:nvPr/>
        </p:nvSpPr>
        <p:spPr>
          <a:xfrm>
            <a:off x="558873" y="1228005"/>
            <a:ext cx="1149804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u="sng" dirty="0"/>
              <a:t>Razonamiento analítico</a:t>
            </a:r>
          </a:p>
          <a:p>
            <a:pPr>
              <a:buNone/>
            </a:pPr>
            <a:r>
              <a:rPr lang="en-US" sz="2400" dirty="0"/>
              <a:t>Investigadores que estudian una selva tropical recolectan miles de variables de sensores y rastreadores de especies. Sin embargo, descubren que la altura de los árboles puede predecirse eficazmente usando solo tres variables agregadas: precipitación, luz solar y nutrientes del suelo. ¿Cuál de las siguientes opciones explica mejor su decisión de modelado?</a:t>
            </a:r>
          </a:p>
          <a:p>
            <a:pPr>
              <a:buNone/>
            </a:pPr>
            <a:endParaRPr lang="en-US" sz="2400" dirty="0"/>
          </a:p>
          <a:p>
            <a:r>
              <a:rPr lang="en-US" sz="2400" dirty="0"/>
              <a:t> A. Están evitando el sobreajuste aplicando dropout</a:t>
            </a:r>
            <a:br>
              <a:rPr lang="en-US" sz="2400" dirty="0"/>
            </a:br>
            <a:r>
              <a:rPr lang="en-US" sz="2400" b="1" dirty="0"/>
              <a:t>B.</a:t>
            </a:r>
            <a:r>
              <a:rPr lang="en-US" sz="2400" dirty="0"/>
              <a:t> Están usando agrupamiento k-means para reducir el tamaño de la muestra</a:t>
            </a:r>
            <a:br>
              <a:rPr lang="en-US" sz="2400" dirty="0"/>
            </a:br>
            <a:r>
              <a:rPr lang="en-US" sz="2400" b="1" dirty="0"/>
              <a:t>C.</a:t>
            </a:r>
            <a:r>
              <a:rPr lang="en-US" sz="2400" dirty="0"/>
              <a:t> Están aplicando renormalización para extraer la estructura efectiva</a:t>
            </a:r>
            <a:br>
              <a:rPr lang="en-US" sz="2400" dirty="0"/>
            </a:br>
            <a:r>
              <a:rPr lang="en-US" sz="2400" b="1" dirty="0"/>
              <a:t>D.</a:t>
            </a:r>
            <a:r>
              <a:rPr lang="en-US" sz="2400" dirty="0"/>
              <a:t> Están eliminando el sesgo usando regularización L1</a:t>
            </a:r>
            <a:br>
              <a:rPr lang="en-US" sz="2400" dirty="0"/>
            </a:br>
            <a:r>
              <a:rPr lang="en-US" sz="2400" b="1" dirty="0"/>
              <a:t>E.</a:t>
            </a:r>
            <a:r>
              <a:rPr lang="en-US" sz="2400" dirty="0"/>
              <a:t> Están mejorando la interpretabilidad usando bosques aleatorios</a:t>
            </a:r>
          </a:p>
          <a:p>
            <a:pPr marL="342900" indent="-342900">
              <a:buAutoNum type="alphaUcPeriod"/>
            </a:pPr>
            <a:endParaRPr lang="en-US" sz="2400" dirty="0"/>
          </a:p>
          <a:p>
            <a:r>
              <a:rPr lang="en-US" sz="2400" b="1" dirty="0"/>
              <a:t>Están aplicando renormalización para extraer la estructura efectiva</a:t>
            </a:r>
            <a:endParaRPr lang="en-US" sz="2400" dirty="0"/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10872835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36A453-A652-E0BF-3846-9CC835994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991E287D-6136-0FFE-7781-5F2FC97267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F729EA8C-4C90-4202-1D32-A1B4048EBD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94A88A0-C3E6-685E-C9F3-F97655DCE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1DA02A32-3BDA-E345-E520-66EEFC024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4D8F5E-4463-7382-72B0-89DF926BD132}"/>
              </a:ext>
            </a:extLst>
          </p:cNvPr>
          <p:cNvSpPr txBox="1"/>
          <p:nvPr/>
        </p:nvSpPr>
        <p:spPr>
          <a:xfrm>
            <a:off x="851704" y="1144603"/>
            <a:ext cx="11340296" cy="4893647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u="sng" dirty="0"/>
              <a:t>Razonamiento matemático</a:t>
            </a:r>
          </a:p>
          <a:p>
            <a:pPr>
              <a:buNone/>
            </a:pPr>
            <a:r>
              <a:rPr lang="en-US" sz="2800" dirty="0"/>
              <a:t>Sea el costo computacional de un modelo proporcional al cuadrado del número de variables usadas: Costo=O(n2)</a:t>
            </a:r>
          </a:p>
          <a:p>
            <a:pPr>
              <a:buNone/>
            </a:pPr>
            <a:r>
              <a:rPr lang="en-US" sz="2800" dirty="0"/>
              <a:t>¿Cuál de las siguientes reducciones de variables reduciría el costo computacional en un factor mayor a 10,000?</a:t>
            </a:r>
            <a:r>
              <a:rPr lang="en-US" sz="2800" b="1" dirty="0"/>
              <a:t/>
            </a:r>
            <a:r>
              <a:rPr lang="en-US" sz="2800" dirty="0"/>
              <a:t/>
            </a:r>
          </a:p>
          <a:p>
            <a:pPr>
              <a:buNone/>
            </a:pPr>
            <a:endParaRPr lang="en-US" sz="2800" dirty="0"/>
          </a:p>
          <a:p>
            <a:r>
              <a:rPr lang="en-US" sz="2800" b="1" dirty="0"/>
              <a:t>A.</a:t>
            </a:r>
            <a:r>
              <a:rPr lang="en-US" sz="2800" dirty="0"/>
              <a:t> De 500 a 100 variables</a:t>
            </a:r>
            <a:br>
              <a:rPr lang="en-US" sz="2800" dirty="0"/>
            </a:br>
            <a:r>
              <a:rPr lang="en-US" sz="2800" b="1" dirty="0"/>
              <a:t>B.</a:t>
            </a:r>
            <a:r>
              <a:rPr lang="en-US" sz="2800" dirty="0"/>
              <a:t> De 1000 a 50 variables</a:t>
            </a:r>
            <a:br>
              <a:rPr lang="en-US" sz="2800" dirty="0"/>
            </a:br>
            <a:r>
              <a:rPr lang="en-US" sz="2800" b="1" dirty="0"/>
              <a:t>C.</a:t>
            </a:r>
            <a:r>
              <a:rPr lang="en-US" sz="2800" dirty="0"/>
              <a:t> De 1000 a 10 variables</a:t>
            </a:r>
            <a:br>
              <a:rPr lang="en-US" sz="2800" dirty="0"/>
            </a:br>
            <a:r>
              <a:rPr lang="en-US" sz="2800" b="1" dirty="0"/>
              <a:t>D.</a:t>
            </a:r>
            <a:r>
              <a:rPr lang="en-US" sz="2800" dirty="0"/>
              <a:t> De 1000 a 5 variables</a:t>
            </a:r>
            <a:br>
              <a:rPr lang="en-US" sz="2800" dirty="0"/>
            </a:br>
            <a:r>
              <a:rPr lang="en-US" sz="2800" b="1" dirty="0"/>
              <a:t>E.</a:t>
            </a:r>
            <a:r>
              <a:rPr lang="en-US" sz="2800" dirty="0"/>
              <a:t> De 200 a 20 variables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9390381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F65FDA-093B-98CD-0BAE-6C867330C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817A6DE1-32BE-026F-B7C4-14927D58E8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D7076E88-0EDA-0BE1-7045-AC5BD9E4C7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DE731F94-B7EA-B077-6771-5252B8159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F4C6135-446E-CEF6-4EE1-C40587B87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A60186-4582-2502-64B3-1FC01F59B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1893" y="1935740"/>
            <a:ext cx="7219164" cy="1597432"/>
          </a:xfrm>
          <a:prstGeom prst="rect">
            <a:avLst/>
          </a:prstGeom>
        </p:spPr>
      </p:pic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19773644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F68EE-E406-943B-5A9F-A488D3EE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9ECC7B2D-2B32-32D1-1F4F-B736AB7CE8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E3C19D9E-EBC5-47A1-D1DF-1EABB9901B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4F7D2782-CA2A-C70E-A3C1-004077D1C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36292C67-156E-6C0D-C1B0-F228ECC0A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E8B013-4570-0885-95FA-AFD488949B8E}"/>
              </a:ext>
            </a:extLst>
          </p:cNvPr>
          <p:cNvSpPr txBox="1"/>
          <p:nvPr/>
        </p:nvSpPr>
        <p:spPr>
          <a:xfrm>
            <a:off x="1530753" y="135081"/>
            <a:ext cx="90832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Ingeniería computacional — Simulación de calor en un material complejo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530D03-E0F4-20D5-7626-A8522EFD9CA2}"/>
              </a:ext>
            </a:extLst>
          </p:cNvPr>
          <p:cNvSpPr txBox="1"/>
          <p:nvPr/>
        </p:nvSpPr>
        <p:spPr>
          <a:xfrm>
            <a:off x="423884" y="1508361"/>
            <a:ext cx="109071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Un ingeniero simula la difusión de calor en un material compuesto con 1000×1000 puntos de malla = 1 millón de nodos. Cada nodo tiene 10 propiedades (temperatura, conductividad, presión, etc.) Ecuación gobernante (por ejemplo, el Método de Elementos Finitos)</a:t>
            </a:r>
            <a:r>
              <a:rPr lang="en-US" sz="2400" b="1" dirty="0"/>
              <a:t/>
            </a:r>
            <a:r>
              <a:rPr lang="en-US" sz="2400" dirty="0"/>
              <a:t/>
            </a:r>
            <a:r>
              <a:rPr lang="en-US" sz="2400" b="1" dirty="0"/>
              <a:t/>
            </a:r>
            <a:r>
              <a:rPr lang="en-US" sz="2400" dirty="0"/>
              <a:t/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FE393A-BC57-1240-266D-EDD6ED8FC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2322" y="2673321"/>
            <a:ext cx="2784615" cy="10464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964437-71DD-8FDF-63F7-41935DA5CF50}"/>
              </a:ext>
            </a:extLst>
          </p:cNvPr>
          <p:cNvSpPr txBox="1"/>
          <p:nvPr/>
        </p:nvSpPr>
        <p:spPr>
          <a:xfrm>
            <a:off x="1796972" y="3779979"/>
            <a:ext cx="93031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Intenta simular cada nodo y cada variable</a:t>
            </a:r>
            <a:r>
              <a:rPr lang="en-US" sz="2400" b="1" dirty="0"/>
              <a:t/>
            </a:r>
            <a:r>
              <a:rPr lang="en-US" sz="2400" dirty="0"/>
              <a:t/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La complejidad crece como O(n^2) o peor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Requiere un clúster de computación de alto rendimiento (HPC)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❌ Costoso, lento y difícil de interpretar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31391436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9B239F-F2B7-5838-7AEA-DB5E4AED0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D0E5ABC6-23E4-F75F-2A9D-441F60451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56C499DE-BFC0-7A4F-74A8-AA32A90528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4A3E25DE-CE4F-4A4C-488B-3A26DA56B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5C105E9A-1214-8736-3DA0-C19C34F55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D9DCF7-92BD-2448-C956-5146318412DA}"/>
              </a:ext>
            </a:extLst>
          </p:cNvPr>
          <p:cNvSpPr txBox="1"/>
          <p:nvPr/>
        </p:nvSpPr>
        <p:spPr>
          <a:xfrm>
            <a:off x="1762246" y="843981"/>
            <a:ext cx="86618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Ingeniería inspirada en la renormalización</a:t>
            </a:r>
          </a:p>
          <a:p>
            <a:pPr>
              <a:buNone/>
            </a:pPr>
            <a:r>
              <a:rPr lang="en-US" sz="2000" dirty="0"/>
              <a:t>En lugar de simular todos los nodos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Agrupa regiones con comportamiento similar (coarse graining)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Rastrea macrozonas con gradientes de temperatura similares</a:t>
            </a:r>
            <a:r>
              <a:rPr lang="en-US" sz="2000" b="1" dirty="0"/>
              <a:t/>
            </a:r>
            <a:r>
              <a:rPr lang="en-US" sz="2000" dirty="0"/>
              <a:t/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Extrae la conductividad efectiva keff y el flujo de calor macro Qeff</a:t>
            </a:r>
            <a:r>
              <a:rPr lang="en-US" sz="2000" b="1" dirty="0"/>
              <a:t/>
            </a:r>
            <a:r>
              <a:rPr lang="en-US" sz="2000" dirty="0"/>
              <a:t/>
            </a:r>
            <a:r>
              <a:rPr lang="en-US" sz="2000" dirty="0" err="1"/>
              <a:t/>
            </a:r>
            <a:r>
              <a:rPr lang="en-US" sz="2000" dirty="0"/>
              <a:t/>
            </a:r>
            <a:r>
              <a:rPr lang="en-US" sz="2000" dirty="0" err="1"/>
              <a:t/>
            </a:r>
            <a:endParaRPr lang="en-US" sz="2000" dirty="0"/>
          </a:p>
          <a:p>
            <a:r>
              <a:rPr lang="en-US" sz="2000" dirty="0"/>
              <a:t>Usa modelado multiescala u homogeneización</a:t>
            </a:r>
            <a:r>
              <a:rPr lang="en-US" sz="2000" b="1" dirty="0"/>
              <a:t/>
            </a:r>
            <a:r>
              <a:rPr lang="en-US" sz="2000" dirty="0"/>
              <a:t/>
            </a:r>
            <a:r>
              <a:rPr lang="en-US" sz="2000" b="1" dirty="0"/>
              <a:t/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495037-BF65-65E9-7F30-8832B42F9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5219" y="3429000"/>
            <a:ext cx="3733129" cy="9376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61B303-3F1D-C2FC-E76C-FE45001DF590}"/>
              </a:ext>
            </a:extLst>
          </p:cNvPr>
          <p:cNvSpPr txBox="1"/>
          <p:nvPr/>
        </p:nvSpPr>
        <p:spPr>
          <a:xfrm>
            <a:off x="1762245" y="4629024"/>
            <a:ext cx="85160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Malla gruesa de 10×10 en lugar de 1000×1000. Conserva el comportamiento clave. El costo de simulación baja de O(10^6) a O(10^2)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387445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CD7A0-0E2A-DF60-EB86-20D03ED3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4DD665B8-C1E8-C264-65BD-0580DE19A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7C0D1CE8-F4D0-59F4-B1AD-24FB89C41E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F1AE9F68-DA64-E0CD-30CE-44520F5E7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98446343-E361-23B6-985C-D055BFD6D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AC6F0D-2DBA-C986-4981-D0C10A3AE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382556"/>
              </p:ext>
            </p:extLst>
          </p:nvPr>
        </p:nvGraphicFramePr>
        <p:xfrm>
          <a:off x="643467" y="1200170"/>
          <a:ext cx="10905067" cy="4457660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65000"/>
                    <a:lumOff val="35000"/>
                  </a:schemeClr>
                </a:solidFill>
              </a:tblPr>
              <a:tblGrid>
                <a:gridCol w="3720348">
                  <a:extLst>
                    <a:ext uri="{9D8B030D-6E8A-4147-A177-3AD203B41FA5}">
                      <a16:colId xmlns:a16="http://schemas.microsoft.com/office/drawing/2014/main" val="2496350265"/>
                    </a:ext>
                  </a:extLst>
                </a:gridCol>
                <a:gridCol w="3410617">
                  <a:extLst>
                    <a:ext uri="{9D8B030D-6E8A-4147-A177-3AD203B41FA5}">
                      <a16:colId xmlns:a16="http://schemas.microsoft.com/office/drawing/2014/main" val="3227090366"/>
                    </a:ext>
                  </a:extLst>
                </a:gridCol>
                <a:gridCol w="3774102">
                  <a:extLst>
                    <a:ext uri="{9D8B030D-6E8A-4147-A177-3AD203B41FA5}">
                      <a16:colId xmlns:a16="http://schemas.microsoft.com/office/drawing/2014/main" val="2565668525"/>
                    </a:ext>
                  </a:extLst>
                </a:gridCol>
              </a:tblGrid>
              <a:tr h="1091070">
                <a:tc>
                  <a:txBody>
                    <a:bodyPr/>
                    <a:lstStyle/>
                    <a:p>
                      <a:r>
                        <a:rPr lang="en-US" sz="1900" b="1" cap="all" spc="60">
                          <a:solidFill>
                            <a:schemeClr val="tx1"/>
                          </a:solidFill>
                        </a:rPr>
                        <a:t>Característica</a:t>
                      </a:r>
                    </a:p>
                  </a:txBody>
                  <a:tcPr marL="221163" marR="221163" marT="221163" marB="22116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cap="all" spc="60">
                          <a:solidFill>
                            <a:schemeClr val="tx1"/>
                          </a:solidFill>
                        </a:rPr>
                        <a:t>FEM/CFD clásico</a:t>
                      </a:r>
                    </a:p>
                  </a:txBody>
                  <a:tcPr marL="221163" marR="221163" marT="221163" marB="22116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cap="all" spc="60">
                          <a:solidFill>
                            <a:schemeClr val="tx1"/>
                          </a:solidFill>
                        </a:rPr>
                        <a:t>Inspirado en la renormalización</a:t>
                      </a:r>
                    </a:p>
                  </a:txBody>
                  <a:tcPr marL="221163" marR="221163" marT="221163" marB="22116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016034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Nodos simulados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1,000,000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100–200 macro-nodos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63156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Complejidad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O(n²)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600" cap="none" spc="0">
                          <a:solidFill>
                            <a:schemeClr val="bg1"/>
                          </a:solidFill>
                        </a:rPr>
                        <a:t>O(k²), donde k ≪ n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66280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Tiempo de solución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Horas o días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Minutos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083050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Comportamiento interpretable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Difícil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 Leyes macro claras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63245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Adaptabilidad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 Pobre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 Lista para multiescala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26382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E9C0C02-E94C-76A7-4F08-085A07ADFEA0}"/>
              </a:ext>
            </a:extLst>
          </p:cNvPr>
          <p:cNvSpPr txBox="1"/>
          <p:nvPr/>
        </p:nvSpPr>
        <p:spPr>
          <a:xfrm>
            <a:off x="1770926" y="690540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Ingeniería basada en renormalización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10916078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A2788-E7A9-53B8-F071-CB6E3F855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D5E2BAF4-132E-DD5B-AA33-52C37702F4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3B50B51-CF6B-E72E-4B86-7C3AC41427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gradFill>
            <a:gsLst>
              <a:gs pos="33566">
                <a:schemeClr val="accent4">
                  <a:lumMod val="45000"/>
                  <a:lumOff val="5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CA8DABFD-1929-153B-E97D-A20B34FF3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44CFBD81-0BF4-BA95-C35A-995000E70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3199FE-0C7A-8C3A-97D1-D5C5ABF1E2D4}"/>
              </a:ext>
            </a:extLst>
          </p:cNvPr>
          <p:cNvSpPr txBox="1"/>
          <p:nvPr/>
        </p:nvSpPr>
        <p:spPr>
          <a:xfrm>
            <a:off x="535329" y="1607590"/>
            <a:ext cx="1086573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Un ingeniero modela el flujo de calor en una gran estructura mecánica usando 1 millón de nodos. Cambia a un modelo inspirado en la renormalización que agrupa regiones y simula solo 100 macro-nodos. Suponiendo que la complejidad computacional es proporcional al cuadrado del número de nodos, ¿cuál es la reducción aproximada en operaciones?</a:t>
            </a:r>
          </a:p>
          <a:p>
            <a:r>
              <a:rPr lang="en-US" sz="2400" b="1" dirty="0"/>
              <a:t>A.</a:t>
            </a:r>
            <a:r>
              <a:rPr lang="en-US" sz="2400" dirty="0"/>
              <a:t> 10×</a:t>
            </a:r>
            <a:br>
              <a:rPr lang="en-US" sz="2400" dirty="0"/>
            </a:br>
            <a:r>
              <a:rPr lang="en-US" sz="2400" b="1" dirty="0"/>
              <a:t>B.</a:t>
            </a:r>
            <a:r>
              <a:rPr lang="en-US" sz="2400" dirty="0"/>
              <a:t> 100×</a:t>
            </a:r>
            <a:br>
              <a:rPr lang="en-US" sz="2400" dirty="0"/>
            </a:br>
            <a:r>
              <a:rPr lang="en-US" sz="2400" b="1" dirty="0"/>
              <a:t>C.</a:t>
            </a:r>
            <a:r>
              <a:rPr lang="en-US" sz="2400" dirty="0"/>
              <a:t> 1,000×</a:t>
            </a:r>
            <a:br>
              <a:rPr lang="en-US" sz="2400" dirty="0"/>
            </a:br>
            <a:r>
              <a:rPr lang="en-US" sz="2400" b="1" dirty="0"/>
              <a:t>D.</a:t>
            </a:r>
            <a:r>
              <a:rPr lang="en-US" sz="2400" dirty="0"/>
              <a:t> 10,000×</a:t>
            </a:r>
            <a:br>
              <a:rPr lang="en-US" sz="2400" dirty="0"/>
            </a:br>
            <a:r>
              <a:rPr lang="en-US" sz="2400" b="1" dirty="0"/>
              <a:t>E.</a:t>
            </a:r>
            <a:r>
              <a:rPr lang="en-US" sz="2400" dirty="0"/>
              <a:t> 1,000,000×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1EC823-F6AA-8170-11BA-7E8E129D9477}"/>
              </a:ext>
            </a:extLst>
          </p:cNvPr>
          <p:cNvSpPr txBox="1"/>
          <p:nvPr/>
        </p:nvSpPr>
        <p:spPr>
          <a:xfrm>
            <a:off x="1770926" y="690540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Ingeniería basada en renormalización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3192476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A4F7A-B1B3-EC60-6C44-A0BD8F8C4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8116F29A-E83B-8798-5C70-289CC65ED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E09C0FC2-AE48-F644-D6FF-EC5E137C09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FE0B2699-0A67-0310-6A92-78DA1A49A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F05249B4-CBC6-8E0D-9692-6921664FC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631E0B-3944-C72B-4523-03BFB05C7D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708" y="1154968"/>
            <a:ext cx="2712759" cy="18569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2999E6-C57E-C91B-9E68-3F292491E39E}"/>
              </a:ext>
            </a:extLst>
          </p:cNvPr>
          <p:cNvSpPr txBox="1"/>
          <p:nvPr/>
        </p:nvSpPr>
        <p:spPr>
          <a:xfrm>
            <a:off x="976696" y="3429000"/>
            <a:ext cx="9713584" cy="2677656"/>
          </a:xfrm>
          <a:prstGeom prst="rect">
            <a:avLst/>
          </a:prstGeom>
          <a:gradFill>
            <a:gsLst>
              <a:gs pos="33566">
                <a:schemeClr val="accent4">
                  <a:lumMod val="45000"/>
                  <a:lumOff val="5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US" sz="2800" dirty="0"/>
              <a:t>En la ingeniería computacional, la renormalización ayuda a simplificar grandes simulaciones identificando parámetros efectivos en la escala correcta.</a:t>
            </a:r>
            <a:r>
              <a:rPr lang="en-US" sz="2800" b="1" dirty="0"/>
              <a:t/>
            </a:r>
            <a:r>
              <a:rPr lang="en-US" sz="2800" dirty="0"/>
              <a:t/>
            </a:r>
            <a:r>
              <a:rPr lang="en-US" sz="2800" b="1" dirty="0"/>
              <a:t/>
            </a:r>
            <a:r>
              <a:rPr lang="en-US" sz="2800" dirty="0"/>
              <a:t/>
            </a:r>
          </a:p>
          <a:p>
            <a:br>
              <a:rPr lang="en-US" sz="2800" dirty="0"/>
            </a:br>
            <a:r>
              <a:rPr lang="en-US" sz="2800" dirty="0"/>
              <a:t>Permite a los ingenieros pasar del caos a microescala a la comprensión a macroescala, con enormes ahorros computacionales</a:t>
            </a:r>
            <a:r>
              <a:rPr lang="en-US" sz="2800" b="1" dirty="0"/>
              <a:t/>
            </a:r>
            <a:r>
              <a:rPr lang="en-US" sz="2800" dirty="0"/>
              <a:t/>
            </a:r>
            <a:r>
              <a:rPr lang="en-US" sz="2800" b="1" dirty="0"/>
              <a:t/>
            </a:r>
            <a:r>
              <a:rPr lang="en-US" sz="2800" dirty="0"/>
              <a:t/>
            </a:r>
            <a:r>
              <a:rPr lang="en-US" sz="2800" b="1" dirty="0"/>
              <a:t/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484723-11D0-37B9-42AD-EED893B3A289}"/>
              </a:ext>
            </a:extLst>
          </p:cNvPr>
          <p:cNvSpPr txBox="1"/>
          <p:nvPr/>
        </p:nvSpPr>
        <p:spPr>
          <a:xfrm>
            <a:off x="1770926" y="690540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masis MT Pro Black" panose="02040A04050005020304" pitchFamily="18" charset="0"/>
              </a:rPr>
              <a:t>Ingeniería basada en renormalización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1058565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5720C1-3F01-2904-7E08-CF9BCC75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1D97BF8A-BB68-E5AE-A85A-0E79CA1C49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16B2A883-13DB-64D8-474D-29BC0A0CDD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DCA2C4E2-D088-7279-BF63-AEE971361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D3DD9D1B-9A9E-A9A4-7631-4AAFCBF8F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40279F-0A00-02CA-28B2-C6A878E74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861463"/>
            <a:ext cx="1036611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Una IA hospitalaria se entrena para detectar sepsis temprana. Inicialmente usa 300 señales por paciente, pero luego aplica un método para comprimirlas en 5 variables latentes conservando el 97% del poder predictivo. Esto se parece 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A. Regresión lineal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B. Árboles de decisión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C. Método del grupo de renormalización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D. Visualización t-SNE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E. Regresión logística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E889F0-0891-8A5A-9508-4E28CE37C673}"/>
              </a:ext>
            </a:extLst>
          </p:cNvPr>
          <p:cNvSpPr txBox="1"/>
          <p:nvPr/>
        </p:nvSpPr>
        <p:spPr>
          <a:xfrm>
            <a:off x="780306" y="4426877"/>
            <a:ext cx="112766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La renormalización no es solo para la física cuántica. Puede ser la base de una startup médica de próxima generación que maneje grandes datos de salud, se enfoque en patrones emergentes y ofrezca IA interpretable y escalable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r>
              <a:rPr lang="en-US" sz="2400" b="1" dirty="0"/>
              <a:t/>
            </a:r>
            <a:r>
              <a:rPr lang="en-US" sz="2400" dirty="0"/>
              <a:t/>
            </a:r>
            <a:r>
              <a:rPr lang="en-US" sz="2400" b="1" dirty="0"/>
              <a:t/>
            </a:r>
            <a:r>
              <a:rPr lang="en-US" sz="2400" dirty="0"/>
              <a:t/>
            </a:r>
            <a:r>
              <a:rPr lang="en-US" sz="2400" b="1" dirty="0"/>
              <a:t/>
            </a:r>
            <a:r>
              <a:rPr lang="en-US" sz="2400" dirty="0"/>
              <a:t/>
            </a:r>
            <a:r>
              <a:rPr lang="en-US" sz="2400" b="1" dirty="0"/>
              <a:t/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1B9676-B0E5-71A8-9A86-9EC0B17D65FD}"/>
              </a:ext>
            </a:extLst>
          </p:cNvPr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Ingeniería basada en renormalización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5612136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A413C0-5A8E-CDE6-79C6-EF849A72B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FD66B21A-DF43-5EE9-C8CA-7C3CEF9712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CDAED6EF-6EB3-A290-17DD-6BF17C1DBA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91E63D3-8A18-AB92-66BA-35294711F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D86A3412-4BDB-8E55-A0D3-861A278E5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DBEA7E-8C05-C94F-298E-3080C1FD4B05}"/>
              </a:ext>
            </a:extLst>
          </p:cNvPr>
          <p:cNvSpPr txBox="1"/>
          <p:nvPr/>
        </p:nvSpPr>
        <p:spPr>
          <a:xfrm>
            <a:off x="1770926" y="690540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masis MT Pro Black" panose="02040A04050005020304" pitchFamily="18" charset="0"/>
              </a:rPr>
              <a:t>Ingeniería basada en renormalización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47C7F-DA25-810F-1F53-98027DE13306}"/>
              </a:ext>
            </a:extLst>
          </p:cNvPr>
          <p:cNvSpPr txBox="1"/>
          <p:nvPr/>
        </p:nvSpPr>
        <p:spPr>
          <a:xfrm>
            <a:off x="780307" y="1607105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Modelado de reacción de la cadena de suministro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38DAB-B7D5-A8B7-FA77-09FED83EF61E}"/>
              </a:ext>
            </a:extLst>
          </p:cNvPr>
          <p:cNvSpPr txBox="1"/>
          <p:nvPr/>
        </p:nvSpPr>
        <p:spPr>
          <a:xfrm>
            <a:off x="710477" y="4373957"/>
            <a:ext cx="82874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Aplicación: optimización de suministro de VE de Amazon, Walmart, Tesla</a:t>
            </a:r>
            <a:r>
              <a:rPr lang="en-US" sz="2400" dirty="0"/>
              <a:t/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5A641C9-FEAD-D831-B7BB-6B0506F04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373" y="2210898"/>
            <a:ext cx="828747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 fábricas, los centros logísticos y los minoristas son como osciladores.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retraso o interrupción en un nodo afecta a toda la cadena (efecto látigo).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modelos SHM ayudan a predecir oscilaciones de inventario y a modelar la resiliencia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1558042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2AA979-FEEF-4E4E-F6FA-C174D82D6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C5197351-3CDB-3E48-68F2-2F8B9D13CB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E4E55FA6-1F23-616B-6EC3-160903EA3A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0EAB3ED-4809-3E74-5093-0D9E67F75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4301735C-5A03-6224-8614-B4820F163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44CB03-6A77-5B27-E16C-E456349AF5BC}"/>
              </a:ext>
            </a:extLst>
          </p:cNvPr>
          <p:cNvSpPr txBox="1"/>
          <p:nvPr/>
        </p:nvSpPr>
        <p:spPr>
          <a:xfrm>
            <a:off x="1352796" y="948660"/>
            <a:ext cx="958094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Amazon: oscilaciones de la cadena de suministro y propagación de la demanda</a:t>
            </a:r>
            <a:r>
              <a:rPr lang="en-US" sz="2800" b="1" i="1" dirty="0"/>
              <a:t/>
            </a: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Usa dinámica de sistemas y modelos acoplados para gestionar</a:t>
            </a:r>
            <a:r>
              <a:rPr lang="en-US" sz="2800" b="1" dirty="0"/>
              <a:t/>
            </a:r>
            <a:r>
              <a:rPr lang="en-US" sz="2800" dirty="0"/>
              <a:t/>
            </a:r>
            <a:r>
              <a:rPr lang="en-US" sz="2800" b="1" dirty="0"/>
              <a:t/>
            </a:r>
            <a:r>
              <a:rPr lang="en-US" sz="2800" dirty="0"/>
              <a:t/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El inventario entre centros de distribución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Los retrasos y las ondas en la logística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La respuesta de la demanda del cliente a lo largo del tiempo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Equivalente a cadenas de osciladores — una interrupción en un nodo (centro de entrega) se propaga</a:t>
            </a:r>
            <a:r>
              <a:rPr lang="en-US" sz="2800" b="1" dirty="0"/>
              <a:t/>
            </a:r>
            <a:r>
              <a:rPr lang="en-US" sz="2800" dirty="0"/>
              <a:t/>
            </a:r>
          </a:p>
          <a:p>
            <a:endParaRPr lang="en-US" sz="2800" b="1" dirty="0"/>
          </a:p>
          <a:p>
            <a:r>
              <a:rPr lang="en-US" sz="2800" b="1" dirty="0"/>
              <a:t>La lógica de renormalización agrega la demanda por región o categoría para evitar la sobrecarga computacional</a:t>
            </a:r>
            <a:r>
              <a:rPr lang="en-US" sz="2800" dirty="0"/>
              <a:t/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5BC79D-B8DF-1BC7-4A19-5CB9A499A767}"/>
              </a:ext>
            </a:extLst>
          </p:cNvPr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Ingeniería basada en renormalización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30618542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D151DF-3B0D-26AF-2864-61B03BD7C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21D3E2E9-414E-30EA-39ED-9A239F3D5E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C6CA9AD5-4D8A-6914-042D-AAC79B51B6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FEE1CEE-101E-53DB-8B73-E57096E68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DAB379D7-CC66-C994-D5E7-CAB9762AE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454A3D-0977-14DF-4A86-BC0166D3E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577845"/>
              </p:ext>
            </p:extLst>
          </p:nvPr>
        </p:nvGraphicFramePr>
        <p:xfrm>
          <a:off x="874961" y="972811"/>
          <a:ext cx="10905067" cy="5105023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</a:tblPr>
              <a:tblGrid>
                <a:gridCol w="3108691">
                  <a:extLst>
                    <a:ext uri="{9D8B030D-6E8A-4147-A177-3AD203B41FA5}">
                      <a16:colId xmlns:a16="http://schemas.microsoft.com/office/drawing/2014/main" val="1775327903"/>
                    </a:ext>
                  </a:extLst>
                </a:gridCol>
                <a:gridCol w="7796376">
                  <a:extLst>
                    <a:ext uri="{9D8B030D-6E8A-4147-A177-3AD203B41FA5}">
                      <a16:colId xmlns:a16="http://schemas.microsoft.com/office/drawing/2014/main" val="2376315595"/>
                    </a:ext>
                  </a:extLst>
                </a:gridCol>
              </a:tblGrid>
              <a:tr h="659979"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Compañía</a:t>
                      </a: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Qué hacen</a:t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49394382"/>
                  </a:ext>
                </a:extLst>
              </a:tr>
              <a:tr h="1107644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Google DeepMind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Usa la teoría del grupo de renormalización para escalar redes neuronales (por ejemplo, AlphaFold, AlphaGo)</a:t>
                      </a:r>
                      <a:r>
                        <a:rPr lang="en-US" sz="2400" b="1" cap="none" spc="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790936380"/>
                  </a:ext>
                </a:extLst>
              </a:tr>
              <a:tr h="1107644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IBM Quantum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Usa renormalización en redes tensoriales para comprimir circuitos cuánticos</a:t>
                      </a:r>
                      <a:r>
                        <a:rPr lang="en-US" sz="2400" b="1" cap="none" spc="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817100932"/>
                  </a:ext>
                </a:extLst>
              </a:tr>
              <a:tr h="1107644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Palantir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Agrega datos de bajo nivel en patrones macro — la misma lógica que la renormalización</a:t>
                      </a:r>
                      <a:r>
                        <a:rPr lang="en-US" sz="2400" b="1" cap="none" spc="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42965995"/>
                  </a:ext>
                </a:extLst>
              </a:tr>
              <a:tr h="1107644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Airbnb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Usa modelos de mercado a nivel de zona para simplificar la planificación de oferta/demanda</a:t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597411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6DDDF7-389F-466D-7396-C5D9F7F976E5}"/>
              </a:ext>
            </a:extLst>
          </p:cNvPr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Ingeniería basada en renormalización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30304969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9000">
              <a:schemeClr val="accent1">
                <a:lumMod val="50000"/>
              </a:schemeClr>
            </a:gs>
            <a:gs pos="63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0A6CD-16B2-7B6F-5CDE-9673D7CB7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D9B123E-5ADE-71A7-A60C-B3D6DD8C67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205653F-2F1E-860A-A31D-4193ABCE4E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1C404883-42D7-B801-ADCF-9E43EB09D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AF7FD2E9-66B2-C9C2-6EC7-92718DE65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D52976-DCD1-B3A7-416C-399C17C64D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000" y="742873"/>
            <a:ext cx="5663125" cy="24121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F7D2FF-977B-00A8-F366-4DD9256AC9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4656" y="4696860"/>
            <a:ext cx="7348301" cy="1971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B36B03-74FB-4B0C-3972-9D23F7CD1A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818" y="3155049"/>
            <a:ext cx="7042745" cy="15418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6C0FE0-81ED-A4FF-CF06-CB0C4F7B3B01}"/>
              </a:ext>
            </a:extLst>
          </p:cNvPr>
          <p:cNvSpPr txBox="1"/>
          <p:nvPr/>
        </p:nvSpPr>
        <p:spPr>
          <a:xfrm>
            <a:off x="1428990" y="96542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Ingeniería basada en renormalización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8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5921209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5000"/>
                <a:lumOff val="55000"/>
              </a:schemeClr>
            </a:gs>
            <a:gs pos="74000">
              <a:schemeClr val="tx2">
                <a:lumMod val="90000"/>
                <a:lumOff val="10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35DBED-A242-B3B1-DF98-0706E7C15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12C02FF0-5838-9C42-220E-41589C22A4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C5B7A618-9C03-9287-6493-D3984B81A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8AFA2947-C04C-812B-80B7-72CE7D5E4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7E5609C-B9FA-90B1-38E8-274AC30EA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E2A4B4-2245-B1EF-1915-A3074D525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03" y="1551583"/>
            <a:ext cx="11517846" cy="42675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E5A717-D076-93EE-980C-F78D867785B4}"/>
              </a:ext>
            </a:extLst>
          </p:cNvPr>
          <p:cNvSpPr txBox="1"/>
          <p:nvPr/>
        </p:nvSpPr>
        <p:spPr>
          <a:xfrm>
            <a:off x="1921397" y="597476"/>
            <a:ext cx="86810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080808"/>
                </a:solidFill>
                <a:effectLst/>
                <a:latin typeface="GothamSSm-light"/>
              </a:rPr>
              <a:t>Perimeter Institute Quantum Intelligence Lab (PIQuIL)</a:t>
            </a:r>
            <a:r>
              <a:rPr lang="en-US" sz="2800" b="1" i="0" dirty="0" err="1">
                <a:solidFill>
                  <a:srgbClr val="080808"/>
                </a:solidFill>
                <a:effectLst/>
                <a:latin typeface="GothamSSm-light"/>
              </a:rPr>
              <a:t/>
            </a:r>
            <a:r>
              <a:rPr lang="en-US" sz="2800" b="1" i="0" dirty="0">
                <a:solidFill>
                  <a:srgbClr val="080808"/>
                </a:solidFill>
                <a:effectLst/>
                <a:latin typeface="GothamSSm-light"/>
              </a:rPr>
              <a:t/>
            </a:r>
            <a:endParaRPr lang="en-US" sz="2800" b="1" dirty="0"/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30655465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8000">
              <a:schemeClr val="tx2">
                <a:lumMod val="90000"/>
                <a:lumOff val="1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6B622E-7E30-E5DB-904C-80937E8BA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60E8C10C-66B1-93EF-AE24-054FB9F269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D31BC47F-ED13-BC95-AEC3-E1A89451AF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B02DF0C0-24D5-0BFA-8737-2FE677B39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E3ED38EA-EDCA-260A-1080-2CA9428ED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F5469F-248B-0EB5-A9A2-B9C9F73B89F7}"/>
              </a:ext>
            </a:extLst>
          </p:cNvPr>
          <p:cNvSpPr txBox="1"/>
          <p:nvPr/>
        </p:nvSpPr>
        <p:spPr>
          <a:xfrm>
            <a:off x="1973363" y="5346374"/>
            <a:ext cx="8932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Firma de RG: usan Estados de Producto Matricial (MPS) y estructuras tipo DMRG, que son herramientas formales de RG de la física cuántica.</a:t>
            </a:r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7B1D3-1D0D-DDB5-7237-B66427438893}"/>
              </a:ext>
            </a:extLst>
          </p:cNvPr>
          <p:cNvSpPr txBox="1"/>
          <p:nvPr/>
        </p:nvSpPr>
        <p:spPr>
          <a:xfrm>
            <a:off x="2663504" y="682794"/>
            <a:ext cx="72400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/>
              <a:t>Multiverse Computing (España/Canadá)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8231D9-69C5-7831-BEBC-DA38A7E01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207" y="1601482"/>
            <a:ext cx="7027984" cy="27364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16F6FF-2560-4B10-3856-44E5BDF806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9298" y="2206216"/>
            <a:ext cx="7350436" cy="2488784"/>
          </a:xfrm>
          <a:prstGeom prst="rect">
            <a:avLst/>
          </a:prstGeom>
        </p:spPr>
      </p:pic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7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4194340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4000">
              <a:schemeClr val="tx2">
                <a:lumMod val="90000"/>
                <a:lumOff val="1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508FF-C625-E5F9-AD41-75D084E18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733092AD-0C36-AE47-A51B-EED21685DB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0A1BB00F-28EC-9373-391C-423BA01BA8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65883CE-A91E-FAE7-18CB-C66A93F7E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C7B658A8-907C-8DCC-6297-8D8F0F0DA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8708D5-5514-31C3-1CE3-82375253F19B}"/>
              </a:ext>
            </a:extLst>
          </p:cNvPr>
          <p:cNvSpPr txBox="1"/>
          <p:nvPr/>
        </p:nvSpPr>
        <p:spPr>
          <a:xfrm>
            <a:off x="1973363" y="5346374"/>
            <a:ext cx="8932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Firma de RG: usan Estados de Producto Matricial (MPS) y estructuras tipo DMRG, que son herramientas formales de RG de la física cuántica.</a:t>
            </a:r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0F5F73-ED66-3B49-E59E-97FAEB017F0B}"/>
              </a:ext>
            </a:extLst>
          </p:cNvPr>
          <p:cNvSpPr txBox="1"/>
          <p:nvPr/>
        </p:nvSpPr>
        <p:spPr>
          <a:xfrm>
            <a:off x="3265388" y="228144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Multiverse Computing (España/Canadá)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9757B8-1AD3-9C9D-E6AB-5E979B1F79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3363" y="1097250"/>
            <a:ext cx="6857518" cy="3975901"/>
          </a:xfrm>
          <a:prstGeom prst="rect">
            <a:avLst/>
          </a:prstGeom>
        </p:spPr>
      </p:pic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0902934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1000">
              <a:schemeClr val="tx2">
                <a:lumMod val="90000"/>
                <a:lumOff val="1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9B6AC-C8A8-45D9-C651-DBDCCC6B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D433315C-66C9-97FA-5CAA-E336C87F7E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A19C5FFF-4D5A-B78E-CFDB-2A9DB6CD72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DA473865-231A-B41B-30A0-92FB022C6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84DBA962-C684-52E2-A15E-3E14A35B1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596EFA-AE6D-62C3-7F23-055F78CE68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585" y="1922319"/>
            <a:ext cx="11328937" cy="29506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B51DB8-8FB8-1A17-70EB-2F4358A50013}"/>
              </a:ext>
            </a:extLst>
          </p:cNvPr>
          <p:cNvSpPr txBox="1"/>
          <p:nvPr/>
        </p:nvSpPr>
        <p:spPr>
          <a:xfrm>
            <a:off x="3265388" y="228144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Multiverse Computing (España/Canadá)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2186292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4000">
              <a:schemeClr val="tx2">
                <a:lumMod val="90000"/>
                <a:lumOff val="1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F0DA9E-CA6C-5449-3A60-CD46A86EE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4FD834E2-AF8D-AFC3-2D75-43754EDF19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A2C10DFF-8A2E-3074-275B-AFE71D0DA2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093A0C86-5682-D699-15D2-197DEA700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1BB773EB-987A-A7E8-7386-2A356C719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EB548B-0695-00B3-71EA-A3DD58DD27C5}"/>
              </a:ext>
            </a:extLst>
          </p:cNvPr>
          <p:cNvSpPr txBox="1"/>
          <p:nvPr/>
        </p:nvSpPr>
        <p:spPr>
          <a:xfrm>
            <a:off x="1788168" y="5130513"/>
            <a:ext cx="8932762" cy="646331"/>
          </a:xfrm>
          <a:prstGeom prst="rect">
            <a:avLst/>
          </a:prstGeom>
          <a:gradFill>
            <a:gsLst>
              <a:gs pos="24000">
                <a:schemeClr val="accent4">
                  <a:lumMod val="45000"/>
                  <a:lumOff val="5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US" b="1" dirty="0"/>
              <a:t>Firma de RG: usan Estados de Producto Matricial (MPS) y estructuras tipo DMRG, que son herramientas formales de RG de la física cuántica.</a:t>
            </a:r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B711DD-EC15-5B9F-9B88-67DAB56723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875" y="1705603"/>
            <a:ext cx="9197580" cy="3149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82434A-45AA-20F3-5E45-C32C27C6D4AD}"/>
              </a:ext>
            </a:extLst>
          </p:cNvPr>
          <p:cNvSpPr txBox="1"/>
          <p:nvPr/>
        </p:nvSpPr>
        <p:spPr>
          <a:xfrm>
            <a:off x="3265388" y="228144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Multiverse Computing (España/Canadá)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19543172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chemeClr val="tx2">
                <a:lumMod val="90000"/>
                <a:lumOff val="1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948B14-E4E1-29B3-6D6E-FC1F74C4A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DA2AE46C-90FE-9BBD-100A-49E081E455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14ABEB4C-BAC9-2098-8AB5-8FD04D882C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DA31632-4EC0-810D-47DF-FF8CC7658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5469D8F8-9053-0257-91C5-13044FEB0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0ADC2B-B5E8-DCBF-BAC0-180B2076B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310" y="1661619"/>
            <a:ext cx="10586815" cy="30492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1345A1-B01E-81C3-7B88-744647742751}"/>
              </a:ext>
            </a:extLst>
          </p:cNvPr>
          <p:cNvSpPr txBox="1"/>
          <p:nvPr/>
        </p:nvSpPr>
        <p:spPr>
          <a:xfrm>
            <a:off x="1938640" y="5865918"/>
            <a:ext cx="8967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Firma de RG: usa transformaciones de escala implícitas para codificar leyes físicas a través de múltiples escalas biológicas (aminoácido → estructura → dinámica)</a:t>
            </a:r>
            <a:r>
              <a:rPr lang="en-US" dirty="0"/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A06A43-49F0-A6FC-AC4F-4385E5778ECF}"/>
              </a:ext>
            </a:extLst>
          </p:cNvPr>
          <p:cNvSpPr txBox="1"/>
          <p:nvPr/>
        </p:nvSpPr>
        <p:spPr>
          <a:xfrm>
            <a:off x="3963365" y="597476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DeepMind (Alphabet / Google)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B51BF8-0880-9D65-E0E6-9FED2ACEB706}"/>
              </a:ext>
            </a:extLst>
          </p:cNvPr>
          <p:cNvSpPr txBox="1"/>
          <p:nvPr/>
        </p:nvSpPr>
        <p:spPr>
          <a:xfrm>
            <a:off x="1938640" y="4901776"/>
            <a:ext cx="93476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La herramienta de plegamiento de proteínas AlphaFold y los modelos de IA informados por física usan representaciones jerárquicas, imitando el flujo de RG a través de escalas de energía o espaciales</a:t>
            </a:r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434240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5000">
              <a:schemeClr val="tx2">
                <a:lumMod val="90000"/>
                <a:lumOff val="1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D512B6-99BF-CE50-1B5E-ECA9FA492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921E70-1B4F-6A40-F9C8-B92EC0F26830}"/>
              </a:ext>
            </a:extLst>
          </p:cNvPr>
          <p:cNvSpPr txBox="1"/>
          <p:nvPr/>
        </p:nvSpPr>
        <p:spPr>
          <a:xfrm>
            <a:off x="1113810" y="2960716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NVIDIA / Schrödinger Inc. / QCWare (Materiales + Descubrimiento de fármacos)</a:t>
            </a: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/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3F7E2-2B2D-D5AD-0260-D7EB1FF559E3}"/>
              </a:ext>
            </a:extLst>
          </p:cNvPr>
          <p:cNvSpPr txBox="1"/>
          <p:nvPr/>
        </p:nvSpPr>
        <p:spPr>
          <a:xfrm>
            <a:off x="1113809" y="953037"/>
            <a:ext cx="4036333" cy="17098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Firma de RG: las aproximaciones jerárquicas reducen el costo computacional mientras preservan la precisión química.</a:t>
            </a:r>
            <a:r>
              <a:rPr lang="en-US" sz="2000" b="1" dirty="0"/>
              <a:t/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</p:txBody>
      </p: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" name="Rectangle 104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Rectangle 104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039C2DD3-862A-BAB0-B4D9-4B001AC80C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F6E14769-B311-DF5C-73EB-A65C7C6AAF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EA74510-05CC-D86C-305B-1EEDEF443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1EC8174E-C495-B76B-22BD-EEA575631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20AD10-EEDE-8D7C-E540-3E55C9A3F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782989"/>
              </p:ext>
            </p:extLst>
          </p:nvPr>
        </p:nvGraphicFramePr>
        <p:xfrm>
          <a:off x="5685808" y="449036"/>
          <a:ext cx="5646966" cy="5848570"/>
        </p:xfrm>
        <a:graphic>
          <a:graphicData uri="http://schemas.openxmlformats.org/drawingml/2006/table">
            <a:tbl>
              <a:tblPr/>
              <a:tblGrid>
                <a:gridCol w="1876912">
                  <a:extLst>
                    <a:ext uri="{9D8B030D-6E8A-4147-A177-3AD203B41FA5}">
                      <a16:colId xmlns:a16="http://schemas.microsoft.com/office/drawing/2014/main" val="2231007840"/>
                    </a:ext>
                  </a:extLst>
                </a:gridCol>
                <a:gridCol w="1913432">
                  <a:extLst>
                    <a:ext uri="{9D8B030D-6E8A-4147-A177-3AD203B41FA5}">
                      <a16:colId xmlns:a16="http://schemas.microsoft.com/office/drawing/2014/main" val="2120018798"/>
                    </a:ext>
                  </a:extLst>
                </a:gridCol>
                <a:gridCol w="1856622">
                  <a:extLst>
                    <a:ext uri="{9D8B030D-6E8A-4147-A177-3AD203B41FA5}">
                      <a16:colId xmlns:a16="http://schemas.microsoft.com/office/drawing/2014/main" val="3266531635"/>
                    </a:ext>
                  </a:extLst>
                </a:gridCol>
              </a:tblGrid>
              <a:tr h="470923">
                <a:tc>
                  <a:txBody>
                    <a:bodyPr/>
                    <a:lstStyle/>
                    <a:p>
                      <a:r>
                        <a:rPr lang="en-US" sz="1400"/>
                        <a:t>Proveedor / Enfoque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Artículo / Recurso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Jerarquía estilo RG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54178957"/>
                  </a:ext>
                </a:extLst>
              </a:tr>
              <a:tr h="723642">
                <a:tc>
                  <a:txBody>
                    <a:bodyPr/>
                    <a:lstStyle/>
                    <a:p>
                      <a:r>
                        <a:rPr lang="en-US" sz="1400"/>
                        <a:t>Schrödinger / NVIDIA (industrial)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Documentación de la plataforma MS CG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Electrónico → atomístico → mesoescala → macro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811153087"/>
                  </a:ext>
                </a:extLst>
              </a:tr>
              <a:tr h="1137960">
                <a:tc>
                  <a:txBody>
                    <a:bodyPr/>
                    <a:lstStyle/>
                    <a:p>
                      <a:r>
                        <a:rPr lang="en-US" sz="1400"/>
                        <a:t>QCWare / interacciones cuánticas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“Interacciones intermoleculares de grano grueso en procesadores cuánticos” (2021)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3">
                            <a:lumMod val="7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Respuesta electrónica de grano grueso vía VQA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3">
                            <a:lumMod val="7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09962918"/>
                  </a:ext>
                </a:extLst>
              </a:tr>
              <a:tr h="930801">
                <a:tc>
                  <a:txBody>
                    <a:bodyPr/>
                    <a:lstStyle/>
                    <a:p>
                      <a:r>
                        <a:rPr lang="en-US" sz="1400"/>
                        <a:t>Noid et al. (2008)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Método formal de CG multiescala que conecta modelos atomísticos ↔ CG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Proyección rigurosa / coincidencia de conjuntos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980620748"/>
                  </a:ext>
                </a:extLst>
              </a:tr>
              <a:tr h="723642">
                <a:tc>
                  <a:txBody>
                    <a:bodyPr/>
                    <a:lstStyle/>
                    <a:p>
                      <a:r>
                        <a:rPr lang="en-US" sz="1400"/>
                        <a:t>Wang et al. / CGnets (2019)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Modelo de energía libre CG basado en aprendizaje profundo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Fuerzas gruesas aprendidas que aproximan la escala atómica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93473936"/>
                  </a:ext>
                </a:extLst>
              </a:tr>
              <a:tr h="1137960">
                <a:tc>
                  <a:txBody>
                    <a:bodyPr/>
                    <a:lstStyle/>
                    <a:p>
                      <a:r>
                        <a:rPr lang="en-US" sz="1400"/>
                        <a:t>Husic et al. (2020)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Representaciones y dinámicas de coarse-graining aprendidas con redes neuronales de grafos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Modelo jerárquico aprendido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95063123"/>
                  </a:ext>
                </a:extLst>
              </a:tr>
              <a:tr h="723642">
                <a:tc>
                  <a:txBody>
                    <a:bodyPr/>
                    <a:lstStyle/>
                    <a:p>
                      <a:r>
                        <a:rPr lang="en-US" sz="1400"/>
                        <a:t>Lyu y Lei (2023)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Dinámica molecular CG basada en ML tipo Mori-Zwanzig con funciones de memoria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Proyección que conserva términos de memoria de muchos cuerpos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77865831"/>
                  </a:ext>
                </a:extLst>
              </a:tr>
            </a:tbl>
          </a:graphicData>
        </a:graphic>
      </p:graphicFrame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5749799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1">
                <a:lumMod val="5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9FE850-9A3E-DDC0-70BF-A9F97544E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15C15197-D4A5-EE69-1607-40798C3523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FF1C20E9-7E0F-9131-1FD9-F83B8F1EE2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9B79454-0D2C-8A95-2ECA-E6FA53328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37A45DB3-6A94-B69B-F835-10D40C79D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F21A60-D6B6-0669-6222-A38523A00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106431"/>
              </p:ext>
            </p:extLst>
          </p:nvPr>
        </p:nvGraphicFramePr>
        <p:xfrm>
          <a:off x="1450513" y="948584"/>
          <a:ext cx="10060564" cy="5296352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1793843">
                  <a:extLst>
                    <a:ext uri="{9D8B030D-6E8A-4147-A177-3AD203B41FA5}">
                      <a16:colId xmlns:a16="http://schemas.microsoft.com/office/drawing/2014/main" val="1265138519"/>
                    </a:ext>
                  </a:extLst>
                </a:gridCol>
                <a:gridCol w="3553823">
                  <a:extLst>
                    <a:ext uri="{9D8B030D-6E8A-4147-A177-3AD203B41FA5}">
                      <a16:colId xmlns:a16="http://schemas.microsoft.com/office/drawing/2014/main" val="333931612"/>
                    </a:ext>
                  </a:extLst>
                </a:gridCol>
                <a:gridCol w="4712898">
                  <a:extLst>
                    <a:ext uri="{9D8B030D-6E8A-4147-A177-3AD203B41FA5}">
                      <a16:colId xmlns:a16="http://schemas.microsoft.com/office/drawing/2014/main" val="19316257"/>
                    </a:ext>
                  </a:extLst>
                </a:gridCol>
              </a:tblGrid>
              <a:tr h="676363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Startup</a:t>
                      </a:r>
                    </a:p>
                  </a:txBody>
                  <a:tcPr marL="216767" marR="166744" marT="166744" marB="1667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Dominio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Práctica similar a la RG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899739"/>
                  </a:ext>
                </a:extLst>
              </a:tr>
              <a:tr h="1343198">
                <a:tc>
                  <a:txBody>
                    <a:bodyPr/>
                    <a:lstStyle/>
                    <a:p>
                      <a:r>
                        <a:rPr lang="en-US" sz="2600" b="1" cap="none" spc="0" dirty="0" err="1">
                          <a:solidFill>
                            <a:schemeClr val="bg1"/>
                          </a:solidFill>
                        </a:rPr>
                        <a:t>nference</a:t>
                      </a:r>
                      <a:endParaRPr lang="en-US" sz="26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216767" marR="166744" marT="166744" marB="1667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 dirty="0">
                          <a:solidFill>
                            <a:schemeClr val="bg1"/>
                          </a:solidFill>
                        </a:rPr>
                        <a:t>Fusión de datos biomédicos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Comprime registros médicos electrónicos + genómica en representaciones latentes (variables efectivas)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610554"/>
                  </a:ext>
                </a:extLst>
              </a:tr>
              <a:tr h="1343198">
                <a:tc>
                  <a:txBody>
                    <a:bodyPr/>
                    <a:lstStyle/>
                    <a:p>
                      <a:r>
                        <a:rPr lang="en-US" sz="2600" b="1" cap="none" spc="0">
                          <a:solidFill>
                            <a:schemeClr val="bg1"/>
                          </a:solidFill>
                        </a:rPr>
                        <a:t>Tempus</a:t>
                      </a:r>
                      <a:endParaRPr lang="en-US" sz="2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216767" marR="166744" marT="166744" marB="1667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IA en oncología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Reduce datos genéticos y clínicos de alta dimensión a escalas predictivas accionables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365991"/>
                  </a:ext>
                </a:extLst>
              </a:tr>
              <a:tr h="1343198">
                <a:tc>
                  <a:txBody>
                    <a:bodyPr/>
                    <a:lstStyle/>
                    <a:p>
                      <a:r>
                        <a:rPr lang="en-US" sz="2600" b="1" cap="none" spc="0">
                          <a:solidFill>
                            <a:schemeClr val="bg1"/>
                          </a:solidFill>
                        </a:rPr>
                        <a:t>Qure.ai</a:t>
                      </a:r>
                      <a:endParaRPr lang="en-US" sz="2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216767" marR="166744" marT="166744" marB="1667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Radiología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 dirty="0">
                          <a:solidFill>
                            <a:schemeClr val="bg1"/>
                          </a:solidFill>
                        </a:rPr>
                        <a:t>Extrae características jerárquicas en imágenes de cerebro/tórax, evitando el ruido local de píxeles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6390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C65BF8-E648-4949-25E7-9B5FD77078B1}"/>
              </a:ext>
            </a:extLst>
          </p:cNvPr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Ingeniería basada en renormalización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34070277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alpha val="5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98826C-6FD0-9560-AC84-265320755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C3235122-E9EE-0817-FA43-8A091EDC07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D1F5DB82-69B8-051E-D0A7-6E30A529EB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587F2E16-F22F-180B-AFFF-271E23A27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99F4D041-AD1C-4B61-C578-41F635842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1A3CAD-C9ED-138B-15F3-8788C7A92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174558"/>
              </p:ext>
            </p:extLst>
          </p:nvPr>
        </p:nvGraphicFramePr>
        <p:xfrm>
          <a:off x="643467" y="1263480"/>
          <a:ext cx="10905067" cy="4331040"/>
        </p:xfrm>
        <a:graphic>
          <a:graphicData uri="http://schemas.openxmlformats.org/drawingml/2006/table">
            <a:tbl>
              <a:tblPr/>
              <a:tblGrid>
                <a:gridCol w="4370230">
                  <a:extLst>
                    <a:ext uri="{9D8B030D-6E8A-4147-A177-3AD203B41FA5}">
                      <a16:colId xmlns:a16="http://schemas.microsoft.com/office/drawing/2014/main" val="3085129369"/>
                    </a:ext>
                  </a:extLst>
                </a:gridCol>
                <a:gridCol w="6534837">
                  <a:extLst>
                    <a:ext uri="{9D8B030D-6E8A-4147-A177-3AD203B41FA5}">
                      <a16:colId xmlns:a16="http://schemas.microsoft.com/office/drawing/2014/main" val="3705055624"/>
                    </a:ext>
                  </a:extLst>
                </a:gridCol>
              </a:tblGrid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Teoría de RG (Física)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Equivalente comercial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12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t="10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71114927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Coarse-graining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Reducción de dimensionalidad / PCA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736853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Flujo de RG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Abstracción de características por capas (RN)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428963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 dirty="0"/>
                        <a:t>Puntos fijos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12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t="10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Fenotipos de enfermedad / resultados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544009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Variables relevantes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Biomarcadores / patrones macro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85261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DMRG / MPS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3200" dirty="0"/>
                        <a:t>Compresión tensorial en QML/IA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02921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AD101C5-A4AB-505F-3A9D-62BCDE0CD672}"/>
              </a:ext>
            </a:extLst>
          </p:cNvPr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Ingeniería basada en renormalización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26315231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1">
                <a:lumMod val="5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0BCB1-30DF-23B0-A9F2-7801847D2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2379961-831E-EC0C-A986-90B3022E63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84DF634D-9F1C-D0EE-895D-019D1EC65A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98EB904-A60F-45A2-E647-B22CD477D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716F5947-D72A-83AF-57C4-16075345C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96751C-FB27-98A9-2A1C-EB0BFE4A2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7856" y="820219"/>
            <a:ext cx="9230337" cy="28547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AE89E3-C953-0ABB-8E07-A731F737EA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7856" y="4010628"/>
            <a:ext cx="8375500" cy="2494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7060A0-57F8-D1A4-DC8D-037F6F5184FC}"/>
              </a:ext>
            </a:extLst>
          </p:cNvPr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Ingeniería basada en renormalización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7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9715416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4">
                <a:lumMod val="7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0F3EC-74C7-00A9-6A88-BA4566E2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9E737CF-318D-A8B3-2189-CCA853BB3A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823F9985-F7C4-2E10-034B-0D2E6E7BCB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DC44B6C-90C3-E6BB-DB7C-970E3BC7F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A28825D7-1F60-8AC6-3192-402A89FC8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74222F-0C5C-6ED6-EE2B-7F9EA32AB3BD}"/>
              </a:ext>
            </a:extLst>
          </p:cNvPr>
          <p:cNvSpPr txBox="1"/>
          <p:nvPr/>
        </p:nvSpPr>
        <p:spPr>
          <a:xfrm>
            <a:off x="4861367" y="2685327"/>
            <a:ext cx="2077428" cy="830997"/>
          </a:xfrm>
          <a:prstGeom prst="rect">
            <a:avLst/>
          </a:prstGeom>
          <a:gradFill>
            <a:gsLst>
              <a:gs pos="12000">
                <a:schemeClr val="accent1">
                  <a:lumMod val="50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</a:gradFill>
        </p:spPr>
        <p:txBody>
          <a:bodyPr wrap="none" rtlCol="0">
            <a:spAutoFit/>
          </a:bodyPr>
          <a:lstStyle/>
          <a:p>
            <a:r>
              <a:rPr lang="en-US" sz="4800" dirty="0"/>
              <a:t>Gracias</a:t>
            </a:r>
          </a:p>
        </p:txBody>
      </p:sp>
      <p:sp>
        <p:nvSpPr>
          <p:cNvPr id="9001" name="LangToggleEN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EN ⇆</a:t>
            </a:r>
          </a:p>
        </p:txBody>
      </p:sp>
    </p:spTree>
    <p:extLst>
      <p:ext uri="{BB962C8B-B14F-4D97-AF65-F5344CB8AC3E}">
        <p14:creationId xmlns:p14="http://schemas.microsoft.com/office/powerpoint/2010/main" val="371187909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DBB8D5F7-CFF0-33E8-D36F-870C145AA0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7" y="135081"/>
            <a:ext cx="1273741" cy="1028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43D496B-3A6B-C97F-2AA1-617C35529D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6754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913F0FA-9496-8823-3A97-22C82DA4D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942A814-A9DA-B395-A41B-0BCC96EC2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2ED4FA-6048-E4B1-933B-62759902C54A}"/>
              </a:ext>
            </a:extLst>
          </p:cNvPr>
          <p:cNvSpPr txBox="1"/>
          <p:nvPr/>
        </p:nvSpPr>
        <p:spPr>
          <a:xfrm>
            <a:off x="3048965" y="6189084"/>
            <a:ext cx="6094070" cy="369332"/>
          </a:xfrm>
          <a:prstGeom prst="rect">
            <a:avLst/>
          </a:prstGeom>
          <a:gradFill>
            <a:gsLst>
              <a:gs pos="0">
                <a:srgbClr val="00B050"/>
              </a:gs>
              <a:gs pos="2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US" b="1" i="1" u="sng" dirty="0">
                <a:solidFill>
                  <a:schemeClr val="accent1">
                    <a:lumMod val="75000"/>
                  </a:schemeClr>
                </a:solidFill>
              </a:rPr>
              <a:t>Ignora el ruido. Aléjate. Concéntrate en lo que importa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7A5B94-CD21-487D-BCD5-23533048CCE9}"/>
              </a:ext>
            </a:extLst>
          </p:cNvPr>
          <p:cNvSpPr txBox="1"/>
          <p:nvPr/>
        </p:nvSpPr>
        <p:spPr>
          <a:xfrm>
            <a:off x="966887" y="1203733"/>
            <a:ext cx="10514634" cy="4759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Teoría de Renormalización en Inteligencia Cuántica: Unificando la Física, la IA y los Sistemas Inteligentes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sz="2800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Dr Saravana Prakash </a:t>
            </a:r>
            <a:r>
              <a:rPr lang="en-US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Thirumuruganandham</a:t>
            </a:r>
            <a:endParaRPr lang="en-US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Director de Investigación y Desarrollo </a:t>
            </a: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SIT Health and SMART CO</a:t>
            </a: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Catalina </a:t>
            </a:r>
            <a:r>
              <a:rPr lang="en-US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aldez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 av Portugal </a:t>
            </a: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Quito, Ecuador</a:t>
            </a: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Correo </a:t>
            </a:r>
            <a:r>
              <a:rPr lang="en-US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Saravana@sit.health</a:t>
            </a:r>
            <a:endParaRPr lang="en-US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A3716D-F103-693A-F0AE-9FA50B13420C}"/>
              </a:ext>
            </a:extLst>
          </p:cNvPr>
          <p:cNvSpPr txBox="1"/>
          <p:nvPr/>
        </p:nvSpPr>
        <p:spPr>
          <a:xfrm>
            <a:off x="3576830" y="5413633"/>
            <a:ext cx="4607159" cy="400110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Venue, Universidad del Quindío, Armenia, Colombia, 03/08/2026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101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7388910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E49311-96D9-37CE-C311-9B24D3463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7D95AF-4BE5-184A-FCC2-78ED3A130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934" y="457200"/>
            <a:ext cx="9824131" cy="5943600"/>
          </a:xfrm>
          <a:prstGeom prst="rect">
            <a:avLst/>
          </a:prstGeom>
        </p:spPr>
      </p:pic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95585CDD-45B2-21F5-14DF-DD39852C8C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04981B2E-D718-857C-849E-79309A9EAC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48A7C21-C35C-9914-846D-20729671B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3C918064-F675-7C9D-D82F-7F86F2A74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31499418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BB3BB-68A3-F58C-3C3E-620523241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C06880C-5985-417F-959E-29F79AE0CF6D}"/>
              </a:ext>
            </a:extLst>
          </p:cNvPr>
          <p:cNvSpPr txBox="1"/>
          <p:nvPr/>
        </p:nvSpPr>
        <p:spPr>
          <a:xfrm>
            <a:off x="840441" y="554307"/>
            <a:ext cx="5230018" cy="26309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b="1" u="sng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85DFE8-AE3F-BED3-D95A-8CFDF27D57B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6142297" y="1199931"/>
            <a:ext cx="4558247" cy="8921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E38DD3-B56C-8C59-65AD-2BECBEC99CD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441385" y="4049583"/>
            <a:ext cx="6028130" cy="7393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136AD1-1542-AD32-3BA0-834A299E743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441385" y="3124256"/>
            <a:ext cx="8674637" cy="6505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07BBAE-82E9-5965-6E6D-0C6AE88AAC8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368441" y="5122895"/>
            <a:ext cx="11495610" cy="483278"/>
          </a:xfrm>
          <a:prstGeom prst="rect">
            <a:avLst/>
          </a:prstGeom>
        </p:spPr>
      </p:pic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2587CD67-9D5B-5736-3350-9433333651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E5EDA6E2-E0D0-0605-747D-223C10F15B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BE1B5038-01A1-661D-8D72-7644EF6DA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1FB4ECDE-9D95-0D6A-6613-FFDBF7E69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2E6998-59ED-FB36-CA68-FA6504AE5BE4}"/>
              </a:ext>
            </a:extLst>
          </p:cNvPr>
          <p:cNvSpPr txBox="1"/>
          <p:nvPr/>
        </p:nvSpPr>
        <p:spPr>
          <a:xfrm>
            <a:off x="6694534" y="3712164"/>
            <a:ext cx="4545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Higher powers are almost invisible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48393D-30A9-8777-3824-FB5D1186D301}"/>
              </a:ext>
            </a:extLst>
          </p:cNvPr>
          <p:cNvSpPr txBox="1"/>
          <p:nvPr/>
        </p:nvSpPr>
        <p:spPr>
          <a:xfrm>
            <a:off x="6600463" y="426421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All terms matter a bit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8786C1-5FE7-7593-3134-BD767C8CCD38}"/>
              </a:ext>
            </a:extLst>
          </p:cNvPr>
          <p:cNvSpPr txBox="1"/>
          <p:nvPr/>
        </p:nvSpPr>
        <p:spPr>
          <a:xfrm>
            <a:off x="3715472" y="5806032"/>
            <a:ext cx="7315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x^4 term completely dominates — others can be ignored.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9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2728266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CDF88B-A1F3-DAB2-4599-82D28E55C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43650567-DF69-EB52-ADAA-C5D336CD71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294BDA74-7603-6BF1-835D-29CBB6343D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F1E519C-3EB5-8084-AAF0-E56116DE4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39365664-70C6-208D-C8BF-A82C61BDD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766366-4A3E-12E4-FB13-30B1E2E2F23B}"/>
              </a:ext>
            </a:extLst>
          </p:cNvPr>
          <p:cNvSpPr txBox="1"/>
          <p:nvPr/>
        </p:nvSpPr>
        <p:spPr>
          <a:xfrm>
            <a:off x="1552989" y="2745551"/>
            <a:ext cx="78606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A qubit ≠ superposition</a:t>
            </a:r>
          </a:p>
          <a:p>
            <a:endParaRPr lang="en-US" sz="3200" dirty="0"/>
          </a:p>
          <a:p>
            <a:r>
              <a:rPr lang="en-US" sz="3200" dirty="0"/>
              <a:t>A </a:t>
            </a:r>
            <a:r>
              <a:rPr lang="en-US" sz="3200" b="1" dirty="0"/>
              <a:t>qubit can be in a superposition</a:t>
            </a:r>
            <a:endParaRPr lang="en-US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792D94-6A7E-7E14-B38F-9F1D36771F5E}"/>
              </a:ext>
            </a:extLst>
          </p:cNvPr>
          <p:cNvGraphicFramePr>
            <a:graphicFrameLocks noGrp="1"/>
          </p:cNvGraphicFramePr>
          <p:nvPr/>
        </p:nvGraphicFramePr>
        <p:xfrm>
          <a:off x="1552989" y="4524116"/>
          <a:ext cx="10515600" cy="5791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5327718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3200" b="1" dirty="0"/>
                        <a:t>Superposition is a </a:t>
                      </a:r>
                      <a:r>
                        <a:rPr lang="en-US" sz="3200" b="0" dirty="0"/>
                        <a:t>property</a:t>
                      </a:r>
                      <a:r>
                        <a:rPr lang="en-US" sz="3200" b="1" dirty="0"/>
                        <a:t> of qubits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98921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01C856-9D92-385A-1297-9315FBFED860}"/>
              </a:ext>
            </a:extLst>
          </p:cNvPr>
          <p:cNvGraphicFramePr>
            <a:graphicFrameLocks noGrp="1"/>
          </p:cNvGraphicFramePr>
          <p:nvPr/>
        </p:nvGraphicFramePr>
        <p:xfrm>
          <a:off x="1634012" y="5238034"/>
          <a:ext cx="6946252" cy="863011"/>
        </p:xfrm>
        <a:graphic>
          <a:graphicData uri="http://schemas.openxmlformats.org/drawingml/2006/table">
            <a:tbl>
              <a:tblPr/>
              <a:tblGrid>
                <a:gridCol w="6946252">
                  <a:extLst>
                    <a:ext uri="{9D8B030D-6E8A-4147-A177-3AD203B41FA5}">
                      <a16:colId xmlns:a16="http://schemas.microsoft.com/office/drawing/2014/main" val="379918977"/>
                    </a:ext>
                  </a:extLst>
                </a:gridCol>
              </a:tblGrid>
              <a:tr h="863011">
                <a:tc>
                  <a:txBody>
                    <a:bodyPr/>
                    <a:lstStyle/>
                    <a:p>
                      <a:r>
                        <a:rPr lang="en-US" sz="3200" b="1" dirty="0"/>
                        <a:t>Not all qubits are in superposition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21171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21CE202-7C36-D6C8-4EE5-D7AAC3D1C4FB}"/>
              </a:ext>
            </a:extLst>
          </p:cNvPr>
          <p:cNvSpPr txBox="1"/>
          <p:nvPr/>
        </p:nvSpPr>
        <p:spPr>
          <a:xfrm>
            <a:off x="1552989" y="920665"/>
            <a:ext cx="101258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A </a:t>
            </a:r>
            <a:r>
              <a:rPr lang="en-US" sz="3200" b="1" dirty="0"/>
              <a:t>qubit</a:t>
            </a:r>
            <a:r>
              <a:rPr lang="en-US" sz="3200" dirty="0"/>
              <a:t> is the fundamental unit of quantum information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A </a:t>
            </a:r>
            <a:r>
              <a:rPr lang="en-US" sz="3200" b="1" dirty="0"/>
              <a:t>superposition</a:t>
            </a:r>
            <a:r>
              <a:rPr lang="en-US" sz="3200" dirty="0"/>
              <a:t> is a special </a:t>
            </a:r>
            <a:r>
              <a:rPr lang="en-US" sz="3200" i="1" dirty="0"/>
              <a:t>state</a:t>
            </a:r>
            <a:r>
              <a:rPr lang="en-US" sz="3200" dirty="0"/>
              <a:t> that a qubit can be in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38874179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7E1C1-DA0D-3001-98DE-9B9A4E8D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C5A29CC-B9CB-F974-A4CE-72A9617B5C54}"/>
              </a:ext>
            </a:extLst>
          </p:cNvPr>
          <p:cNvSpPr txBox="1"/>
          <p:nvPr/>
        </p:nvSpPr>
        <p:spPr>
          <a:xfrm>
            <a:off x="838200" y="1060682"/>
            <a:ext cx="3687041" cy="23683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General quantum state of a qubit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65A13-53DE-6352-26C5-EDAA1E045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4268653"/>
            <a:ext cx="3648941" cy="13234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6069F7-3988-0058-F42D-901B810CF024}"/>
              </a:ext>
            </a:extLst>
          </p:cNvPr>
          <p:cNvSpPr txBox="1"/>
          <p:nvPr/>
        </p:nvSpPr>
        <p:spPr>
          <a:xfrm>
            <a:off x="5348086" y="1035843"/>
            <a:ext cx="6005713" cy="4945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A single qubit cannot be entangled  entanglement always requires two or more qubits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Entanglement is a property of a system of qubits, not an individual one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The combined state of two (or more) qubits cannot be written as a product of their individual states</a:t>
            </a:r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AAFDD13-F5EF-2B3F-F4E0-19F9C56250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9ED377EE-640A-F391-8D96-9696E75FAB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FCF1E7B1-1BA1-3B14-EC73-4FC11F116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6C596C9A-F42F-7489-8776-880A6EC49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331772169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185463-C53D-4CC3-B920-9D54B6E66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0687E48C-71B4-D453-2D59-94CAA10E0C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072550AA-BB72-8EFC-5C0F-EEA19E8F57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88E8450-3753-9172-9CBE-132BF2C48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21BA1421-1801-6C20-F655-18BED4A59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567056-6251-D2A1-FE21-E581139D13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2553" y="2136318"/>
            <a:ext cx="7456505" cy="1441591"/>
          </a:xfrm>
          <a:prstGeom prst="rect">
            <a:avLst/>
          </a:prstGeom>
        </p:spPr>
      </p:pic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322574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3F97A5-0D5B-B604-35BA-D1A8F90A6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54261240-2A4F-CF03-6D33-BA87D65C79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2A789B0F-7057-853A-0222-79AFD4C578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F04AEC9-977F-E6F6-780C-5222093E0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D9842AEE-9705-26C8-508F-A38F19BBC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B96872-CCAE-58A8-7698-CABECA35C8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950" y="1135309"/>
            <a:ext cx="3676650" cy="1869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FFDCA7-9C6E-9883-7F39-83EAC91B8C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346" y="2294267"/>
            <a:ext cx="5810654" cy="7967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1F1996-D4BD-75F5-EC9B-05711015EF5B}"/>
              </a:ext>
            </a:extLst>
          </p:cNvPr>
          <p:cNvSpPr txBox="1"/>
          <p:nvPr/>
        </p:nvSpPr>
        <p:spPr>
          <a:xfrm>
            <a:off x="1588067" y="245924"/>
            <a:ext cx="93180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Entanglement - The Cat Is Linked to the Atom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97BB03-15A0-E294-4964-8388DC3277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8721" y="1135309"/>
            <a:ext cx="4111584" cy="9349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90C7C8-334B-E2C1-BF09-8DC7CD6D6B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0290" y="3304638"/>
            <a:ext cx="3669373" cy="13918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7ECBEE-82D0-C810-E13D-2DFEA94253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6883" y="5818024"/>
            <a:ext cx="2910015" cy="9614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F17720-9B99-70F5-CA24-7C3DE3D9E7E7}"/>
              </a:ext>
            </a:extLst>
          </p:cNvPr>
          <p:cNvSpPr txBox="1"/>
          <p:nvPr/>
        </p:nvSpPr>
        <p:spPr>
          <a:xfrm>
            <a:off x="1492813" y="6133152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</a:t>
            </a:r>
            <a:r>
              <a:rPr lang="en-US" b="1" dirty="0"/>
              <a:t>cannot</a:t>
            </a:r>
            <a:r>
              <a:rPr lang="en-US" dirty="0"/>
              <a:t> separate this into “just the atom” state and “just the cat” state. They are </a:t>
            </a:r>
            <a:r>
              <a:rPr lang="en-US" b="1" dirty="0"/>
              <a:t>linked</a:t>
            </a:r>
            <a:r>
              <a:rPr lang="en-US" dirty="0"/>
              <a:t>.</a:t>
            </a:r>
          </a:p>
        </p:txBody>
      </p:sp>
      <p:graphicFrame>
        <p:nvGraphicFramePr>
          <p:cNvPr id="1036" name="TextBox 2">
            <a:extLst>
              <a:ext uri="{FF2B5EF4-FFF2-40B4-BE49-F238E27FC236}">
                <a16:creationId xmlns:a16="http://schemas.microsoft.com/office/drawing/2014/main" id="{613FE57B-AAE2-AE5B-C922-A3D56413AE26}"/>
              </a:ext>
            </a:extLst>
          </p:cNvPr>
          <p:cNvGraphicFramePr/>
          <p:nvPr/>
        </p:nvGraphicFramePr>
        <p:xfrm>
          <a:off x="207818" y="2921794"/>
          <a:ext cx="7859736" cy="3046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1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393005755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3F380E-7A37-A431-2685-FEBE34108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0B4B8A8-0E29-22DE-A061-D91C69432D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03C5F371-4F04-9730-FC11-6CA7C3BFA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01D65A28-CE6D-A8CF-53B1-6B1F219CF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15618922-9B86-895D-15C7-2E3F5173A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314D8D8-6E2B-AB24-F7A8-9F76991E8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18" y="2012855"/>
            <a:ext cx="9602309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It’s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Bell state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which passes the test for maximal entanglement: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You can't write it as a product.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Measuring the atom tells you the cat's state  immediately.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If you measure atom = decayed (1) → cat is dead (1)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If atom = not decayed (0) → cat is alive (0)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D26C7B-AF79-7527-5C49-414EC71F80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4620" y="798653"/>
            <a:ext cx="3768005" cy="1180618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AABBE9D-E13F-4ACC-1304-1BF7CBEC1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18" y="4228693"/>
            <a:ext cx="1159783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Before measurement - Both atom and cat are in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shared, mixed, entangled state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After measurement - The whole system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collapses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either |00⟩ or |11⟩.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FC4D9-8C46-7EAA-4CDB-29EF50ED744F}"/>
              </a:ext>
            </a:extLst>
          </p:cNvPr>
          <p:cNvSpPr txBox="1"/>
          <p:nvPr/>
        </p:nvSpPr>
        <p:spPr>
          <a:xfrm>
            <a:off x="1556213" y="5983326"/>
            <a:ext cx="96202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+mj-lt"/>
              </a:rPr>
              <a:t>Entanglement plays a role </a:t>
            </a:r>
            <a:r>
              <a:rPr lang="en-US" sz="2800" b="1" i="1" dirty="0">
                <a:latin typeface="+mj-lt"/>
              </a:rPr>
              <a:t>before</a:t>
            </a:r>
            <a:r>
              <a:rPr lang="en-US" sz="2800" b="1" dirty="0">
                <a:latin typeface="+mj-lt"/>
              </a:rPr>
              <a:t> measurement  not after</a:t>
            </a:r>
            <a:endParaRPr lang="en-US" sz="28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DD5626-EAD3-CA01-0C9E-4C5C74BABA0B}"/>
              </a:ext>
            </a:extLst>
          </p:cNvPr>
          <p:cNvSpPr txBox="1"/>
          <p:nvPr/>
        </p:nvSpPr>
        <p:spPr>
          <a:xfrm>
            <a:off x="2106592" y="59066"/>
            <a:ext cx="71637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+mj-lt"/>
              </a:rPr>
              <a:t>When Does Entanglement Play a Role?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16477998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58875-4263-9BF6-85C7-DA06AA2BF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B79381AC-BD49-2AD8-EA42-76604303BD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1673D505-C41E-CBEA-8ADC-CE0CC3AE64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09387761-4526-389D-6CF1-6EF3B4911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DAF305E7-97A3-8C6A-EA2E-61DA84412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91F2A6-60C2-739A-2E48-E924B3830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724508"/>
              </p:ext>
            </p:extLst>
          </p:nvPr>
        </p:nvGraphicFramePr>
        <p:xfrm>
          <a:off x="555585" y="1442466"/>
          <a:ext cx="11181144" cy="3973068"/>
        </p:xfrm>
        <a:graphic>
          <a:graphicData uri="http://schemas.openxmlformats.org/drawingml/2006/table">
            <a:tbl>
              <a:tblPr/>
              <a:tblGrid>
                <a:gridCol w="11181144">
                  <a:extLst>
                    <a:ext uri="{9D8B030D-6E8A-4147-A177-3AD203B41FA5}">
                      <a16:colId xmlns:a16="http://schemas.microsoft.com/office/drawing/2014/main" val="3829470331"/>
                    </a:ext>
                  </a:extLst>
                </a:gridCol>
              </a:tblGrid>
              <a:tr h="653796">
                <a:tc>
                  <a:txBody>
                    <a:bodyPr/>
                    <a:lstStyle/>
                    <a:p>
                      <a:r>
                        <a:rPr lang="en-US" sz="3300" b="1"/>
                        <a:t>What Makes Entanglement Special?</a:t>
                      </a:r>
                    </a:p>
                  </a:txBody>
                  <a:tcPr marL="107769" marR="107769" marT="53884" marB="53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659015"/>
                  </a:ext>
                </a:extLst>
              </a:tr>
              <a:tr h="1659636">
                <a:tc>
                  <a:txBody>
                    <a:bodyPr/>
                    <a:lstStyle/>
                    <a:p>
                      <a:r>
                        <a:rPr lang="en-US" sz="3300" b="1" dirty="0"/>
                        <a:t>It’s not just about being uncertain. It’s about two systems being uncertain together.</a:t>
                      </a:r>
                    </a:p>
                  </a:txBody>
                  <a:tcPr marL="107769" marR="107769" marT="53884" marB="53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958370"/>
                  </a:ext>
                </a:extLst>
              </a:tr>
              <a:tr h="1659636">
                <a:tc>
                  <a:txBody>
                    <a:bodyPr/>
                    <a:lstStyle/>
                    <a:p>
                      <a:r>
                        <a:rPr lang="en-US" sz="3300" b="1" dirty="0"/>
                        <a:t>The state of one depends on the state of the other  even though both are undefined individually.</a:t>
                      </a:r>
                    </a:p>
                  </a:txBody>
                  <a:tcPr marL="107769" marR="107769" marT="53884" marB="53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913349"/>
                  </a:ext>
                </a:extLst>
              </a:tr>
            </a:tbl>
          </a:graphicData>
        </a:graphic>
      </p:graphicFrame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155145783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4000"/>
                <a:lumOff val="16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B6417-43AA-2B92-D4CA-7FE83CCEC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531E5351-9BE5-9A15-EC9D-03DA18238A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3324BDAF-68BE-44E2-27A8-C60C2495D3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2456B188-CB7A-61A5-1635-9D5DD1820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A09456A9-FCC3-9073-00D2-DBF008079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94373E-1454-AACE-B168-10FBB35823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3759" y="1850332"/>
            <a:ext cx="6716702" cy="880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88683D-4176-F8F6-3C0D-2CED3FFC9A23}"/>
              </a:ext>
            </a:extLst>
          </p:cNvPr>
          <p:cNvSpPr txBox="1"/>
          <p:nvPr/>
        </p:nvSpPr>
        <p:spPr>
          <a:xfrm>
            <a:off x="1466599" y="585901"/>
            <a:ext cx="87885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+mj-lt"/>
              </a:rPr>
              <a:t>How zooming out (RG) helps simplify complex entangled systems, like a quantum cat</a:t>
            </a:r>
            <a:endParaRPr lang="en-US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01AA5AD-E43F-4B81-A516-981056F19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367" y="2846025"/>
            <a:ext cx="104259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atom is a qubit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cat is a macroscopic system, but treated as coupled to the qubit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D055E-F00A-4419-8B52-FBC5AF14F605}"/>
              </a:ext>
            </a:extLst>
          </p:cNvPr>
          <p:cNvSpPr txBox="1"/>
          <p:nvPr/>
        </p:nvSpPr>
        <p:spPr>
          <a:xfrm>
            <a:off x="207818" y="3869309"/>
            <a:ext cx="79373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cat is made up of  </a:t>
            </a:r>
            <a:r>
              <a:rPr lang="pt-BR" sz="2400" dirty="0"/>
              <a:t>N∼10</a:t>
            </a:r>
            <a:r>
              <a:rPr lang="pt-BR" sz="2400" baseline="30000" dirty="0"/>
              <a:t>27</a:t>
            </a:r>
            <a:r>
              <a:rPr lang="pt-BR" sz="2400" dirty="0"/>
              <a:t> atoms = 2</a:t>
            </a:r>
            <a:r>
              <a:rPr lang="pt-BR" sz="2400" baseline="30000" dirty="0"/>
              <a:t>N </a:t>
            </a:r>
            <a:r>
              <a:rPr lang="pt-BR" sz="2400" dirty="0"/>
              <a:t>possible quantum configurations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6A9D99-502F-9CC1-8E69-FDEE5FCB52CB}"/>
              </a:ext>
            </a:extLst>
          </p:cNvPr>
          <p:cNvSpPr txBox="1"/>
          <p:nvPr/>
        </p:nvSpPr>
        <p:spPr>
          <a:xfrm>
            <a:off x="1036943" y="5310807"/>
            <a:ext cx="101181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Full entangled system is </a:t>
            </a:r>
            <a:r>
              <a:rPr lang="en-US" sz="2400" b="1" dirty="0"/>
              <a:t>mathematically impossible</a:t>
            </a:r>
            <a:r>
              <a:rPr lang="en-US" sz="2400" dirty="0"/>
              <a:t> without simplification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C546F5-9CC4-255B-43E9-7B6C342B70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197" y="3984769"/>
            <a:ext cx="3314700" cy="600075"/>
          </a:xfrm>
          <a:prstGeom prst="rect">
            <a:avLst/>
          </a:prstGeom>
        </p:spPr>
      </p:pic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7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028836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13964F-CF2D-D4E6-A7DD-67754AECE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2FC0994-A6E6-3899-9A7B-D689B2FA08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B0E273B4-A71C-10CD-E9CD-38FC872F98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2FF2783D-7E60-696F-634B-9E7E6D694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288B92FB-477B-EA20-C6E7-1C9A4428C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ADFB97-6795-34A4-1C1A-3B3A3C5F702F}"/>
              </a:ext>
            </a:extLst>
          </p:cNvPr>
          <p:cNvSpPr txBox="1"/>
          <p:nvPr/>
        </p:nvSpPr>
        <p:spPr>
          <a:xfrm>
            <a:off x="1018572" y="1059872"/>
            <a:ext cx="107876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RG compresses this information into a macroscopic variable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803107-9FD1-87B5-E019-E07AE370E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120" y="2119744"/>
            <a:ext cx="9785005" cy="8414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9011CE-1E8E-EC14-2667-C85B153D69F8}"/>
              </a:ext>
            </a:extLst>
          </p:cNvPr>
          <p:cNvSpPr txBox="1"/>
          <p:nvPr/>
        </p:nvSpPr>
        <p:spPr>
          <a:xfrm>
            <a:off x="1265500" y="3308630"/>
            <a:ext cx="10540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Two amplitudes again  a compressed effective state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529020-42B0-3FF8-5F6D-4815F449F5FF}"/>
              </a:ext>
            </a:extLst>
          </p:cNvPr>
          <p:cNvSpPr txBox="1"/>
          <p:nvPr/>
        </p:nvSpPr>
        <p:spPr>
          <a:xfrm>
            <a:off x="1785395" y="5865918"/>
            <a:ext cx="90022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Forget the microscopic states  keep only the big picture Is the cat alive or dead</a:t>
            </a:r>
          </a:p>
        </p:txBody>
      </p:sp>
      <p:graphicFrame>
        <p:nvGraphicFramePr>
          <p:cNvPr id="1034" name="TextBox 8">
            <a:extLst>
              <a:ext uri="{FF2B5EF4-FFF2-40B4-BE49-F238E27FC236}">
                <a16:creationId xmlns:a16="http://schemas.microsoft.com/office/drawing/2014/main" id="{114A8E2E-4C3F-54FE-E917-30056F0EC45B}"/>
              </a:ext>
            </a:extLst>
          </p:cNvPr>
          <p:cNvGraphicFramePr/>
          <p:nvPr/>
        </p:nvGraphicFramePr>
        <p:xfrm>
          <a:off x="1661509" y="3761324"/>
          <a:ext cx="8483158" cy="2031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11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68434577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flip="none" rotWithShape="1">
          <a:gsLst>
            <a:gs pos="17483">
              <a:schemeClr val="accent1">
                <a:lumMod val="86000"/>
                <a:lumOff val="14000"/>
              </a:schemeClr>
            </a:gs>
            <a:gs pos="9000">
              <a:schemeClr val="accent1">
                <a:lumMod val="86000"/>
                <a:lumOff val="14000"/>
              </a:schemeClr>
            </a:gs>
            <a:gs pos="82000">
              <a:schemeClr val="accent4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6A4870-ADE8-C14E-BF9E-448BF684D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BE165DA8-DC47-6C06-ED44-0B13E62407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B4B988B4-0722-C29A-7C5B-5DC310D1C9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BDA4B1C9-031E-F0CF-0F25-BA84B5249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445C01FD-38FF-8604-4051-AD038ABEB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668322-F930-0A01-5D18-5C8AC952247D}"/>
              </a:ext>
            </a:extLst>
          </p:cNvPr>
          <p:cNvSpPr txBox="1"/>
          <p:nvPr/>
        </p:nvSpPr>
        <p:spPr>
          <a:xfrm>
            <a:off x="396915" y="1224269"/>
            <a:ext cx="109578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RG helps quantum computing and physics because it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Reduces overwhelming microscopic data (atoms in cat)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Keeps only </a:t>
            </a:r>
            <a:r>
              <a:rPr lang="en-US" sz="2400" b="1" dirty="0"/>
              <a:t>effective variables</a:t>
            </a:r>
            <a:r>
              <a:rPr lang="en-US" sz="2400" dirty="0"/>
              <a:t> (like alive/dead)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Allows quantum computers to simulate </a:t>
            </a:r>
            <a:r>
              <a:rPr lang="en-US" sz="2400" b="1" dirty="0"/>
              <a:t>realistic large systems</a:t>
            </a: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5F8A30-9B8C-312D-2AF7-52F2B203C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098390"/>
              </p:ext>
            </p:extLst>
          </p:nvPr>
        </p:nvGraphicFramePr>
        <p:xfrm>
          <a:off x="1352797" y="2929010"/>
          <a:ext cx="9411660" cy="3570075"/>
        </p:xfrm>
        <a:graphic>
          <a:graphicData uri="http://schemas.openxmlformats.org/drawingml/2006/table">
            <a:tbl>
              <a:tblPr/>
              <a:tblGrid>
                <a:gridCol w="2954684">
                  <a:extLst>
                    <a:ext uri="{9D8B030D-6E8A-4147-A177-3AD203B41FA5}">
                      <a16:colId xmlns:a16="http://schemas.microsoft.com/office/drawing/2014/main" val="1166797562"/>
                    </a:ext>
                  </a:extLst>
                </a:gridCol>
                <a:gridCol w="3228488">
                  <a:extLst>
                    <a:ext uri="{9D8B030D-6E8A-4147-A177-3AD203B41FA5}">
                      <a16:colId xmlns:a16="http://schemas.microsoft.com/office/drawing/2014/main" val="2606962852"/>
                    </a:ext>
                  </a:extLst>
                </a:gridCol>
                <a:gridCol w="3228488">
                  <a:extLst>
                    <a:ext uri="{9D8B030D-6E8A-4147-A177-3AD203B41FA5}">
                      <a16:colId xmlns:a16="http://schemas.microsoft.com/office/drawing/2014/main" val="2320070842"/>
                    </a:ext>
                  </a:extLst>
                </a:gridCol>
              </a:tblGrid>
              <a:tr h="643995">
                <a:tc>
                  <a:txBody>
                    <a:bodyPr/>
                    <a:lstStyle/>
                    <a:p>
                      <a:r>
                        <a:rPr lang="en-US" b="1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Quantum Cat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Quantum Computer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1917073"/>
                  </a:ext>
                </a:extLst>
              </a:tr>
              <a:tr h="362511">
                <a:tc>
                  <a:txBody>
                    <a:bodyPr/>
                    <a:lstStyle/>
                    <a:p>
                      <a:r>
                        <a:rPr lang="en-US"/>
                        <a:t>Microscopic 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10^{27} atomic qubits in cat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 </a:t>
                      </a:r>
                      <a:r>
                        <a:rPr lang="en-US" dirty="0"/>
                        <a:t>physical qubits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25778449"/>
                  </a:ext>
                </a:extLst>
              </a:tr>
              <a:tr h="634394">
                <a:tc>
                  <a:txBody>
                    <a:bodyPr/>
                    <a:lstStyle/>
                    <a:p>
                      <a:r>
                        <a:rPr lang="en-US" dirty="0"/>
                        <a:t>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Determine alive/dead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 final outcome / measurement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123932632"/>
                  </a:ext>
                </a:extLst>
              </a:tr>
              <a:tr h="634394">
                <a:tc>
                  <a:txBody>
                    <a:bodyPr/>
                    <a:lstStyle/>
                    <a:p>
                      <a:r>
                        <a:rPr lang="en-US"/>
                        <a:t>Without RG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Simulate everything: too hard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Simulate all qubits: exponential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49956614"/>
                  </a:ext>
                </a:extLst>
              </a:tr>
              <a:tr h="634394">
                <a:tc>
                  <a:txBody>
                    <a:bodyPr/>
                    <a:lstStyle/>
                    <a:p>
                      <a:r>
                        <a:rPr lang="en-US" dirty="0"/>
                        <a:t>With RG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Just track "decayed or not" → “alive/dead”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66000">
                          <a:schemeClr val="accent4">
                            <a:lumMod val="75000"/>
                          </a:schemeClr>
                        </a:gs>
                        <a:gs pos="17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track entanglement structure (e.g. MPS)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16034626"/>
                  </a:ext>
                </a:extLst>
              </a:tr>
              <a:tr h="634394">
                <a:tc>
                  <a:txBody>
                    <a:bodyPr/>
                    <a:lstStyle/>
                    <a:p>
                      <a:r>
                        <a:rPr lang="en-US"/>
                        <a:t>RG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Macroscopic observable (dead/alive)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Compressed quantum state (MPS/QTT)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1623427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BB06DAD-D8E1-95A4-E57D-42E6B6D360CF}"/>
              </a:ext>
            </a:extLst>
          </p:cNvPr>
          <p:cNvSpPr txBox="1"/>
          <p:nvPr/>
        </p:nvSpPr>
        <p:spPr>
          <a:xfrm>
            <a:off x="1449729" y="135081"/>
            <a:ext cx="94563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RG compresses this information into a macroscopic variable 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74649015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Sp="0">
  <p:cSld>
    <p:bg>
      <p:bgPr>
        <a:gradFill>
          <a:gsLst>
            <a:gs pos="16000">
              <a:schemeClr val="accent1">
                <a:lumMod val="5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5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96E7C-6F29-41AE-4FFC-D1831842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BB42ADFD-357E-C90B-5472-9845AF57A3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E46517CF-49B5-7D2B-032E-F7ED1FD660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DA4A7921-889E-F1CC-DE5A-C9E350B13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E1E2F9F7-3083-507F-73E1-DA584A303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80E2FB-C7D6-AA14-6C6C-B0284A71F60A}"/>
              </a:ext>
            </a:extLst>
          </p:cNvPr>
          <p:cNvSpPr txBox="1"/>
          <p:nvPr/>
        </p:nvSpPr>
        <p:spPr>
          <a:xfrm>
            <a:off x="1449729" y="135081"/>
            <a:ext cx="94563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RG compresses this information into a macroscopic variable </a:t>
            </a:r>
            <a:endParaRPr lang="en-US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CAAF14-1424-607B-1A7F-33F469CE00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21" y="1194954"/>
            <a:ext cx="9792098" cy="1860762"/>
          </a:xfrm>
          <a:prstGeom prst="rect">
            <a:avLst/>
          </a:prstGeom>
          <a:effectLst>
            <a:glow>
              <a:schemeClr val="accent3"/>
            </a:glow>
            <a:softEdge rad="762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F2D543-AC62-09D5-A9D3-FAEA2DA196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722" y="3171158"/>
            <a:ext cx="6544402" cy="2731931"/>
          </a:xfrm>
          <a:prstGeom prst="rect">
            <a:avLst/>
          </a:prstGeom>
          <a:effectLst>
            <a:glow rad="63500">
              <a:schemeClr val="accent4">
                <a:alpha val="40000"/>
              </a:schemeClr>
            </a:glow>
            <a:softEdge rad="88900"/>
          </a:effectLst>
        </p:spPr>
      </p:pic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7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18354814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091EB-AF77-17F2-E12D-7991C7CF8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A955823F-FAAA-AB4E-0924-EDC93D1D6D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5FBBCAA3-A975-E6C5-BBFF-467C508129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BD6632B1-A6EE-A084-BF26-35CBE994D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6C74D4FC-AEA5-3771-6501-B07CF407D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6C7A4A-CFEB-9946-8791-BC31A81826D9}"/>
              </a:ext>
            </a:extLst>
          </p:cNvPr>
          <p:cNvSpPr txBox="1"/>
          <p:nvPr/>
        </p:nvSpPr>
        <p:spPr>
          <a:xfrm>
            <a:off x="1037907" y="1430795"/>
            <a:ext cx="1028898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In training an AI to classify ECG anomalies, you are using a moving average window to reduce the number of training points. What principle is being applied here?</a:t>
            </a:r>
          </a:p>
          <a:p>
            <a:endParaRPr lang="en-US" sz="3200" dirty="0"/>
          </a:p>
          <a:p>
            <a:r>
              <a:rPr lang="en-US" sz="3200" dirty="0"/>
              <a:t>A) Overfitting reduction</a:t>
            </a:r>
            <a:br>
              <a:rPr lang="en-US" sz="3200" dirty="0"/>
            </a:br>
            <a:r>
              <a:rPr lang="en-US" sz="3200" dirty="0"/>
              <a:t>B) Renormalization</a:t>
            </a:r>
            <a:br>
              <a:rPr lang="en-US" sz="3200" dirty="0"/>
            </a:br>
            <a:r>
              <a:rPr lang="en-US" sz="3200" dirty="0"/>
              <a:t>C) Signal convolution</a:t>
            </a:r>
            <a:br>
              <a:rPr lang="en-US" sz="3200" dirty="0"/>
            </a:br>
            <a:r>
              <a:rPr lang="en-US" sz="3200" dirty="0"/>
              <a:t>D) Feature expansion</a:t>
            </a:r>
            <a:br>
              <a:rPr lang="en-US" sz="3200" dirty="0"/>
            </a:br>
            <a:r>
              <a:rPr lang="en-US" sz="3200" dirty="0"/>
              <a:t>E) Bandwidth estimation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4D727B-4D69-AB97-AACD-B94D3F26BF73}"/>
              </a:ext>
            </a:extLst>
          </p:cNvPr>
          <p:cNvSpPr txBox="1"/>
          <p:nvPr/>
        </p:nvSpPr>
        <p:spPr>
          <a:xfrm>
            <a:off x="1808316" y="120766"/>
            <a:ext cx="8828818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47256212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6FC90-8D27-9EB4-4F35-CCB9B587E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Freeform: Shape 104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3B406-F47A-958D-2134-C161D3484C23}"/>
              </a:ext>
            </a:extLst>
          </p:cNvPr>
          <p:cNvSpPr txBox="1"/>
          <p:nvPr/>
        </p:nvSpPr>
        <p:spPr>
          <a:xfrm>
            <a:off x="1638313" y="1229857"/>
            <a:ext cx="10053763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you simplify the system by grouping nearby values and removing small fluctuations, i.e., 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coarse-graining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the data</a:t>
            </a:r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95791332-0FB5-D455-0EE3-914BC2E3A4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5DAC3562-8297-2FAA-8B9F-6BDD775323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805B82BA-0EC8-B48C-0B71-729D719A5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B256E66-CAD8-9CD1-61EC-35E220CD4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CC8F7C-E56A-2BDB-CE01-AD66E3A8495B}"/>
              </a:ext>
            </a:extLst>
          </p:cNvPr>
          <p:cNvSpPr txBox="1"/>
          <p:nvPr/>
        </p:nvSpPr>
        <p:spPr>
          <a:xfrm>
            <a:off x="1808316" y="120766"/>
            <a:ext cx="8863542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17299353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967390-9B3D-13E1-6734-19453DFCA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03D75A1A-9114-054C-83A6-57FC9195E0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C029076-BD5E-0C23-6E44-4CBCE0DDF7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F6D1E80B-663E-2852-F579-4AB5BD848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2874F525-4C2A-CF0B-F6BA-72F27BD36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35" name="TextBox 2">
            <a:extLst>
              <a:ext uri="{FF2B5EF4-FFF2-40B4-BE49-F238E27FC236}">
                <a16:creationId xmlns:a16="http://schemas.microsoft.com/office/drawing/2014/main" id="{532E90B5-D752-117D-E76B-5BBFD98A71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1155287"/>
              </p:ext>
            </p:extLst>
          </p:nvPr>
        </p:nvGraphicFramePr>
        <p:xfrm>
          <a:off x="780307" y="1575955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BD7B27E-C6D9-5806-4101-CAB8F0B69ED5}"/>
              </a:ext>
            </a:extLst>
          </p:cNvPr>
          <p:cNvSpPr txBox="1"/>
          <p:nvPr/>
        </p:nvSpPr>
        <p:spPr>
          <a:xfrm>
            <a:off x="1808315" y="120766"/>
            <a:ext cx="8615745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10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164944949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2D50B6-1F00-DCFD-B7EA-CADFD9A0D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787A20A9-8CBD-66A5-287D-EB8154F1AD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8F7C786C-AEBF-A8EA-CF84-63EFC1FEB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2E183929-8A97-C125-2ED4-FDEDBD101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5625D5B5-FFEB-39CC-F605-571487EF5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7F76DB-A739-EA41-7EDF-335F54D302DE}"/>
              </a:ext>
            </a:extLst>
          </p:cNvPr>
          <p:cNvSpPr txBox="1"/>
          <p:nvPr/>
        </p:nvSpPr>
        <p:spPr>
          <a:xfrm>
            <a:off x="517002" y="1462195"/>
            <a:ext cx="11157995" cy="3046988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Renormalization Group Flow</a:t>
            </a:r>
            <a:endParaRPr lang="en-US" sz="3200" dirty="0"/>
          </a:p>
          <a:p>
            <a:r>
              <a:rPr lang="en-US" sz="3200" b="1" dirty="0"/>
              <a:t>Explanation</a:t>
            </a:r>
            <a:br>
              <a:rPr lang="en-US" sz="3200" dirty="0"/>
            </a:br>
            <a:r>
              <a:rPr lang="en-US" sz="3200" dirty="0"/>
              <a:t>This process is like </a:t>
            </a:r>
            <a:r>
              <a:rPr lang="en-US" sz="3200" b="1" dirty="0"/>
              <a:t>RG flow</a:t>
            </a:r>
            <a:r>
              <a:rPr lang="en-US" sz="3200" dirty="0"/>
              <a:t> because you are removing short-distance (high-frequency) fluctuations and focusing on long-range (low-frequency) behavior  exactly the idea behind RG in physics.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E06366-FFD0-9612-0942-0A18CFC2BB16}"/>
              </a:ext>
            </a:extLst>
          </p:cNvPr>
          <p:cNvSpPr txBox="1"/>
          <p:nvPr/>
        </p:nvSpPr>
        <p:spPr>
          <a:xfrm>
            <a:off x="1808316" y="120766"/>
            <a:ext cx="770471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304355736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2">
            <a:alpha val="9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486C8F-A576-7379-785F-60527ECD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EB22DA2D-47CF-A617-39E3-D79BA8F4B3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8C7E19A-3E7D-CB52-210E-048DCEA3F2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3F22446-81D3-585C-71BB-E819A60E4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24CBC1C6-6862-FEE6-9B9E-7778ACC11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235416-62EA-0E95-ADC5-B27557259383}"/>
              </a:ext>
            </a:extLst>
          </p:cNvPr>
          <p:cNvSpPr txBox="1"/>
          <p:nvPr/>
        </p:nvSpPr>
        <p:spPr>
          <a:xfrm>
            <a:off x="836270" y="1247981"/>
            <a:ext cx="10344873" cy="4524315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An engineer applies a method that groups every 60 minutes of data into average values to focus on macro patterns in a solar microgrid. This approach is conceptually equivalent to</a:t>
            </a:r>
          </a:p>
          <a:p>
            <a:r>
              <a:rPr lang="en-US" sz="3200" dirty="0"/>
              <a:t>A) Runge-</a:t>
            </a:r>
            <a:r>
              <a:rPr lang="en-US" sz="3200" dirty="0" err="1"/>
              <a:t>Kutta</a:t>
            </a:r>
            <a:r>
              <a:rPr lang="en-US" sz="3200" dirty="0"/>
              <a:t> integration</a:t>
            </a:r>
            <a:br>
              <a:rPr lang="en-US" sz="3200" dirty="0"/>
            </a:br>
            <a:r>
              <a:rPr lang="en-US" sz="3200" dirty="0"/>
              <a:t>B) Multi-level wavelet decomposition</a:t>
            </a:r>
            <a:br>
              <a:rPr lang="en-US" sz="3200" dirty="0"/>
            </a:br>
            <a:r>
              <a:rPr lang="en-US" sz="3200" dirty="0"/>
              <a:t>C) Renormalization Group flow</a:t>
            </a:r>
            <a:br>
              <a:rPr lang="en-US" sz="3200" dirty="0"/>
            </a:br>
            <a:r>
              <a:rPr lang="en-US" sz="3200" dirty="0"/>
              <a:t>D) Nyquist frequency sampling</a:t>
            </a:r>
            <a:br>
              <a:rPr lang="en-US" sz="3200" dirty="0"/>
            </a:br>
            <a:r>
              <a:rPr lang="en-US" sz="3200" dirty="0"/>
              <a:t>E) Eigen decomposition of covariance matrix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21D3B8-2139-6599-AE17-19748D1D2BDE}"/>
              </a:ext>
            </a:extLst>
          </p:cNvPr>
          <p:cNvSpPr txBox="1"/>
          <p:nvPr/>
        </p:nvSpPr>
        <p:spPr>
          <a:xfrm>
            <a:off x="1808316" y="120766"/>
            <a:ext cx="770471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5537556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69906-1B7B-EDDA-0802-18C9CAEFA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656D9D4C-3603-1C90-EADA-53588385D6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336936B9-2BC1-D495-BB2D-2D2B0E226B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055185B7-22CE-CE42-0F6F-618E7291E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4BF67FA8-8D05-5DB5-89B7-440CA3E11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B65C3B-EDED-92BA-64C0-F5EE98EF0045}"/>
              </a:ext>
            </a:extLst>
          </p:cNvPr>
          <p:cNvSpPr txBox="1"/>
          <p:nvPr/>
        </p:nvSpPr>
        <p:spPr>
          <a:xfrm>
            <a:off x="627926" y="1455928"/>
            <a:ext cx="11564073" cy="4524315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In neural network optimization, a method reduces redundant features layer by layer and keeps only dominant patterns at each scale. This strategy resembles</a:t>
            </a:r>
          </a:p>
          <a:p>
            <a:pPr>
              <a:buNone/>
            </a:pPr>
            <a:endParaRPr lang="en-US" sz="3200" b="1" dirty="0"/>
          </a:p>
          <a:p>
            <a:r>
              <a:rPr lang="en-US" sz="3200" b="1" dirty="0"/>
              <a:t>A) Newton-Raphson descent</a:t>
            </a:r>
            <a:br>
              <a:rPr lang="en-US" sz="3200" b="1" dirty="0"/>
            </a:br>
            <a:r>
              <a:rPr lang="en-US" sz="3200" b="1" dirty="0"/>
              <a:t>B) Convolutional </a:t>
            </a:r>
            <a:r>
              <a:rPr lang="en-US" sz="3200" b="1" dirty="0" err="1"/>
              <a:t>upsampling</a:t>
            </a:r>
            <a:br>
              <a:rPr lang="en-US" sz="3200" b="1" dirty="0"/>
            </a:br>
            <a:r>
              <a:rPr lang="en-US" sz="3200" b="1" dirty="0"/>
              <a:t>C) Renormalization Group flow</a:t>
            </a:r>
            <a:br>
              <a:rPr lang="en-US" sz="3200" b="1" dirty="0"/>
            </a:br>
            <a:r>
              <a:rPr lang="en-US" sz="3200" b="1" dirty="0"/>
              <a:t>D) Naive Bayes simplification</a:t>
            </a:r>
            <a:br>
              <a:rPr lang="en-US" sz="3200" b="1" dirty="0"/>
            </a:br>
            <a:r>
              <a:rPr lang="en-US" sz="3200" b="1" dirty="0"/>
              <a:t>E) Dropout regularization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42C299-BFCC-BC82-0E28-ABE95100A373}"/>
              </a:ext>
            </a:extLst>
          </p:cNvPr>
          <p:cNvSpPr txBox="1"/>
          <p:nvPr/>
        </p:nvSpPr>
        <p:spPr>
          <a:xfrm>
            <a:off x="1808316" y="120766"/>
            <a:ext cx="8516302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394836244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AB542-F628-0131-E084-B2BF559FC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82FAB711-B0AA-0A89-9763-E055042840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381E5399-4066-8C04-5A90-18E2B77EDD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CEC8C0F3-4458-976B-8E83-10411E909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620D7637-E195-2790-F240-E554128C3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BEB21C-0A22-F964-8616-E21AE2D05692}"/>
              </a:ext>
            </a:extLst>
          </p:cNvPr>
          <p:cNvSpPr txBox="1"/>
          <p:nvPr/>
        </p:nvSpPr>
        <p:spPr>
          <a:xfrm>
            <a:off x="441767" y="1059872"/>
            <a:ext cx="1130846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You want to compress a video using a smart algorithm that doesn’t just look at </a:t>
            </a:r>
            <a:r>
              <a:rPr lang="en-US" sz="3200" b="1" dirty="0"/>
              <a:t>pixel-by-pixel compression</a:t>
            </a:r>
            <a:r>
              <a:rPr lang="en-US" sz="3200" dirty="0"/>
              <a:t>, but </a:t>
            </a:r>
            <a:r>
              <a:rPr lang="en-US" sz="3200" b="1" dirty="0"/>
              <a:t>semantic-level compression</a:t>
            </a:r>
            <a:r>
              <a:rPr lang="en-US" sz="3200" dirty="0"/>
              <a:t>.</a:t>
            </a:r>
          </a:p>
          <a:p>
            <a:pPr>
              <a:buNone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Analyze frames in 16x16 blocks.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Extract features via CNN.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Apply PCA or SVD to drop low-energy modes.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Track how quality degrades.</a:t>
            </a:r>
          </a:p>
          <a:p>
            <a:r>
              <a:rPr lang="en-US" sz="3200" dirty="0"/>
              <a:t>This </a:t>
            </a:r>
            <a:r>
              <a:rPr lang="en-US" sz="3200" b="1" dirty="0"/>
              <a:t>hierarchical compression</a:t>
            </a:r>
            <a:r>
              <a:rPr lang="en-US" sz="3200" dirty="0"/>
              <a:t> is conceptually like RG  remove noise at small scales, keep structure at larger ones</a:t>
            </a:r>
            <a:r>
              <a:rPr lang="en-US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995A6A-2462-DFF7-4AD8-B74A823646B1}"/>
              </a:ext>
            </a:extLst>
          </p:cNvPr>
          <p:cNvSpPr txBox="1"/>
          <p:nvPr/>
        </p:nvSpPr>
        <p:spPr>
          <a:xfrm>
            <a:off x="1808316" y="120766"/>
            <a:ext cx="770471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410503348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B42C82-F578-BB22-FF1C-602A5283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B0443085-ED70-528F-8F8D-0588C2C5FD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C4ABFE2C-BA2F-BBBE-E1DF-E118341162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083FFE57-FC04-7D39-80B7-7C87C1BE7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889C960-99A2-3A88-6B2C-2961C58B1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16356B-B64D-38FA-2A40-01266D4411F5}"/>
              </a:ext>
            </a:extLst>
          </p:cNvPr>
          <p:cNvSpPr txBox="1"/>
          <p:nvPr/>
        </p:nvSpPr>
        <p:spPr>
          <a:xfrm>
            <a:off x="135082" y="1348769"/>
            <a:ext cx="1165952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Two departments (Sales and Logistics) are </a:t>
            </a:r>
            <a:r>
              <a:rPr lang="en-US" sz="3200" b="1" dirty="0"/>
              <a:t>entangled</a:t>
            </a:r>
            <a:r>
              <a:rPr lang="en-US" sz="3200" dirty="0"/>
              <a:t>: if Sales increases, Logistics is stressed. Instead of modeling all 1000 sales routes, you focus only on 3 dominant logistics bottlenecks.</a:t>
            </a:r>
          </a:p>
          <a:p>
            <a:pPr>
              <a:buNone/>
            </a:pPr>
            <a:r>
              <a:rPr lang="en-US" sz="3200" dirty="0"/>
              <a:t>This simplification is most similar to</a:t>
            </a:r>
          </a:p>
          <a:p>
            <a:pPr>
              <a:buNone/>
            </a:pPr>
            <a:endParaRPr lang="en-US" sz="3200" dirty="0"/>
          </a:p>
          <a:p>
            <a:r>
              <a:rPr lang="en-US" sz="3200" b="1" dirty="0"/>
              <a:t>A.</a:t>
            </a:r>
            <a:r>
              <a:rPr lang="en-US" sz="3200" dirty="0"/>
              <a:t> Brute-force simulation</a:t>
            </a:r>
            <a:br>
              <a:rPr lang="en-US" sz="3200" dirty="0"/>
            </a:br>
            <a:r>
              <a:rPr lang="en-US" sz="3200" b="1" dirty="0"/>
              <a:t>B.</a:t>
            </a:r>
            <a:r>
              <a:rPr lang="en-US" sz="3200" dirty="0"/>
              <a:t> Deep Learning</a:t>
            </a:r>
            <a:br>
              <a:rPr lang="en-US" sz="3200" dirty="0"/>
            </a:br>
            <a:r>
              <a:rPr lang="en-US" sz="3200" b="1" dirty="0"/>
              <a:t>C.</a:t>
            </a:r>
            <a:r>
              <a:rPr lang="en-US" sz="3200" dirty="0"/>
              <a:t> Renormalization filtering</a:t>
            </a:r>
            <a:br>
              <a:rPr lang="en-US" sz="3200" dirty="0"/>
            </a:br>
            <a:r>
              <a:rPr lang="en-US" sz="3200" b="1" dirty="0"/>
              <a:t>D.</a:t>
            </a:r>
            <a:r>
              <a:rPr lang="en-US" sz="3200" dirty="0"/>
              <a:t> Bayesian belief propagation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E53C30-8E4C-C433-4BE7-7678F465456A}"/>
              </a:ext>
            </a:extLst>
          </p:cNvPr>
          <p:cNvSpPr txBox="1"/>
          <p:nvPr/>
        </p:nvSpPr>
        <p:spPr>
          <a:xfrm>
            <a:off x="1808316" y="120766"/>
            <a:ext cx="770471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18069779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5F517-1ADD-4CD2-7767-F92AA7FCF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40715397-19F0-A972-E5D6-D5B2BD33B6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5835A74E-53B6-630D-F4E0-AB22FA4717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13B48ED4-306B-114E-7C80-2DA6BB33A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720E5CBC-9B6A-6A55-F026-5DABAF2B1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047843-D640-260C-74F3-173D820F2A99}"/>
              </a:ext>
            </a:extLst>
          </p:cNvPr>
          <p:cNvSpPr txBox="1"/>
          <p:nvPr/>
        </p:nvSpPr>
        <p:spPr>
          <a:xfrm>
            <a:off x="207818" y="1274564"/>
            <a:ext cx="1149366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You model each consumer as a qubit</a:t>
            </a:r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sz="2800" b="1" dirty="0"/>
              <a:t>Over time, user preferences shift due to recommendation influence (entanglement with system state). Applying RG helps you</a:t>
            </a:r>
          </a:p>
          <a:p>
            <a:r>
              <a:rPr lang="en-US" sz="2800" b="1" dirty="0"/>
              <a:t>A. Increase entanglement</a:t>
            </a:r>
            <a:br>
              <a:rPr lang="en-US" sz="2800" b="1" dirty="0"/>
            </a:br>
            <a:r>
              <a:rPr lang="en-US" sz="2800" b="1" dirty="0"/>
              <a:t>B. Collapse user state faster</a:t>
            </a:r>
            <a:br>
              <a:rPr lang="en-US" sz="2800" b="1" dirty="0"/>
            </a:br>
            <a:r>
              <a:rPr lang="en-US" sz="2800" b="1" dirty="0"/>
              <a:t>C. Track only dominant influences like price, emotion, and timing</a:t>
            </a:r>
            <a:br>
              <a:rPr lang="en-US" sz="2800" b="1" dirty="0"/>
            </a:br>
            <a:r>
              <a:rPr lang="en-US" sz="2800" b="1" dirty="0"/>
              <a:t>D. Represent each click as a qubit gate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12119B-DAD0-87EA-DB2A-442965DE1B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834" y="1805788"/>
            <a:ext cx="3680106" cy="7869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D48423-A0F7-8A2C-879C-6D44FBBA518F}"/>
              </a:ext>
            </a:extLst>
          </p:cNvPr>
          <p:cNvSpPr txBox="1"/>
          <p:nvPr/>
        </p:nvSpPr>
        <p:spPr>
          <a:xfrm>
            <a:off x="1808315" y="120766"/>
            <a:ext cx="8909842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95856804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D54F74-9AEE-3B6B-4F53-4317285DB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60F03AD2-8A2D-D986-CB7D-9C4FF2B893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BEE54E4D-F0AD-502B-370B-838FF7F3B1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12C7CA2F-E526-1430-188E-2CF3E0134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8D6E7661-5843-1535-2A89-0194651D9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BE42E2-DDDB-6C3E-C41F-059C3B3F650F}"/>
              </a:ext>
            </a:extLst>
          </p:cNvPr>
          <p:cNvSpPr txBox="1"/>
          <p:nvPr/>
        </p:nvSpPr>
        <p:spPr>
          <a:xfrm>
            <a:off x="780307" y="1525774"/>
            <a:ext cx="1092169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 marketing AI tracks 100 million customers. Each customer has 1000 variables (clicks, age, location, time, etc.). An RG-inspired model groups users by emergent patterns (e.g., time-on-page vs conversion) and compresses input size.</a:t>
            </a:r>
          </a:p>
          <a:p>
            <a:pPr>
              <a:buNone/>
            </a:pP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This approach</a:t>
            </a:r>
          </a:p>
          <a:p>
            <a:pPr>
              <a:buNone/>
            </a:pPr>
            <a:endParaRPr lang="en-US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A.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Makes the model slower but more detailed</a:t>
            </a:r>
            <a:b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B.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Causes information loss at the local level</a:t>
            </a:r>
            <a:b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C.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Reduces overfitting and enhances generalization</a:t>
            </a:r>
            <a:b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D.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Increases the number of training parameters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D1737E-7E55-DDC7-E1AB-A4F26EE80559}"/>
              </a:ext>
            </a:extLst>
          </p:cNvPr>
          <p:cNvSpPr txBox="1"/>
          <p:nvPr/>
        </p:nvSpPr>
        <p:spPr>
          <a:xfrm>
            <a:off x="1808316" y="120766"/>
            <a:ext cx="770471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74218868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A0861-5001-16EC-14AB-90DD8E42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871EA76F-9DFF-E4BC-BD90-5F9C27266E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0C36C0E9-01F4-ACAD-14F0-0AEC51D245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AB65B11C-1A2D-5D99-50B6-0BB59C9ED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533FA951-A085-A255-5163-3F59E7BD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C5B8C24-A2BC-AAF3-2D03-348123353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573183"/>
            <a:ext cx="10590934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				Analogy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Imagine you're building an AI system that has to look at every detail  every pixel, every variable, every sensor input. At some point, the system just gets overwhelmed. You need a way to zoom out, focus on what really matters, and ignore the rest. That’s exactly what physicists had to do in the 1940s, when quantum field theory started giving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infinite answers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. They invented something radical 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renormalization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 a way to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zoom out without losing meaning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. Today, we’ll see how that same logic can help make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quantum AI smarter, faster, and more scalable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masis MT Pro Black" panose="02040A04050005020304" pitchFamily="18" charset="0"/>
            </a:endParaRP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06528513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15CEC-23A0-16FA-E32E-BAAA5CA31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035">
            <a:extLst>
              <a:ext uri="{FF2B5EF4-FFF2-40B4-BE49-F238E27FC236}">
                <a16:creationId xmlns:a16="http://schemas.microsoft.com/office/drawing/2014/main" id="{6C0D61D5-5D75-B49F-0E6B-77E5C9FEFD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16" b="-3"/>
          <a:stretch>
            <a:fillRect/>
          </a:stretch>
        </p:blipFill>
        <p:spPr>
          <a:xfrm>
            <a:off x="20" y="10"/>
            <a:ext cx="6204384" cy="5114534"/>
          </a:xfrm>
          <a:custGeom>
            <a:avLst/>
            <a:gdLst/>
            <a:ahLst/>
            <a:cxnLst/>
            <a:rect l="l" t="t" r="r" b="b"/>
            <a:pathLst>
              <a:path w="6204404" h="5114544">
                <a:moveTo>
                  <a:pt x="5659431" y="0"/>
                </a:moveTo>
                <a:lnTo>
                  <a:pt x="6157098" y="0"/>
                </a:lnTo>
                <a:lnTo>
                  <a:pt x="6181355" y="190991"/>
                </a:lnTo>
                <a:cubicBezTo>
                  <a:pt x="6196596" y="341154"/>
                  <a:pt x="6204404" y="493515"/>
                  <a:pt x="6204404" y="647700"/>
                </a:cubicBezTo>
                <a:cubicBezTo>
                  <a:pt x="6204404" y="3114670"/>
                  <a:pt x="4205578" y="5114544"/>
                  <a:pt x="1739900" y="5114544"/>
                </a:cubicBezTo>
                <a:cubicBezTo>
                  <a:pt x="1123481" y="5114544"/>
                  <a:pt x="536240" y="4989552"/>
                  <a:pt x="2114" y="4763518"/>
                </a:cubicBezTo>
                <a:lnTo>
                  <a:pt x="0" y="4762561"/>
                </a:lnTo>
                <a:lnTo>
                  <a:pt x="0" y="4226363"/>
                </a:lnTo>
                <a:lnTo>
                  <a:pt x="15791" y="4234455"/>
                </a:lnTo>
                <a:cubicBezTo>
                  <a:pt x="537360" y="4485921"/>
                  <a:pt x="1122182" y="4626842"/>
                  <a:pt x="1739899" y="4626842"/>
                </a:cubicBezTo>
                <a:cubicBezTo>
                  <a:pt x="3936226" y="4626842"/>
                  <a:pt x="5716700" y="2845319"/>
                  <a:pt x="5716700" y="647700"/>
                </a:cubicBezTo>
                <a:cubicBezTo>
                  <a:pt x="5716700" y="510349"/>
                  <a:pt x="5709745" y="374623"/>
                  <a:pt x="5696169" y="240856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10B8CB-698B-6947-5DC8-4EF8DE04F836}"/>
              </a:ext>
            </a:extLst>
          </p:cNvPr>
          <p:cNvSpPr txBox="1"/>
          <p:nvPr/>
        </p:nvSpPr>
        <p:spPr>
          <a:xfrm>
            <a:off x="745399" y="1194943"/>
            <a:ext cx="4164011" cy="2611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dirty="0">
                <a:latin typeface="+mj-lt"/>
                <a:ea typeface="+mj-ea"/>
                <a:cs typeface="+mj-cs"/>
              </a:rPr>
              <a:t>There’s too much information, too much noise, too much happening and it becomes hard or impossible to find what’s actually important.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9A9B41-63BE-F41A-A6C1-0F1EF96BE348}"/>
              </a:ext>
            </a:extLst>
          </p:cNvPr>
          <p:cNvSpPr txBox="1"/>
          <p:nvPr/>
        </p:nvSpPr>
        <p:spPr>
          <a:xfrm>
            <a:off x="2113538" y="4700044"/>
            <a:ext cx="304100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we need shortcuts like </a:t>
            </a:r>
            <a:r>
              <a:rPr lang="en-US" sz="2400" b="1" dirty="0"/>
              <a:t>renormalization</a:t>
            </a:r>
            <a:r>
              <a:rPr lang="en-US" sz="2400" dirty="0"/>
              <a:t>, compression, zooming out, or filtering</a:t>
            </a:r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22BC8EF8-C3E6-8AE6-4D8B-8E87F91899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FA00C908-ABA0-E98E-4E56-AA51938341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A2150387-51E4-C4ED-9B7A-2573CD048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F7AC106D-5A0A-2661-7097-410791565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34" name="TextBox 6">
            <a:extLst>
              <a:ext uri="{FF2B5EF4-FFF2-40B4-BE49-F238E27FC236}">
                <a16:creationId xmlns:a16="http://schemas.microsoft.com/office/drawing/2014/main" id="{0001DD51-2AFE-2EEE-60AE-4C05425C06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2049788"/>
              </p:ext>
            </p:extLst>
          </p:nvPr>
        </p:nvGraphicFramePr>
        <p:xfrm>
          <a:off x="6381750" y="2119313"/>
          <a:ext cx="5329236" cy="405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421A055-B371-FD59-1590-B022508346C7}"/>
              </a:ext>
            </a:extLst>
          </p:cNvPr>
          <p:cNvSpPr txBox="1"/>
          <p:nvPr/>
        </p:nvSpPr>
        <p:spPr>
          <a:xfrm>
            <a:off x="5616916" y="135081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Analogy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11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123560793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5543BE-F2EF-6252-C615-083A95814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1AA9D6E7-89FA-A791-5D2E-5BAE81ACEF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17215482-6298-9FEA-79BF-1C00A7D491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8E67D59-6C5A-6BE1-D357-956C83801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AE5D60ED-B378-93E7-950E-DC609F7CE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10" name="Picture 2">
            <a:extLst>
              <a:ext uri="{FF2B5EF4-FFF2-40B4-BE49-F238E27FC236}">
                <a16:creationId xmlns:a16="http://schemas.microsoft.com/office/drawing/2014/main" id="{3DF6FC47-F571-E8D5-D0C9-E6BCC1561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071" y="681307"/>
            <a:ext cx="4778651" cy="301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F5390D-D0E8-0A1D-7AD2-02EEC1A82656}"/>
              </a:ext>
            </a:extLst>
          </p:cNvPr>
          <p:cNvSpPr txBox="1"/>
          <p:nvPr/>
        </p:nvSpPr>
        <p:spPr>
          <a:xfrm>
            <a:off x="389724" y="1824114"/>
            <a:ext cx="3092103" cy="1236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temple has layers of complexity, but its core idea is simple. From chaos to clarity.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A30C53-2F2E-2994-85B7-DDDB9714A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101" y="3797144"/>
            <a:ext cx="596091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geometric plan shows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ancient temples were designed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symmetric, layered patterns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mandala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filters out noise and creates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ordered space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US" dirty="0"/>
              <a:t>Like a </a:t>
            </a:r>
            <a:r>
              <a:rPr lang="en-US" b="1" dirty="0"/>
              <a:t>map</a:t>
            </a:r>
            <a:r>
              <a:rPr lang="en-US" dirty="0"/>
              <a:t> that </a:t>
            </a:r>
            <a:r>
              <a:rPr lang="en-US" b="1" dirty="0"/>
              <a:t>compresses</a:t>
            </a:r>
            <a:r>
              <a:rPr lang="en-US" dirty="0"/>
              <a:t> temple complexity into something understandable — this is like </a:t>
            </a:r>
            <a:r>
              <a:rPr lang="en-US" b="1" dirty="0"/>
              <a:t>renormalization</a:t>
            </a:r>
            <a:r>
              <a:rPr lang="en-US" dirty="0"/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1B3FDE-2693-EB57-6D5C-5397A1C11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3083" y="3830616"/>
            <a:ext cx="468308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Neural Network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Blue to orange nodes with connections mimics how AI learns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 Network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structured way to reduce the size of complex quantum systems (used in quantum AI).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A6A815-497F-CFD5-27EC-B1FA335808A0}"/>
              </a:ext>
            </a:extLst>
          </p:cNvPr>
          <p:cNvSpPr txBox="1"/>
          <p:nvPr/>
        </p:nvSpPr>
        <p:spPr>
          <a:xfrm>
            <a:off x="5485392" y="5684112"/>
            <a:ext cx="40482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networks also </a:t>
            </a:r>
            <a:r>
              <a:rPr lang="en-US" b="1" dirty="0"/>
              <a:t>filter, compress, and zoom out</a:t>
            </a:r>
            <a:r>
              <a:rPr lang="en-US" dirty="0"/>
              <a:t>  just like the temple layout or renormalization in physics.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DADD6-2EDA-A916-8EF9-B7DAAE50EC6E}"/>
              </a:ext>
            </a:extLst>
          </p:cNvPr>
          <p:cNvSpPr txBox="1"/>
          <p:nvPr/>
        </p:nvSpPr>
        <p:spPr>
          <a:xfrm>
            <a:off x="4609618" y="20776"/>
            <a:ext cx="21731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Analogy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169813100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845224-A3F9-3BA9-A135-25C91CF08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996" name="Rectangle 41995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3B80E5-4F37-5E3A-2F22-31DD0A877213}"/>
              </a:ext>
            </a:extLst>
          </p:cNvPr>
          <p:cNvSpPr txBox="1"/>
          <p:nvPr/>
        </p:nvSpPr>
        <p:spPr>
          <a:xfrm>
            <a:off x="6739128" y="638089"/>
            <a:ext cx="4818888" cy="1476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54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Analogy</a:t>
            </a:r>
          </a:p>
        </p:txBody>
      </p:sp>
      <p:pic>
        <p:nvPicPr>
          <p:cNvPr id="41987" name="Picture 3" descr="Generated image">
            <a:extLst>
              <a:ext uri="{FF2B5EF4-FFF2-40B4-BE49-F238E27FC236}">
                <a16:creationId xmlns:a16="http://schemas.microsoft.com/office/drawing/2014/main" id="{DCA54547-8186-94A6-F6CC-3628C83EF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3144" y="1542775"/>
            <a:ext cx="6125990" cy="4089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97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52BAC3-DDCC-B399-1B04-2D33C7282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9128" y="2664886"/>
            <a:ext cx="4818888" cy="35507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Trying to conserve a forest by tracking every leaf is overwhelming.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But when you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zoom out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, spot patterns, and focus on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right scales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,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you protect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whole system  smartly, efficiently, and meaningfully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That’s renormalization. In forests, physics, or AI.</a:t>
            </a:r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B637FFAA-275C-7A37-65B7-818828269C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B475055-59CC-DB3A-F200-63050BF78C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54E729E6-C291-2241-636B-0F3617467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CEF63911-0B43-EBF2-A06F-30EFD0BEE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94313486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3905F8-087D-6DAB-1459-6E40DFC27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72F0F224-1D1A-3B2D-3D88-B546143D2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AF56AEC7-E8B7-E919-072C-4FF957C752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83145A6A-6223-CCD4-692E-896CCFB28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B68A376F-3928-4C03-4A16-1D457484C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1EDE54-7790-81F5-E57A-FFFEB3E34E1C}"/>
              </a:ext>
            </a:extLst>
          </p:cNvPr>
          <p:cNvSpPr txBox="1"/>
          <p:nvPr/>
        </p:nvSpPr>
        <p:spPr>
          <a:xfrm>
            <a:off x="1044616" y="1059872"/>
            <a:ext cx="1073841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A team of forest conservationists is overwhelmed with data from millions of individual trees, species, and climate sensors in a dense rainforest. To simplify their analysis, they adopt a "zoom-out" strategy that focuses on large-scale indicators like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Zone classification (wet/dry/edge),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Monitoring of selected animal species,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Aggregate CO₂ absorption metrics.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Which of the following best describes the approach they are using?</a:t>
            </a:r>
          </a:p>
          <a:p>
            <a:r>
              <a:rPr lang="en-US" sz="2400" b="1" dirty="0"/>
              <a:t>A. Linear Regression Modeling</a:t>
            </a:r>
            <a:br>
              <a:rPr lang="en-US" sz="2400" b="1" dirty="0"/>
            </a:br>
            <a:r>
              <a:rPr lang="en-US" sz="2400" b="1" dirty="0"/>
              <a:t>B. Renormalization or Dimensionality Reduction</a:t>
            </a:r>
            <a:br>
              <a:rPr lang="en-US" sz="2400" b="1" dirty="0"/>
            </a:br>
            <a:r>
              <a:rPr lang="en-US" sz="2400" b="1" dirty="0"/>
              <a:t>C. Deep Feature Amplification</a:t>
            </a:r>
            <a:br>
              <a:rPr lang="en-US" sz="2400" b="1" dirty="0"/>
            </a:br>
            <a:r>
              <a:rPr lang="en-US" sz="2400" b="1" dirty="0"/>
              <a:t>D. Localized Biodiversity Exhaustion</a:t>
            </a:r>
            <a:br>
              <a:rPr lang="en-US" sz="2400" b="1" dirty="0"/>
            </a:br>
            <a:r>
              <a:rPr lang="en-US" sz="2400" b="1" dirty="0"/>
              <a:t>E. Random Sampling Without Replacement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9186324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FD7DD-2BE3-2B22-93DC-1B8B04004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6850F7F9-AFA3-355A-3C8F-1CC5360839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50393AF8-1671-A41D-0BBC-E1258E749F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8761F184-DE5C-B056-CEB2-B4D8A1DC2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4A24564-30E5-F083-9271-D4393DA4E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7CDD59-5654-E5C5-11B9-D1923A01B5AC}"/>
              </a:ext>
            </a:extLst>
          </p:cNvPr>
          <p:cNvSpPr txBox="1"/>
          <p:nvPr/>
        </p:nvSpPr>
        <p:spPr>
          <a:xfrm>
            <a:off x="396435" y="1335156"/>
            <a:ext cx="609407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Classical Data Science Approach</a:t>
            </a:r>
          </a:p>
          <a:p>
            <a:r>
              <a:rPr lang="en-US" sz="2400" dirty="0"/>
              <a:t> Use all available data</a:t>
            </a:r>
            <a:br>
              <a:rPr lang="en-US" sz="2400" dirty="0"/>
            </a:br>
            <a:r>
              <a:rPr lang="en-US" sz="2400" dirty="0"/>
              <a:t> Build large models with hundreds of variables</a:t>
            </a:r>
            <a:br>
              <a:rPr lang="en-US" sz="2400" dirty="0"/>
            </a:br>
            <a:r>
              <a:rPr lang="en-US" sz="2400" dirty="0"/>
              <a:t>Try to find patterns from the full 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9C91D-6401-53D2-1BF5-BE25F0796991}"/>
              </a:ext>
            </a:extLst>
          </p:cNvPr>
          <p:cNvSpPr txBox="1"/>
          <p:nvPr/>
        </p:nvSpPr>
        <p:spPr>
          <a:xfrm>
            <a:off x="5395167" y="3429000"/>
            <a:ext cx="609407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+mj-lt"/>
              </a:rPr>
              <a:t>Renormalization-Inspired Approach</a:t>
            </a:r>
          </a:p>
          <a:p>
            <a:r>
              <a:rPr lang="en-US" sz="2400" dirty="0">
                <a:latin typeface="+mj-lt"/>
              </a:rPr>
              <a:t> Inspired by physics: discard small-scale fluctuations, focus on </a:t>
            </a:r>
            <a:r>
              <a:rPr lang="en-US" sz="2400" b="1" dirty="0">
                <a:latin typeface="+mj-lt"/>
              </a:rPr>
              <a:t>effective behavior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latin typeface="+mj-lt"/>
              </a:rPr>
              <a:t>Emphasizes </a:t>
            </a:r>
            <a:r>
              <a:rPr lang="en-US" sz="2400" b="1" dirty="0">
                <a:latin typeface="+mj-lt"/>
              </a:rPr>
              <a:t>scaling, hierarchy</a:t>
            </a:r>
            <a:r>
              <a:rPr lang="en-US" sz="2400" dirty="0">
                <a:latin typeface="+mj-lt"/>
              </a:rPr>
              <a:t>, and </a:t>
            </a:r>
            <a:r>
              <a:rPr lang="en-US" sz="2400" b="1" dirty="0">
                <a:latin typeface="+mj-lt"/>
              </a:rPr>
              <a:t>emergent patterns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latin typeface="+mj-lt"/>
              </a:rPr>
              <a:t>Uses </a:t>
            </a:r>
            <a:r>
              <a:rPr lang="en-US" sz="2400" b="1" dirty="0">
                <a:latin typeface="+mj-lt"/>
              </a:rPr>
              <a:t>only the most relevant variables</a:t>
            </a:r>
            <a:r>
              <a:rPr lang="en-US" sz="2400" dirty="0">
                <a:latin typeface="+mj-lt"/>
              </a:rPr>
              <a:t> at the right scale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5BE0BD-8EB0-ADFB-5F39-2C8385CBABA7}"/>
              </a:ext>
            </a:extLst>
          </p:cNvPr>
          <p:cNvSpPr txBox="1"/>
          <p:nvPr/>
        </p:nvSpPr>
        <p:spPr>
          <a:xfrm>
            <a:off x="4213185" y="358815"/>
            <a:ext cx="215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Difference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107214220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C398D-A6DB-6261-CFED-6965D8FDB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E6299742-DA00-5B6B-B657-2EF9F1CB81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A43FCBB6-2DE2-BC16-C089-967EE9ED86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2ACA6B38-38AC-BBE7-3A1B-7B431863C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789705BC-6A84-5378-FE58-D336F2121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029D03-FA34-3E9E-F52D-3DDDA1DEA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053262"/>
              </p:ext>
            </p:extLst>
          </p:nvPr>
        </p:nvGraphicFramePr>
        <p:xfrm>
          <a:off x="1018572" y="980624"/>
          <a:ext cx="10529963" cy="5107920"/>
        </p:xfrm>
        <a:graphic>
          <a:graphicData uri="http://schemas.openxmlformats.org/drawingml/2006/table">
            <a:tbl>
              <a:tblPr/>
              <a:tblGrid>
                <a:gridCol w="3451077">
                  <a:extLst>
                    <a:ext uri="{9D8B030D-6E8A-4147-A177-3AD203B41FA5}">
                      <a16:colId xmlns:a16="http://schemas.microsoft.com/office/drawing/2014/main" val="2472931081"/>
                    </a:ext>
                  </a:extLst>
                </a:gridCol>
                <a:gridCol w="3483210">
                  <a:extLst>
                    <a:ext uri="{9D8B030D-6E8A-4147-A177-3AD203B41FA5}">
                      <a16:colId xmlns:a16="http://schemas.microsoft.com/office/drawing/2014/main" val="2415245065"/>
                    </a:ext>
                  </a:extLst>
                </a:gridCol>
                <a:gridCol w="3595676">
                  <a:extLst>
                    <a:ext uri="{9D8B030D-6E8A-4147-A177-3AD203B41FA5}">
                      <a16:colId xmlns:a16="http://schemas.microsoft.com/office/drawing/2014/main" val="568615598"/>
                    </a:ext>
                  </a:extLst>
                </a:gridCol>
              </a:tblGrid>
              <a:tr h="838112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Problem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Classical Approach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Renormalization Approach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38370552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/>
                        <a:t>Curse of Dimensionality</a:t>
                      </a:r>
                      <a:endParaRPr lang="en-US" sz="240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Needs exponentially more data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Works with fewer, scaled variables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90507677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/>
                        <a:t>Overfitting Risk</a:t>
                      </a:r>
                      <a:endParaRPr lang="en-US" sz="240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 (more features → more noise fit)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Low (only core structure remains)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56238915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/>
                        <a:t>Model Complexity</a:t>
                      </a:r>
                      <a:endParaRPr lang="en-US" sz="240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O(n²) or O(n³) in large systems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O(log n) or constant time models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64509413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/>
                        <a:t>Entropy &amp; Information Theory</a:t>
                      </a:r>
                      <a:endParaRPr lang="en-US" sz="240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 entropy, low signal-to-noise ratio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Lower entropy, higher information density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991111915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 dirty="0"/>
                        <a:t>Scalability</a:t>
                      </a:r>
                      <a:endParaRPr lang="en-US" sz="2400" dirty="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Poor — bottlenecked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Excellent — scalable to large forests or fields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93704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3F4DD4B-ADD2-AEB4-93F2-356D798AF2A6}"/>
              </a:ext>
            </a:extLst>
          </p:cNvPr>
          <p:cNvSpPr txBox="1"/>
          <p:nvPr/>
        </p:nvSpPr>
        <p:spPr>
          <a:xfrm>
            <a:off x="4213185" y="358815"/>
            <a:ext cx="215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Difference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320413495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29593-07A6-D72D-DD1F-C4CB4770F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AC21D62E-4293-1F56-EF1B-2447FC1688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B288659E-A2F6-A0DD-CCC9-FC30225AC7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9D632F5-D1CE-5E13-97AB-1E739508A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9155A961-3977-D529-49D7-3E391FB2F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9C35C7-CC53-76A1-F5C5-959E5DC88481}"/>
              </a:ext>
            </a:extLst>
          </p:cNvPr>
          <p:cNvSpPr txBox="1"/>
          <p:nvPr/>
        </p:nvSpPr>
        <p:spPr>
          <a:xfrm>
            <a:off x="558479" y="1287213"/>
            <a:ext cx="112824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Mathematically, renormalization acts like </a:t>
            </a:r>
            <a:r>
              <a:rPr lang="en-US" sz="2800" b="1" dirty="0"/>
              <a:t>Principal Component Analysis (PCA)</a:t>
            </a:r>
            <a:r>
              <a:rPr lang="en-US" sz="2800" dirty="0"/>
              <a:t> or </a:t>
            </a:r>
            <a:r>
              <a:rPr lang="en-US" sz="2800" b="1" dirty="0"/>
              <a:t>Fourier filtering</a:t>
            </a:r>
            <a:r>
              <a:rPr lang="en-US" sz="2800" dirty="0"/>
              <a:t> — projecting data onto </a:t>
            </a:r>
            <a:r>
              <a:rPr lang="en-US" sz="2800" b="1" dirty="0"/>
              <a:t>basis states that matter most</a:t>
            </a:r>
            <a:endParaRPr lang="en-US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388C5B-171D-E38E-3DB9-C1ED5CE95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79" y="3376602"/>
            <a:ext cx="1128242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classical ML: 100 variables → model size = O(100²) = 10,000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renormalized quantum ML use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entangled states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retain only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low-rank tensor structure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Huge savings in compute + noise reduction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B67A5-901F-420E-EC0B-382B66E4F03F}"/>
              </a:ext>
            </a:extLst>
          </p:cNvPr>
          <p:cNvSpPr txBox="1"/>
          <p:nvPr/>
        </p:nvSpPr>
        <p:spPr>
          <a:xfrm>
            <a:off x="4213185" y="358815"/>
            <a:ext cx="215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Difference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179244385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36EF2-34E0-FBF1-1D37-D1BF0AC35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871" name="Rectangle 3687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0317B1-0627-5AD5-2D38-264507AB1186}"/>
              </a:ext>
            </a:extLst>
          </p:cNvPr>
          <p:cNvSpPr txBox="1"/>
          <p:nvPr/>
        </p:nvSpPr>
        <p:spPr>
          <a:xfrm>
            <a:off x="6412091" y="501651"/>
            <a:ext cx="4395340" cy="17162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Difference</a:t>
            </a:r>
          </a:p>
        </p:txBody>
      </p:sp>
      <p:sp>
        <p:nvSpPr>
          <p:cNvPr id="36873" name="Rectangle 3687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866" name="Picture 2" descr="Generated image">
            <a:extLst>
              <a:ext uri="{FF2B5EF4-FFF2-40B4-BE49-F238E27FC236}">
                <a16:creationId xmlns:a16="http://schemas.microsoft.com/office/drawing/2014/main" id="{965AA1DE-2AEC-037B-E9D8-59EB30347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0307" y="1059872"/>
            <a:ext cx="4993503" cy="477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B5300A-577B-914B-6AEC-4751B8F81AA8}"/>
              </a:ext>
            </a:extLst>
          </p:cNvPr>
          <p:cNvSpPr txBox="1"/>
          <p:nvPr/>
        </p:nvSpPr>
        <p:spPr>
          <a:xfrm>
            <a:off x="6065165" y="2217906"/>
            <a:ext cx="5385914" cy="371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alpha val="80000"/>
                  </a:schemeClr>
                </a:solidFill>
              </a:rPr>
              <a:t>Classical data science memorizes the noise.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2800" b="1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800" b="1" dirty="0">
                <a:solidFill>
                  <a:schemeClr val="tx1">
                    <a:alpha val="80000"/>
                  </a:schemeClr>
                </a:solidFill>
              </a:rPr>
              <a:t>Renormalization finds the structure saving millions of computations and retaining only what actually governs the system.</a:t>
            </a:r>
          </a:p>
        </p:txBody>
      </p:sp>
      <p:cxnSp>
        <p:nvCxnSpPr>
          <p:cNvPr id="36875" name="Straight Connector 3687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991530CF-BB85-0D3A-061E-12616BBFFF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5AC029F-2812-CCC2-CB7D-C674C7E757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0DD6E13E-195B-A7E9-D559-429EDF5B2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557274F9-0821-D58C-B48C-787757112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14481137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3EBB79-E82B-25DB-0F45-CAD7FDDA0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417A15EB-0923-9ABF-84E6-AECF2B74E3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A38DC41A-D5EF-0F70-1637-4A01D7BB98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39BBC27-C64B-4056-FFC8-524EB9F37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F509DC1-8D13-D317-37BA-A87CFBCE0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A4A0EB-69CC-AF0A-0E8C-6E8AFECF8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44908"/>
              </p:ext>
            </p:extLst>
          </p:nvPr>
        </p:nvGraphicFramePr>
        <p:xfrm>
          <a:off x="710478" y="1158059"/>
          <a:ext cx="10933255" cy="3847428"/>
        </p:xfrm>
        <a:graphic>
          <a:graphicData uri="http://schemas.openxmlformats.org/drawingml/2006/table">
            <a:tbl>
              <a:tblPr/>
              <a:tblGrid>
                <a:gridCol w="2186651">
                  <a:extLst>
                    <a:ext uri="{9D8B030D-6E8A-4147-A177-3AD203B41FA5}">
                      <a16:colId xmlns:a16="http://schemas.microsoft.com/office/drawing/2014/main" val="560666311"/>
                    </a:ext>
                  </a:extLst>
                </a:gridCol>
                <a:gridCol w="2186651">
                  <a:extLst>
                    <a:ext uri="{9D8B030D-6E8A-4147-A177-3AD203B41FA5}">
                      <a16:colId xmlns:a16="http://schemas.microsoft.com/office/drawing/2014/main" val="613470265"/>
                    </a:ext>
                  </a:extLst>
                </a:gridCol>
                <a:gridCol w="2186651">
                  <a:extLst>
                    <a:ext uri="{9D8B030D-6E8A-4147-A177-3AD203B41FA5}">
                      <a16:colId xmlns:a16="http://schemas.microsoft.com/office/drawing/2014/main" val="3583003475"/>
                    </a:ext>
                  </a:extLst>
                </a:gridCol>
                <a:gridCol w="2186651">
                  <a:extLst>
                    <a:ext uri="{9D8B030D-6E8A-4147-A177-3AD203B41FA5}">
                      <a16:colId xmlns:a16="http://schemas.microsoft.com/office/drawing/2014/main" val="1027761924"/>
                    </a:ext>
                  </a:extLst>
                </a:gridCol>
                <a:gridCol w="2186651">
                  <a:extLst>
                    <a:ext uri="{9D8B030D-6E8A-4147-A177-3AD203B41FA5}">
                      <a16:colId xmlns:a16="http://schemas.microsoft.com/office/drawing/2014/main" val="3003377033"/>
                    </a:ext>
                  </a:extLst>
                </a:gridCol>
              </a:tblGrid>
              <a:tr h="1282476">
                <a:tc>
                  <a:txBody>
                    <a:bodyPr/>
                    <a:lstStyle/>
                    <a:p>
                      <a:r>
                        <a:rPr lang="en-US" sz="240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Uses All Variables?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Overfits?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Generalizes?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Computational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87638408"/>
                  </a:ext>
                </a:extLst>
              </a:tr>
              <a:tr h="1282476">
                <a:tc>
                  <a:txBody>
                    <a:bodyPr/>
                    <a:lstStyle/>
                    <a:p>
                      <a:r>
                        <a:rPr lang="en-US" sz="2400"/>
                        <a:t>Classical Data Science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Often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🔺 O(n²) or worse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58926431"/>
                  </a:ext>
                </a:extLst>
              </a:tr>
              <a:tr h="1282476">
                <a:tc>
                  <a:txBody>
                    <a:bodyPr/>
                    <a:lstStyle/>
                    <a:p>
                      <a:r>
                        <a:rPr lang="en-US" sz="2400"/>
                        <a:t>Renormalization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No — filters noise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Robust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🔻 O(log n) or 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950081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A7D252E-7D4C-C8BB-E64C-59358633A3C8}"/>
              </a:ext>
            </a:extLst>
          </p:cNvPr>
          <p:cNvSpPr txBox="1"/>
          <p:nvPr/>
        </p:nvSpPr>
        <p:spPr>
          <a:xfrm>
            <a:off x="1843751" y="5207875"/>
            <a:ext cx="888598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Raw system: 1000 variables → complexity ~ O(1000²) = 1,000,000 operations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After renormalization: 3–5 effective variables → O(5²) = 25 operations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~40,000× compression, while retaining governing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44C29-F705-55DD-0D32-F1E00AA5E5AF}"/>
              </a:ext>
            </a:extLst>
          </p:cNvPr>
          <p:cNvSpPr txBox="1"/>
          <p:nvPr/>
        </p:nvSpPr>
        <p:spPr>
          <a:xfrm>
            <a:off x="4213185" y="358815"/>
            <a:ext cx="215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Difference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92300923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443FD-E95C-125B-98F6-444C3E835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23246FEB-4230-1C1A-9170-5BC00FF8E1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061EB54D-8C6A-F1E6-43C2-BF077A903A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5300EE9-D184-B894-0A50-4AE8AB0B6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A92ABB8A-C761-0CF4-26D1-05D85DDC0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2C42A1-9E47-BB39-57E5-6ABEF730E215}"/>
              </a:ext>
            </a:extLst>
          </p:cNvPr>
          <p:cNvSpPr txBox="1"/>
          <p:nvPr/>
        </p:nvSpPr>
        <p:spPr>
          <a:xfrm>
            <a:off x="1626685" y="823671"/>
            <a:ext cx="85474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Suppose you're modeling tree height in a forest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457A0D-3F3B-4F43-CAC1-CA90E66A0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1774" y="2560997"/>
            <a:ext cx="7621041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You collect data from 10,000 trees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TreeHeight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depends on: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SoilNutrients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(X₁)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Sunlight (X₂)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Rainfall (X₃)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997 other sensor variables: X₄ to X₁₀₀₀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Only X₁ to X₃ matter. The rest is noise or irrelevant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.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73719041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1A2ED22-1193-0A52-FF00-A29F5988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F477BDA-4F0B-7347-7C5B-7E94A8EAF0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8B45FEB3-0DD2-2182-8F3F-6E7D348535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551EDD31-4C8E-3104-23B2-D4E25B3FB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BDD2B61C-2494-7E90-4163-49DBDBFDD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F1A187-D415-1D52-7E00-9591C14D40D0}"/>
              </a:ext>
            </a:extLst>
          </p:cNvPr>
          <p:cNvSpPr txBox="1"/>
          <p:nvPr/>
        </p:nvSpPr>
        <p:spPr>
          <a:xfrm>
            <a:off x="491924" y="1567065"/>
            <a:ext cx="11208152" cy="3600986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u="sng" dirty="0">
                <a:latin typeface="+mj-lt"/>
              </a:rPr>
              <a:t>Classical Data Science Approach</a:t>
            </a:r>
          </a:p>
          <a:p>
            <a:pPr>
              <a:buNone/>
            </a:pPr>
            <a:endParaRPr lang="en-US" sz="32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err="1">
                <a:latin typeface="+mj-lt"/>
              </a:rPr>
              <a:t>TreeHeight</a:t>
            </a:r>
            <a:r>
              <a:rPr lang="en-US" sz="3200" dirty="0">
                <a:latin typeface="+mj-lt"/>
              </a:rPr>
              <a:t>=f(X</a:t>
            </a:r>
            <a:r>
              <a:rPr lang="en-US" sz="3200" baseline="-25000" dirty="0">
                <a:latin typeface="+mj-lt"/>
              </a:rPr>
              <a:t>1</a:t>
            </a:r>
            <a:r>
              <a:rPr lang="en-US" sz="3200" dirty="0">
                <a:latin typeface="+mj-lt"/>
              </a:rPr>
              <a:t>,X</a:t>
            </a:r>
            <a:r>
              <a:rPr lang="en-US" sz="3200" baseline="-25000" dirty="0">
                <a:latin typeface="+mj-lt"/>
              </a:rPr>
              <a:t>2</a:t>
            </a:r>
            <a:r>
              <a:rPr lang="en-US" sz="3200" dirty="0">
                <a:latin typeface="+mj-lt"/>
              </a:rPr>
              <a:t>,...,X</a:t>
            </a:r>
            <a:r>
              <a:rPr lang="en-US" sz="3200" baseline="-25000" dirty="0"/>
              <a:t>1000</a:t>
            </a:r>
            <a:r>
              <a:rPr lang="en-US" sz="3200" dirty="0">
                <a:latin typeface="+mj-lt"/>
              </a:rPr>
              <a:t>)+</a:t>
            </a:r>
            <a:r>
              <a:rPr lang="el-GR" sz="3200" dirty="0">
                <a:latin typeface="+mj-lt"/>
              </a:rPr>
              <a:t>ϵ</a:t>
            </a:r>
            <a:endParaRPr lang="en-US" sz="32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Model tries to use all 1000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Might fit to noise in X₄ to X₁₀₀₀.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Needs O(n²) to O(n³) computations (where n = features = 1000).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Overfits. Fails to generalize.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44696093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91283-96EF-F44D-5FDD-589034C4B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4D45A5D4-ED3B-D7F8-5C30-9E436C0C67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7BF45493-32B8-C2E7-F0DA-BBAC66BE8A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A170C37-2DA9-EE51-E69E-A666E2FC4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820F5D20-D40B-EC45-BFD2-10F973BC3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FA37EB-F0E1-0162-D013-A9BCDE7A9450}"/>
              </a:ext>
            </a:extLst>
          </p:cNvPr>
          <p:cNvSpPr txBox="1"/>
          <p:nvPr/>
        </p:nvSpPr>
        <p:spPr>
          <a:xfrm>
            <a:off x="1203767" y="1059872"/>
            <a:ext cx="10255170" cy="4339650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u="sng" dirty="0">
                <a:latin typeface="+mj-lt"/>
              </a:rPr>
              <a:t>Renormalization-Inspired Strategy</a:t>
            </a:r>
          </a:p>
          <a:p>
            <a:pPr>
              <a:buNone/>
            </a:pPr>
            <a:r>
              <a:rPr lang="en-US" sz="2400" dirty="0">
                <a:latin typeface="+mj-lt"/>
              </a:rPr>
              <a:t>Step 1: </a:t>
            </a:r>
            <a:r>
              <a:rPr lang="en-US" sz="2400" b="1" dirty="0">
                <a:latin typeface="+mj-lt"/>
              </a:rPr>
              <a:t>Zoom Out / Reduce Dimensions</a:t>
            </a:r>
            <a:endParaRPr lang="en-US" sz="24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</a:t>
            </a:r>
            <a:r>
              <a:rPr lang="en-US" sz="2400" b="1" dirty="0">
                <a:latin typeface="+mj-lt"/>
              </a:rPr>
              <a:t>PCA</a:t>
            </a:r>
            <a:r>
              <a:rPr lang="en-US" sz="2400" dirty="0">
                <a:latin typeface="+mj-lt"/>
              </a:rPr>
              <a:t>, </a:t>
            </a:r>
            <a:r>
              <a:rPr lang="en-US" sz="2400" b="1" dirty="0">
                <a:latin typeface="+mj-lt"/>
              </a:rPr>
              <a:t>Fourier</a:t>
            </a:r>
            <a:r>
              <a:rPr lang="en-US" sz="2400" dirty="0">
                <a:latin typeface="+mj-lt"/>
              </a:rPr>
              <a:t>, or physics intuition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Identify only </a:t>
            </a:r>
            <a:r>
              <a:rPr lang="en-US" sz="2400" b="1" dirty="0">
                <a:latin typeface="+mj-lt"/>
              </a:rPr>
              <a:t>3 governing variables</a:t>
            </a:r>
            <a:r>
              <a:rPr lang="en-US" sz="2400" dirty="0">
                <a:latin typeface="+mj-lt"/>
              </a:rPr>
              <a:t>: X₁, X₂, X₃.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Or combine them into 1–2 </a:t>
            </a:r>
            <a:r>
              <a:rPr lang="en-US" sz="2400" b="1" dirty="0">
                <a:latin typeface="+mj-lt"/>
              </a:rPr>
              <a:t>effective variables</a:t>
            </a:r>
            <a:r>
              <a:rPr lang="en-US" sz="2400" dirty="0">
                <a:latin typeface="+mj-lt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Z1=0.5X1+0.3X2+0.2X3 </a:t>
            </a:r>
          </a:p>
          <a:p>
            <a:pPr>
              <a:buNone/>
            </a:pPr>
            <a:r>
              <a:rPr lang="en-US" sz="2400" dirty="0">
                <a:latin typeface="+mj-lt"/>
              </a:rPr>
              <a:t>Step 2: </a:t>
            </a:r>
            <a:r>
              <a:rPr lang="en-US" sz="2400" b="1" dirty="0">
                <a:latin typeface="+mj-lt"/>
              </a:rPr>
              <a:t>Model only effective behavior</a:t>
            </a:r>
            <a:r>
              <a:rPr lang="en-US" sz="2400" dirty="0">
                <a:latin typeface="+mj-lt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+mj-lt"/>
              </a:rPr>
              <a:t>TreeHeight≈g</a:t>
            </a:r>
            <a:r>
              <a:rPr lang="en-US" sz="2400" dirty="0">
                <a:latin typeface="+mj-lt"/>
              </a:rPr>
              <a:t>(Z1</a:t>
            </a:r>
            <a:r>
              <a:rPr lang="en-US" sz="2400" dirty="0"/>
              <a:t> 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computation: O(3²) = 9 ops  vs. O(1000²) = 1,000,000+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No overfitting.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Better generalization across zones and regions.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369526165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EBDDBC-84C1-0A87-421B-7D31DF0DE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62A0B7AF-167B-912F-43E6-E02713C483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105669FF-2F3D-4442-7286-6CBB36C299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64D0E9E-D465-009E-D450-9B43B579A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38E46EE0-2463-1F74-3393-45D06DAEC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5B8CD3-8F57-BACE-ED3E-5A5EC293CA05}"/>
              </a:ext>
            </a:extLst>
          </p:cNvPr>
          <p:cNvSpPr txBox="1"/>
          <p:nvPr/>
        </p:nvSpPr>
        <p:spPr>
          <a:xfrm>
            <a:off x="1451203" y="93519"/>
            <a:ext cx="982253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u="sng" dirty="0">
                <a:latin typeface="+mj-lt"/>
              </a:rPr>
              <a:t>Why Classical Memorizes Noise</a:t>
            </a:r>
          </a:p>
          <a:p>
            <a:pPr algn="ctr">
              <a:buNone/>
            </a:pPr>
            <a:endParaRPr lang="en-US" sz="3600" b="1" u="sng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Classical ML treats all input dimensions equally.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If many are irrelevant or weakly correlated, it still builds complex decision surfaces using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This "fits the training data" but learns patterns that don’t generalize — i.e., memorizes noise.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46E049-4390-CB8F-D969-5F6CE680D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203" y="3210186"/>
            <a:ext cx="1033619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Why Renormalization Finds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 assumes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Nature works at different scales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Instead of every detail, it 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What combination of inputs really controls the system?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 projects data onto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meaningful, low-dimensional subspaces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(like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in: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PCA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(eigenvalue filtering),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RG flow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(scale collapse),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Tensor networks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(low-rank approximations)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49139693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B45B0-949D-755E-DD7D-2B19CC3A0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23017023-395C-1767-D8EB-489F7FDA56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35E1ADA6-72B8-05D8-0877-E834D808CE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81DDF657-5E84-B244-FACA-4F5D2353D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C395DD70-74CC-2055-97DA-17F129068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F58041-2E52-7B02-E873-88C26A9134C0}"/>
              </a:ext>
            </a:extLst>
          </p:cNvPr>
          <p:cNvSpPr txBox="1"/>
          <p:nvPr/>
        </p:nvSpPr>
        <p:spPr>
          <a:xfrm>
            <a:off x="1285875" y="1059872"/>
            <a:ext cx="1046061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A machine learning system originally uses 1000 input variables, resulting in a complexity of O(1000^2)). After applying a renormalization-inspired reduction, the system now uses only 5 effective variables.</a:t>
            </a:r>
          </a:p>
          <a:p>
            <a:pPr>
              <a:buNone/>
            </a:pPr>
            <a:r>
              <a:rPr lang="en-US" sz="2800" dirty="0"/>
              <a:t>What is the </a:t>
            </a:r>
            <a:r>
              <a:rPr lang="en-US" sz="2800" b="1" dirty="0"/>
              <a:t>approximate percentage reduction in the number of operations</a:t>
            </a:r>
            <a:r>
              <a:rPr lang="en-US" sz="2800" dirty="0"/>
              <a:t>?</a:t>
            </a:r>
          </a:p>
          <a:p>
            <a:r>
              <a:rPr lang="en-US" sz="2800" b="1" dirty="0"/>
              <a:t>A.</a:t>
            </a:r>
            <a:r>
              <a:rPr lang="en-US" sz="2800" dirty="0"/>
              <a:t> 50%</a:t>
            </a:r>
            <a:br>
              <a:rPr lang="en-US" sz="2800" dirty="0"/>
            </a:br>
            <a:r>
              <a:rPr lang="en-US" sz="2800" b="1" dirty="0"/>
              <a:t>B.</a:t>
            </a:r>
            <a:r>
              <a:rPr lang="en-US" sz="2800" dirty="0"/>
              <a:t> 90%</a:t>
            </a:r>
            <a:br>
              <a:rPr lang="en-US" sz="2800" dirty="0"/>
            </a:br>
            <a:r>
              <a:rPr lang="en-US" sz="2800" b="1" dirty="0"/>
              <a:t>C.</a:t>
            </a:r>
            <a:r>
              <a:rPr lang="en-US" sz="2800" dirty="0"/>
              <a:t> 99.5%</a:t>
            </a:r>
            <a:br>
              <a:rPr lang="en-US" sz="2800" dirty="0"/>
            </a:br>
            <a:r>
              <a:rPr lang="en-US" sz="2800" b="1" dirty="0"/>
              <a:t>D.</a:t>
            </a:r>
            <a:r>
              <a:rPr lang="en-US" sz="2800" dirty="0"/>
              <a:t> 99.9975%</a:t>
            </a:r>
            <a:br>
              <a:rPr lang="en-US" sz="2800" dirty="0"/>
            </a:br>
            <a:r>
              <a:rPr lang="en-US" sz="2800" b="1" dirty="0"/>
              <a:t>E.</a:t>
            </a:r>
            <a:r>
              <a:rPr lang="en-US" sz="2800" dirty="0"/>
              <a:t> 100%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7D1B56-FA79-0CE9-2FCC-38171A88C7ED}"/>
              </a:ext>
            </a:extLst>
          </p:cNvPr>
          <p:cNvSpPr txBox="1"/>
          <p:nvPr/>
        </p:nvSpPr>
        <p:spPr>
          <a:xfrm>
            <a:off x="4054034" y="228145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/>
              <a:t>Percentage reduction</a:t>
            </a:r>
            <a:endParaRPr lang="en-US" sz="4000" u="sng" dirty="0"/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45221461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17F0A-3E7A-0139-DFF3-689F9C65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84136580-2CF2-6D54-DD8F-0DB5A625E9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7D4CA298-027F-FE4E-F363-3A00B4855F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4F4CCC09-0FDE-0541-B196-8C3B6FFEC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786D7EA0-DD1C-1A80-98C0-B9108CD87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43A9FE-682E-5F12-8EE5-3C4B592BA2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9513" y="1927946"/>
            <a:ext cx="7780506" cy="2412560"/>
          </a:xfrm>
          <a:prstGeom prst="rect">
            <a:avLst/>
          </a:prstGeom>
        </p:spPr>
      </p:pic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142951957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A6FB4-5597-0174-2DF2-8ABF09E6E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B57C73FD-B49B-5DAB-AEF3-A5421D155B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E52BCBC9-7279-0B95-AF71-3167D7DF25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D284C498-1CE4-04A9-E012-FAE0FEB0F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EB878563-B717-D3FB-FC4F-E569F5AC8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49FF62-49A6-A8E0-A4CF-D40C02DC622F}"/>
              </a:ext>
            </a:extLst>
          </p:cNvPr>
          <p:cNvSpPr txBox="1"/>
          <p:nvPr/>
        </p:nvSpPr>
        <p:spPr>
          <a:xfrm>
            <a:off x="558873" y="1228005"/>
            <a:ext cx="1149804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u="sng" dirty="0"/>
              <a:t>Analytical Reasoning</a:t>
            </a:r>
          </a:p>
          <a:p>
            <a:pPr>
              <a:buNone/>
            </a:pPr>
            <a:r>
              <a:rPr lang="en-US" sz="2400" dirty="0"/>
              <a:t>Researchers studying a rainforest collect thousands of variables from sensors and species trackers. However, they discover that tree height can be effectively predicted using just three aggregate variables: rainfall, sunlight, and soil nutrients. Which of the following best explains their modeling decision?</a:t>
            </a:r>
          </a:p>
          <a:p>
            <a:pPr>
              <a:buNone/>
            </a:pPr>
            <a:endParaRPr lang="en-US" sz="2400" dirty="0"/>
          </a:p>
          <a:p>
            <a:r>
              <a:rPr lang="en-US" sz="2400" dirty="0"/>
              <a:t> A. They are avoiding overfitting by applying dropout</a:t>
            </a:r>
            <a:br>
              <a:rPr lang="en-US" sz="2400" dirty="0"/>
            </a:br>
            <a:r>
              <a:rPr lang="en-US" sz="2400" b="1" dirty="0"/>
              <a:t>B.</a:t>
            </a:r>
            <a:r>
              <a:rPr lang="en-US" sz="2400" dirty="0"/>
              <a:t> They are using k-means clustering to reduce the sample size</a:t>
            </a:r>
            <a:br>
              <a:rPr lang="en-US" sz="2400" dirty="0"/>
            </a:br>
            <a:r>
              <a:rPr lang="en-US" sz="2400" b="1" dirty="0"/>
              <a:t>C.</a:t>
            </a:r>
            <a:r>
              <a:rPr lang="en-US" sz="2400" dirty="0"/>
              <a:t> They are applying renormalization to extract effective structure</a:t>
            </a:r>
            <a:br>
              <a:rPr lang="en-US" sz="2400" dirty="0"/>
            </a:br>
            <a:r>
              <a:rPr lang="en-US" sz="2400" b="1" dirty="0"/>
              <a:t>D.</a:t>
            </a:r>
            <a:r>
              <a:rPr lang="en-US" sz="2400" dirty="0"/>
              <a:t> They are removing bias using L1 regularization</a:t>
            </a:r>
            <a:br>
              <a:rPr lang="en-US" sz="2400" dirty="0"/>
            </a:br>
            <a:r>
              <a:rPr lang="en-US" sz="2400" b="1" dirty="0"/>
              <a:t>E.</a:t>
            </a:r>
            <a:r>
              <a:rPr lang="en-US" sz="2400" dirty="0"/>
              <a:t> They are improving interpretability using random forests</a:t>
            </a:r>
          </a:p>
          <a:p>
            <a:pPr marL="342900" indent="-342900">
              <a:buAutoNum type="alphaUcPeriod"/>
            </a:pPr>
            <a:endParaRPr lang="en-US" sz="2400" dirty="0"/>
          </a:p>
          <a:p>
            <a:r>
              <a:rPr lang="en-US" sz="2400" b="1" dirty="0"/>
              <a:t>They are applying renormalization to extract effective structure</a:t>
            </a:r>
            <a:endParaRPr lang="en-US" sz="2400" dirty="0"/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108728357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36A453-A652-E0BF-3846-9CC835994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991E287D-6136-0FFE-7781-5F2FC97267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F729EA8C-4C90-4202-1D32-A1B4048EBD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94A88A0-C3E6-685E-C9F3-F97655DCE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1DA02A32-3BDA-E345-E520-66EEFC024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4D8F5E-4463-7382-72B0-89DF926BD132}"/>
              </a:ext>
            </a:extLst>
          </p:cNvPr>
          <p:cNvSpPr txBox="1"/>
          <p:nvPr/>
        </p:nvSpPr>
        <p:spPr>
          <a:xfrm>
            <a:off x="851704" y="1144603"/>
            <a:ext cx="11340296" cy="4893647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u="sng" dirty="0"/>
              <a:t>Mathematical Reasoning</a:t>
            </a:r>
          </a:p>
          <a:p>
            <a:pPr>
              <a:buNone/>
            </a:pPr>
            <a:r>
              <a:rPr lang="en-US" sz="2800" dirty="0"/>
              <a:t>Let the cost of computation for a model be proportional to the square of the number of variables used: Cost=O(n2)</a:t>
            </a:r>
          </a:p>
          <a:p>
            <a:pPr>
              <a:buNone/>
            </a:pPr>
            <a:r>
              <a:rPr lang="en-US" sz="2800" dirty="0"/>
              <a:t>Which of the following variable reductions would reduce the computational cost by </a:t>
            </a:r>
            <a:r>
              <a:rPr lang="en-US" sz="2800" b="1" dirty="0"/>
              <a:t>a factor greater than 10,000</a:t>
            </a:r>
            <a:r>
              <a:rPr lang="en-US" sz="2800" dirty="0"/>
              <a:t>?</a:t>
            </a:r>
          </a:p>
          <a:p>
            <a:pPr>
              <a:buNone/>
            </a:pPr>
            <a:endParaRPr lang="en-US" sz="2800" dirty="0"/>
          </a:p>
          <a:p>
            <a:r>
              <a:rPr lang="en-US" sz="2800" b="1" dirty="0"/>
              <a:t>A.</a:t>
            </a:r>
            <a:r>
              <a:rPr lang="en-US" sz="2800" dirty="0"/>
              <a:t> From 500 variables to 100 variables</a:t>
            </a:r>
            <a:br>
              <a:rPr lang="en-US" sz="2800" dirty="0"/>
            </a:br>
            <a:r>
              <a:rPr lang="en-US" sz="2800" b="1" dirty="0"/>
              <a:t>B.</a:t>
            </a:r>
            <a:r>
              <a:rPr lang="en-US" sz="2800" dirty="0"/>
              <a:t> From 1000 variables to 50 variables</a:t>
            </a:r>
            <a:br>
              <a:rPr lang="en-US" sz="2800" dirty="0"/>
            </a:br>
            <a:r>
              <a:rPr lang="en-US" sz="2800" b="1" dirty="0"/>
              <a:t>C.</a:t>
            </a:r>
            <a:r>
              <a:rPr lang="en-US" sz="2800" dirty="0"/>
              <a:t> From 1000 variables to 10 variables</a:t>
            </a:r>
            <a:br>
              <a:rPr lang="en-US" sz="2800" dirty="0"/>
            </a:br>
            <a:r>
              <a:rPr lang="en-US" sz="2800" b="1" dirty="0"/>
              <a:t>D.</a:t>
            </a:r>
            <a:r>
              <a:rPr lang="en-US" sz="2800" dirty="0"/>
              <a:t> From 1000 variables to 5 variables</a:t>
            </a:r>
            <a:br>
              <a:rPr lang="en-US" sz="2800" dirty="0"/>
            </a:br>
            <a:r>
              <a:rPr lang="en-US" sz="2800" b="1" dirty="0"/>
              <a:t>E.</a:t>
            </a:r>
            <a:r>
              <a:rPr lang="en-US" sz="2800" dirty="0"/>
              <a:t> From 200 variables to 20 variables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93903812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F65FDA-093B-98CD-0BAE-6C867330C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817A6DE1-32BE-026F-B7C4-14927D58E8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D7076E88-0EDA-0BE1-7045-AC5BD9E4C7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DE731F94-B7EA-B077-6771-5252B8159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F4C6135-446E-CEF6-4EE1-C40587B87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A60186-4582-2502-64B3-1FC01F59B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1893" y="1935740"/>
            <a:ext cx="7219164" cy="1597432"/>
          </a:xfrm>
          <a:prstGeom prst="rect">
            <a:avLst/>
          </a:prstGeom>
        </p:spPr>
      </p:pic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197736442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F68EE-E406-943B-5A9F-A488D3EE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9ECC7B2D-2B32-32D1-1F4F-B736AB7CE8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E3C19D9E-EBC5-47A1-D1DF-1EABB9901B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4F7D2782-CA2A-C70E-A3C1-004077D1C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36292C67-156E-6C0D-C1B0-F228ECC0A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E8B013-4570-0885-95FA-AFD488949B8E}"/>
              </a:ext>
            </a:extLst>
          </p:cNvPr>
          <p:cNvSpPr txBox="1"/>
          <p:nvPr/>
        </p:nvSpPr>
        <p:spPr>
          <a:xfrm>
            <a:off x="1530753" y="135081"/>
            <a:ext cx="90832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Computational Engineering – Heat Simulation in a Complex Material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530D03-E0F4-20D5-7626-A8522EFD9CA2}"/>
              </a:ext>
            </a:extLst>
          </p:cNvPr>
          <p:cNvSpPr txBox="1"/>
          <p:nvPr/>
        </p:nvSpPr>
        <p:spPr>
          <a:xfrm>
            <a:off x="423884" y="1508361"/>
            <a:ext cx="109071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An engineer simulates </a:t>
            </a:r>
            <a:r>
              <a:rPr lang="en-US" sz="2400" b="1" dirty="0"/>
              <a:t>heat diffusion</a:t>
            </a:r>
            <a:r>
              <a:rPr lang="en-US" sz="2400" dirty="0"/>
              <a:t> in a composite material with 1000×1000 grid points = </a:t>
            </a:r>
            <a:r>
              <a:rPr lang="en-US" sz="2400" b="1" dirty="0"/>
              <a:t>1 million nodes , </a:t>
            </a:r>
            <a:r>
              <a:rPr lang="en-US" sz="2400" dirty="0"/>
              <a:t>Each node has 10 properties (temperature, conductivity, pressure, etc.) Governing equation (e.g. Finite Element Method)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FE393A-BC57-1240-266D-EDD6ED8FC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2322" y="2673321"/>
            <a:ext cx="2784615" cy="10464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964437-71DD-8FDF-63F7-41935DA5CF50}"/>
              </a:ext>
            </a:extLst>
          </p:cNvPr>
          <p:cNvSpPr txBox="1"/>
          <p:nvPr/>
        </p:nvSpPr>
        <p:spPr>
          <a:xfrm>
            <a:off x="1796972" y="3779979"/>
            <a:ext cx="93031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Tries to simulate </a:t>
            </a:r>
            <a:r>
              <a:rPr lang="en-US" sz="2400" b="1" dirty="0"/>
              <a:t>every node</a:t>
            </a:r>
            <a:r>
              <a:rPr lang="en-US" sz="2400" dirty="0"/>
              <a:t> and every variable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Complexity grows as O(n^2) or worse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Requires high-performance computing (HPC) cluster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❌ Expensive, slow, and hard to interpret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313914363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9B239F-F2B7-5838-7AEA-DB5E4AED0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D0E5ABC6-23E4-F75F-2A9D-441F60451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56C499DE-BFC0-7A4F-74A8-AA32A90528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4A3E25DE-CE4F-4A4C-488B-3A26DA56B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5C105E9A-1214-8736-3DA0-C19C34F55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D9DCF7-92BD-2448-C956-5146318412DA}"/>
              </a:ext>
            </a:extLst>
          </p:cNvPr>
          <p:cNvSpPr txBox="1"/>
          <p:nvPr/>
        </p:nvSpPr>
        <p:spPr>
          <a:xfrm>
            <a:off x="1762246" y="843981"/>
            <a:ext cx="86618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Renormalization-Inspired Engineering</a:t>
            </a:r>
          </a:p>
          <a:p>
            <a:pPr>
              <a:buNone/>
            </a:pPr>
            <a:r>
              <a:rPr lang="en-US" sz="2000" dirty="0"/>
              <a:t>Instead of simulating all nodes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Group regions with similar behavior (coarse graining)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Track </a:t>
            </a:r>
            <a:r>
              <a:rPr lang="en-US" sz="2000" b="1" dirty="0"/>
              <a:t>macrozones</a:t>
            </a:r>
            <a:r>
              <a:rPr lang="en-US" sz="2000" dirty="0"/>
              <a:t> regions with similar temperature gradients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Extract </a:t>
            </a:r>
            <a:r>
              <a:rPr lang="en-US" sz="2000" b="1" dirty="0"/>
              <a:t>effective conductivity</a:t>
            </a:r>
            <a:r>
              <a:rPr lang="en-US" sz="2000" dirty="0"/>
              <a:t> </a:t>
            </a:r>
            <a:r>
              <a:rPr lang="en-US" sz="2000" dirty="0" err="1"/>
              <a:t>keffk</a:t>
            </a:r>
            <a:r>
              <a:rPr lang="en-US" sz="2000" dirty="0"/>
              <a:t>​ and macro-heat flow </a:t>
            </a:r>
            <a:r>
              <a:rPr lang="en-US" sz="2000" dirty="0" err="1"/>
              <a:t>Qeff</a:t>
            </a:r>
            <a:endParaRPr lang="en-US" sz="2000" dirty="0"/>
          </a:p>
          <a:p>
            <a:r>
              <a:rPr lang="en-US" sz="2000" dirty="0"/>
              <a:t>Use </a:t>
            </a:r>
            <a:r>
              <a:rPr lang="en-US" sz="2000" b="1" dirty="0"/>
              <a:t>multi-scale modeling</a:t>
            </a:r>
            <a:r>
              <a:rPr lang="en-US" sz="2000" dirty="0"/>
              <a:t> or </a:t>
            </a:r>
            <a:r>
              <a:rPr lang="en-US" sz="2000" b="1" dirty="0"/>
              <a:t>homogenization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495037-BF65-65E9-7F30-8832B42F9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5219" y="3429000"/>
            <a:ext cx="3733129" cy="9376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61B303-3F1D-C2FC-E76C-FE45001DF590}"/>
              </a:ext>
            </a:extLst>
          </p:cNvPr>
          <p:cNvSpPr txBox="1"/>
          <p:nvPr/>
        </p:nvSpPr>
        <p:spPr>
          <a:xfrm>
            <a:off x="1762245" y="4629024"/>
            <a:ext cx="85160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10×10 coarse grid instead of 1000×1000</a:t>
            </a:r>
            <a:br>
              <a:rPr lang="en-US" sz="2800" dirty="0"/>
            </a:br>
            <a:r>
              <a:rPr lang="en-US" sz="2800" dirty="0"/>
              <a:t>Retains key behavior</a:t>
            </a:r>
            <a:br>
              <a:rPr lang="en-US" sz="2800" dirty="0"/>
            </a:br>
            <a:r>
              <a:rPr lang="en-US" sz="2800" dirty="0"/>
              <a:t> Simulation cost drops from O(10^6) to O(10^2)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3874453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CD7A0-0E2A-DF60-EB86-20D03ED3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4DD665B8-C1E8-C264-65BD-0580DE19A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7C0D1CE8-F4D0-59F4-B1AD-24FB89C41E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F1AE9F68-DA64-E0CD-30CE-44520F5E7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98446343-E361-23B6-985C-D055BFD6D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AC6F0D-2DBA-C986-4981-D0C10A3AE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382556"/>
              </p:ext>
            </p:extLst>
          </p:nvPr>
        </p:nvGraphicFramePr>
        <p:xfrm>
          <a:off x="643467" y="1200170"/>
          <a:ext cx="10905067" cy="4457660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65000"/>
                    <a:lumOff val="35000"/>
                  </a:schemeClr>
                </a:solidFill>
              </a:tblPr>
              <a:tblGrid>
                <a:gridCol w="3720348">
                  <a:extLst>
                    <a:ext uri="{9D8B030D-6E8A-4147-A177-3AD203B41FA5}">
                      <a16:colId xmlns:a16="http://schemas.microsoft.com/office/drawing/2014/main" val="2496350265"/>
                    </a:ext>
                  </a:extLst>
                </a:gridCol>
                <a:gridCol w="3410617">
                  <a:extLst>
                    <a:ext uri="{9D8B030D-6E8A-4147-A177-3AD203B41FA5}">
                      <a16:colId xmlns:a16="http://schemas.microsoft.com/office/drawing/2014/main" val="3227090366"/>
                    </a:ext>
                  </a:extLst>
                </a:gridCol>
                <a:gridCol w="3774102">
                  <a:extLst>
                    <a:ext uri="{9D8B030D-6E8A-4147-A177-3AD203B41FA5}">
                      <a16:colId xmlns:a16="http://schemas.microsoft.com/office/drawing/2014/main" val="2565668525"/>
                    </a:ext>
                  </a:extLst>
                </a:gridCol>
              </a:tblGrid>
              <a:tr h="1091070">
                <a:tc>
                  <a:txBody>
                    <a:bodyPr/>
                    <a:lstStyle/>
                    <a:p>
                      <a:r>
                        <a:rPr lang="en-US" sz="1900" b="1" cap="all" spc="6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221163" marR="221163" marT="221163" marB="22116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cap="all" spc="60">
                          <a:solidFill>
                            <a:schemeClr val="tx1"/>
                          </a:solidFill>
                        </a:rPr>
                        <a:t>Classical FEM/CFD</a:t>
                      </a:r>
                    </a:p>
                  </a:txBody>
                  <a:tcPr marL="221163" marR="221163" marT="221163" marB="22116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cap="all" spc="60">
                          <a:solidFill>
                            <a:schemeClr val="tx1"/>
                          </a:solidFill>
                        </a:rPr>
                        <a:t>Renormalization-inspired</a:t>
                      </a:r>
                    </a:p>
                  </a:txBody>
                  <a:tcPr marL="221163" marR="221163" marT="221163" marB="22116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016034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Nodes Simulated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1,000,000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100–200 macro-nodes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63156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Complexity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O(n²)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600" cap="none" spc="0">
                          <a:solidFill>
                            <a:schemeClr val="bg1"/>
                          </a:solidFill>
                        </a:rPr>
                        <a:t>O(k²), where k ≪ n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66280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Time to Solve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Hours or days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Minutes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083050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Interpretable Behavior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Hard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 Clear macro-laws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63245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Adaptability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 Poor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 Multi-scale ready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26382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E9C0C02-E94C-76A7-4F08-085A07ADFEA0}"/>
              </a:ext>
            </a:extLst>
          </p:cNvPr>
          <p:cNvSpPr txBox="1"/>
          <p:nvPr/>
        </p:nvSpPr>
        <p:spPr>
          <a:xfrm>
            <a:off x="1770926" y="690540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109160787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A2788-E7A9-53B8-F071-CB6E3F855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D5E2BAF4-132E-DD5B-AA33-52C37702F4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3B50B51-CF6B-E72E-4B86-7C3AC41427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gradFill>
            <a:gsLst>
              <a:gs pos="33566">
                <a:schemeClr val="accent4">
                  <a:lumMod val="45000"/>
                  <a:lumOff val="5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CA8DABFD-1929-153B-E97D-A20B34FF3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44CFBD81-0BF4-BA95-C35A-995000E70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3199FE-0C7A-8C3A-97D1-D5C5ABF1E2D4}"/>
              </a:ext>
            </a:extLst>
          </p:cNvPr>
          <p:cNvSpPr txBox="1"/>
          <p:nvPr/>
        </p:nvSpPr>
        <p:spPr>
          <a:xfrm>
            <a:off x="535329" y="1607590"/>
            <a:ext cx="1086573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An engineer models heat flow in a large mechanical structure using 1 million nodes. They switch to a renormalization-inspired model that clusters regions and simulates only 100 macro-nodes. Assuming computational complexity is proportional to the square of the number of nodes, what is the approximate reduction in operations?</a:t>
            </a:r>
          </a:p>
          <a:p>
            <a:r>
              <a:rPr lang="en-US" sz="2400" b="1" dirty="0"/>
              <a:t>A.</a:t>
            </a:r>
            <a:r>
              <a:rPr lang="en-US" sz="2400" dirty="0"/>
              <a:t> 10×</a:t>
            </a:r>
            <a:br>
              <a:rPr lang="en-US" sz="2400" dirty="0"/>
            </a:br>
            <a:r>
              <a:rPr lang="en-US" sz="2400" b="1" dirty="0"/>
              <a:t>B.</a:t>
            </a:r>
            <a:r>
              <a:rPr lang="en-US" sz="2400" dirty="0"/>
              <a:t> 100×</a:t>
            </a:r>
            <a:br>
              <a:rPr lang="en-US" sz="2400" dirty="0"/>
            </a:br>
            <a:r>
              <a:rPr lang="en-US" sz="2400" b="1" dirty="0"/>
              <a:t>C.</a:t>
            </a:r>
            <a:r>
              <a:rPr lang="en-US" sz="2400" dirty="0"/>
              <a:t> 1,000×</a:t>
            </a:r>
            <a:br>
              <a:rPr lang="en-US" sz="2400" dirty="0"/>
            </a:br>
            <a:r>
              <a:rPr lang="en-US" sz="2400" b="1" dirty="0"/>
              <a:t>D.</a:t>
            </a:r>
            <a:r>
              <a:rPr lang="en-US" sz="2400" dirty="0"/>
              <a:t> 10,000×</a:t>
            </a:r>
            <a:br>
              <a:rPr lang="en-US" sz="2400" dirty="0"/>
            </a:br>
            <a:r>
              <a:rPr lang="en-US" sz="2400" b="1" dirty="0"/>
              <a:t>E.</a:t>
            </a:r>
            <a:r>
              <a:rPr lang="en-US" sz="2400" dirty="0"/>
              <a:t> 1,000,000×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1EC823-F6AA-8170-11BA-7E8E129D9477}"/>
              </a:ext>
            </a:extLst>
          </p:cNvPr>
          <p:cNvSpPr txBox="1"/>
          <p:nvPr/>
        </p:nvSpPr>
        <p:spPr>
          <a:xfrm>
            <a:off x="1770926" y="690540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31924766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A4F7A-B1B3-EC60-6C44-A0BD8F8C4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8116F29A-E83B-8798-5C70-289CC65ED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E09C0FC2-AE48-F644-D6FF-EC5E137C09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FE0B2699-0A67-0310-6A92-78DA1A49A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F05249B4-CBC6-8E0D-9692-6921664FC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631E0B-3944-C72B-4523-03BFB05C7D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708" y="1154968"/>
            <a:ext cx="2712759" cy="18569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2999E6-C57E-C91B-9E68-3F292491E39E}"/>
              </a:ext>
            </a:extLst>
          </p:cNvPr>
          <p:cNvSpPr txBox="1"/>
          <p:nvPr/>
        </p:nvSpPr>
        <p:spPr>
          <a:xfrm>
            <a:off x="976696" y="3429000"/>
            <a:ext cx="9713584" cy="2677656"/>
          </a:xfrm>
          <a:prstGeom prst="rect">
            <a:avLst/>
          </a:prstGeom>
          <a:gradFill>
            <a:gsLst>
              <a:gs pos="33566">
                <a:schemeClr val="accent4">
                  <a:lumMod val="45000"/>
                  <a:lumOff val="5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US" sz="2800" dirty="0"/>
              <a:t>In computational engineering, </a:t>
            </a:r>
            <a:r>
              <a:rPr lang="en-US" sz="2800" b="1" dirty="0"/>
              <a:t>renormalization</a:t>
            </a:r>
            <a:r>
              <a:rPr lang="en-US" sz="2800" dirty="0"/>
              <a:t> helps simplify large simulations by identifying </a:t>
            </a:r>
            <a:r>
              <a:rPr lang="en-US" sz="2800" b="1" dirty="0"/>
              <a:t>effective parameters</a:t>
            </a:r>
            <a:r>
              <a:rPr lang="en-US" sz="2800" dirty="0"/>
              <a:t> at the right scale.</a:t>
            </a:r>
          </a:p>
          <a:p>
            <a:br>
              <a:rPr lang="en-US" sz="2800" dirty="0"/>
            </a:br>
            <a:r>
              <a:rPr lang="en-US" sz="2800" dirty="0"/>
              <a:t>It allows engineers to move from </a:t>
            </a:r>
            <a:r>
              <a:rPr lang="en-US" sz="2800" b="1" dirty="0"/>
              <a:t>microscale chaos</a:t>
            </a:r>
            <a:r>
              <a:rPr lang="en-US" sz="2800" dirty="0"/>
              <a:t> to </a:t>
            </a:r>
            <a:r>
              <a:rPr lang="en-US" sz="2800" b="1" dirty="0"/>
              <a:t>macroscale insight</a:t>
            </a:r>
            <a:r>
              <a:rPr lang="en-US" sz="2800" dirty="0"/>
              <a:t> — with </a:t>
            </a:r>
            <a:r>
              <a:rPr lang="en-US" sz="2800" b="1" dirty="0"/>
              <a:t>massive computational savings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484723-11D0-37B9-42AD-EED893B3A289}"/>
              </a:ext>
            </a:extLst>
          </p:cNvPr>
          <p:cNvSpPr txBox="1"/>
          <p:nvPr/>
        </p:nvSpPr>
        <p:spPr>
          <a:xfrm>
            <a:off x="1770926" y="690540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10585653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5720C1-3F01-2904-7E08-CF9BCC75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1D97BF8A-BB68-E5AE-A85A-0E79CA1C49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16B2A883-13DB-64D8-474D-29BC0A0CDD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DCA2C4E2-D088-7279-BF63-AEE971361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D3DD9D1B-9A9E-A9A4-7631-4AAFCBF8F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40279F-0A00-02CA-28B2-C6A878E74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861463"/>
            <a:ext cx="1036611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 hospital AI is trained to detect early sepsis. It initially uses 300 signals per patient, but then applies a method to compress them into 5 latent variables while retaining 97% of predictive power. This resembles: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A. Linear regression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B. Decision trees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C. Renormalization group method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D. t-SNE visualization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E. Logistic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E889F0-0891-8A5A-9508-4E28CE37C673}"/>
              </a:ext>
            </a:extLst>
          </p:cNvPr>
          <p:cNvSpPr txBox="1"/>
          <p:nvPr/>
        </p:nvSpPr>
        <p:spPr>
          <a:xfrm>
            <a:off x="780306" y="4426877"/>
            <a:ext cx="112766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Renormalization is not just for quantum physics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It can be the foundation of a next-gen </a:t>
            </a:r>
            <a:r>
              <a:rPr lang="en-US" sz="2400" b="1" dirty="0"/>
              <a:t>medical startup</a:t>
            </a:r>
            <a:r>
              <a:rPr lang="en-US" sz="2400" dirty="0"/>
              <a:t> that deals with </a:t>
            </a:r>
            <a:r>
              <a:rPr lang="en-US" sz="2400" b="1" dirty="0"/>
              <a:t>big health data</a:t>
            </a:r>
            <a:r>
              <a:rPr lang="en-US" sz="2400" dirty="0"/>
              <a:t>, focuses on </a:t>
            </a:r>
            <a:r>
              <a:rPr lang="en-US" sz="2400" b="1" dirty="0"/>
              <a:t>emergent patterns</a:t>
            </a:r>
            <a:r>
              <a:rPr lang="en-US" sz="2400" dirty="0"/>
              <a:t>, and delivers </a:t>
            </a:r>
            <a:r>
              <a:rPr lang="en-US" sz="2400" b="1" dirty="0"/>
              <a:t>interpretable, scalable AI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1B9676-B0E5-71A8-9A86-9EC0B17D65FD}"/>
              </a:ext>
            </a:extLst>
          </p:cNvPr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56121368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A413C0-5A8E-CDE6-79C6-EF849A72B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FD66B21A-DF43-5EE9-C8CA-7C3CEF9712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CDAED6EF-6EB3-A290-17DD-6BF17C1DBA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91E63D3-8A18-AB92-66BA-35294711F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D86A3412-4BDB-8E55-A0D3-861A278E5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DBEA7E-8C05-C94F-298E-3080C1FD4B05}"/>
              </a:ext>
            </a:extLst>
          </p:cNvPr>
          <p:cNvSpPr txBox="1"/>
          <p:nvPr/>
        </p:nvSpPr>
        <p:spPr>
          <a:xfrm>
            <a:off x="1770926" y="690540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47C7F-DA25-810F-1F53-98027DE13306}"/>
              </a:ext>
            </a:extLst>
          </p:cNvPr>
          <p:cNvSpPr txBox="1"/>
          <p:nvPr/>
        </p:nvSpPr>
        <p:spPr>
          <a:xfrm>
            <a:off x="780307" y="1607105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Supply Chain Reaction Modeling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38DAB-B7D5-A8B7-FA77-09FED83EF61E}"/>
              </a:ext>
            </a:extLst>
          </p:cNvPr>
          <p:cNvSpPr txBox="1"/>
          <p:nvPr/>
        </p:nvSpPr>
        <p:spPr>
          <a:xfrm>
            <a:off x="710477" y="4373957"/>
            <a:ext cx="82874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Application</a:t>
            </a:r>
            <a:r>
              <a:rPr lang="en-US" sz="2400" dirty="0"/>
              <a:t>: Amazon, Walmart, Tesla’s EV supply optimization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5A641C9-FEAD-D831-B7BB-6B0506F04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373" y="2210898"/>
            <a:ext cx="828747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Factories, logistics hubs, and retailers are like oscillators.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 or disruption at one node affects the entire chain (bullwhip effect).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SHM models help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oscillation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prediction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resilience modeling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15580423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2AA979-FEEF-4E4E-F6FA-C174D82D6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C5197351-3CDB-3E48-68F2-2F8B9D13CB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E4E55FA6-1F23-616B-6EC3-160903EA3A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0EAB3ED-4809-3E74-5093-0D9E67F75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4301735C-5A03-6224-8614-B4820F163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44CB03-6A77-5B27-E16C-E456349AF5BC}"/>
              </a:ext>
            </a:extLst>
          </p:cNvPr>
          <p:cNvSpPr txBox="1"/>
          <p:nvPr/>
        </p:nvSpPr>
        <p:spPr>
          <a:xfrm>
            <a:off x="1352796" y="948660"/>
            <a:ext cx="958094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Amazon , </a:t>
            </a:r>
            <a:r>
              <a:rPr lang="en-US" sz="2800" b="1" i="1" dirty="0"/>
              <a:t>Supply Chain Oscillations &amp; Demand Propagation</a:t>
            </a: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Uses </a:t>
            </a:r>
            <a:r>
              <a:rPr lang="en-US" sz="2800" b="1" dirty="0"/>
              <a:t>system dynamics</a:t>
            </a:r>
            <a:r>
              <a:rPr lang="en-US" sz="2800" dirty="0"/>
              <a:t> and </a:t>
            </a:r>
            <a:r>
              <a:rPr lang="en-US" sz="2800" b="1" dirty="0"/>
              <a:t>coupled models</a:t>
            </a:r>
            <a:r>
              <a:rPr lang="en-US" sz="2800" dirty="0"/>
              <a:t> to manage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Inventory across fulfillment centers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Delays and ripples in logistics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Customer demand response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Equivalent to </a:t>
            </a:r>
            <a:r>
              <a:rPr lang="en-US" sz="2800" b="1" dirty="0"/>
              <a:t>oscillator chains</a:t>
            </a:r>
            <a:r>
              <a:rPr lang="en-US" sz="2800" dirty="0"/>
              <a:t> a disruption at one node (delivery center) propagates</a:t>
            </a:r>
          </a:p>
          <a:p>
            <a:endParaRPr lang="en-US" sz="2800" b="1" dirty="0"/>
          </a:p>
          <a:p>
            <a:r>
              <a:rPr lang="en-US" sz="2800" b="1" dirty="0"/>
              <a:t>Renormalization Logic </a:t>
            </a:r>
            <a:r>
              <a:rPr lang="en-US" sz="2800" dirty="0"/>
              <a:t>Aggregates demand by region or category to avoid computation overload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5BC79D-B8DF-1BC7-4A19-5CB9A499A767}"/>
              </a:ext>
            </a:extLst>
          </p:cNvPr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306185421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D151DF-3B0D-26AF-2864-61B03BD7C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21D3E2E9-414E-30EA-39ED-9A239F3D5E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C6CA9AD5-4D8A-6914-042D-AAC79B51B6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FEE1CEE-101E-53DB-8B73-E57096E68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DAB379D7-CC66-C994-D5E7-CAB9762AE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454A3D-0977-14DF-4A86-BC0166D3E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577845"/>
              </p:ext>
            </p:extLst>
          </p:nvPr>
        </p:nvGraphicFramePr>
        <p:xfrm>
          <a:off x="874961" y="972811"/>
          <a:ext cx="10905067" cy="5105023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</a:tblPr>
              <a:tblGrid>
                <a:gridCol w="3108691">
                  <a:extLst>
                    <a:ext uri="{9D8B030D-6E8A-4147-A177-3AD203B41FA5}">
                      <a16:colId xmlns:a16="http://schemas.microsoft.com/office/drawing/2014/main" val="1775327903"/>
                    </a:ext>
                  </a:extLst>
                </a:gridCol>
                <a:gridCol w="7796376">
                  <a:extLst>
                    <a:ext uri="{9D8B030D-6E8A-4147-A177-3AD203B41FA5}">
                      <a16:colId xmlns:a16="http://schemas.microsoft.com/office/drawing/2014/main" val="2376315595"/>
                    </a:ext>
                  </a:extLst>
                </a:gridCol>
              </a:tblGrid>
              <a:tr h="659979"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Company</a:t>
                      </a: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What They Do</a:t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49394382"/>
                  </a:ext>
                </a:extLst>
              </a:tr>
              <a:tr h="1107644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Google DeepMind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Uses </a:t>
                      </a:r>
                      <a:r>
                        <a:rPr lang="en-US" sz="2400" b="1" cap="none" spc="0" dirty="0">
                          <a:solidFill>
                            <a:schemeClr val="tx1"/>
                          </a:solidFill>
                        </a:rPr>
                        <a:t>renormalization group theory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 for neural net scaling (e.g., AlphaFold, AlphaGo)</a:t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790936380"/>
                  </a:ext>
                </a:extLst>
              </a:tr>
              <a:tr h="1107644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IBM Quantum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Uses renormalization in </a:t>
                      </a:r>
                      <a:r>
                        <a:rPr lang="en-US" sz="2400" b="1" cap="none" spc="0" dirty="0">
                          <a:solidFill>
                            <a:schemeClr val="tx1"/>
                          </a:solidFill>
                        </a:rPr>
                        <a:t>tensor networks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 for quantum circuit compression</a:t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817100932"/>
                  </a:ext>
                </a:extLst>
              </a:tr>
              <a:tr h="1107644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Palantir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Aggregates low-level data into </a:t>
                      </a:r>
                      <a:r>
                        <a:rPr lang="en-US" sz="2400" b="1" cap="none" spc="0" dirty="0">
                          <a:solidFill>
                            <a:schemeClr val="tx1"/>
                          </a:solidFill>
                        </a:rPr>
                        <a:t>macro patterns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 — same logic as renormalization</a:t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42965995"/>
                  </a:ext>
                </a:extLst>
              </a:tr>
              <a:tr h="1107644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Airbnb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Uses zone-level market models to simplify demand/supply planning</a:t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597411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6DDDF7-389F-466D-7396-C5D9F7F976E5}"/>
              </a:ext>
            </a:extLst>
          </p:cNvPr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303049696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39000">
              <a:schemeClr val="accent1">
                <a:lumMod val="50000"/>
              </a:schemeClr>
            </a:gs>
            <a:gs pos="63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0A6CD-16B2-7B6F-5CDE-9673D7CB7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D9B123E-5ADE-71A7-A60C-B3D6DD8C67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205653F-2F1E-860A-A31D-4193ABCE4E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1C404883-42D7-B801-ADCF-9E43EB09D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AF7FD2E9-66B2-C9C2-6EC7-92718DE65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D52976-DCD1-B3A7-416C-399C17C64D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000" y="742873"/>
            <a:ext cx="5663125" cy="24121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F7D2FF-977B-00A8-F366-4DD9256AC9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4656" y="4696860"/>
            <a:ext cx="7348301" cy="1971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B36B03-74FB-4B0C-3972-9D23F7CD1A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818" y="3155049"/>
            <a:ext cx="7042745" cy="15418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6C0FE0-81ED-A4FF-CF06-CB0C4F7B3B01}"/>
              </a:ext>
            </a:extLst>
          </p:cNvPr>
          <p:cNvSpPr txBox="1"/>
          <p:nvPr/>
        </p:nvSpPr>
        <p:spPr>
          <a:xfrm>
            <a:off x="1428990" y="96542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8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59212092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chemeClr val="accent4">
                <a:lumMod val="45000"/>
                <a:lumOff val="55000"/>
              </a:schemeClr>
            </a:gs>
            <a:gs pos="74000">
              <a:schemeClr val="tx2">
                <a:lumMod val="90000"/>
                <a:lumOff val="10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35DBED-A242-B3B1-DF98-0706E7C15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12C02FF0-5838-9C42-220E-41589C22A4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C5B7A618-9C03-9287-6493-D3984B81A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8AFA2947-C04C-812B-80B7-72CE7D5E4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7E5609C-B9FA-90B1-38E8-274AC30EA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E2A4B4-2245-B1EF-1915-A3074D525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03" y="1551583"/>
            <a:ext cx="11517846" cy="42675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E5A717-D076-93EE-980C-F78D867785B4}"/>
              </a:ext>
            </a:extLst>
          </p:cNvPr>
          <p:cNvSpPr txBox="1"/>
          <p:nvPr/>
        </p:nvSpPr>
        <p:spPr>
          <a:xfrm>
            <a:off x="1921397" y="597476"/>
            <a:ext cx="86810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080808"/>
                </a:solidFill>
                <a:effectLst/>
                <a:latin typeface="GothamSSm-light"/>
              </a:rPr>
              <a:t>Perimeter Institute Quantum Intelligence Lab (</a:t>
            </a:r>
            <a:r>
              <a:rPr lang="en-US" sz="2800" b="1" i="0" dirty="0" err="1">
                <a:solidFill>
                  <a:srgbClr val="080808"/>
                </a:solidFill>
                <a:effectLst/>
                <a:latin typeface="GothamSSm-light"/>
              </a:rPr>
              <a:t>PIQuIL</a:t>
            </a:r>
            <a:r>
              <a:rPr lang="en-US" sz="2800" b="1" i="0" dirty="0">
                <a:solidFill>
                  <a:srgbClr val="080808"/>
                </a:solidFill>
                <a:effectLst/>
                <a:latin typeface="GothamSSm-light"/>
              </a:rPr>
              <a:t>)</a:t>
            </a:r>
            <a:endParaRPr lang="en-US" sz="2800" b="1" dirty="0"/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306554658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38000">
              <a:schemeClr val="tx2">
                <a:lumMod val="90000"/>
                <a:lumOff val="1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6B622E-7E30-E5DB-904C-80937E8BA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60E8C10C-66B1-93EF-AE24-054FB9F269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D31BC47F-ED13-BC95-AEC3-E1A89451AF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B02DF0C0-24D5-0BFA-8737-2FE677B39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E3ED38EA-EDCA-260A-1080-2CA9428ED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F5469F-248B-0EB5-A9A2-B9C9F73B89F7}"/>
              </a:ext>
            </a:extLst>
          </p:cNvPr>
          <p:cNvSpPr txBox="1"/>
          <p:nvPr/>
        </p:nvSpPr>
        <p:spPr>
          <a:xfrm>
            <a:off x="1973363" y="5346374"/>
            <a:ext cx="8932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RG Signature</a:t>
            </a:r>
            <a:r>
              <a:rPr lang="en-US" dirty="0"/>
              <a:t> They use </a:t>
            </a:r>
            <a:r>
              <a:rPr lang="en-US" b="1" dirty="0"/>
              <a:t>Matrix Product States (MPS)</a:t>
            </a:r>
            <a:r>
              <a:rPr lang="en-US" dirty="0"/>
              <a:t> and </a:t>
            </a:r>
            <a:r>
              <a:rPr lang="en-US" b="1" dirty="0"/>
              <a:t>DMRG-like structures</a:t>
            </a:r>
            <a:r>
              <a:rPr lang="en-US" dirty="0"/>
              <a:t>, which are formal RG tools from quantum physics.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7B1D3-1D0D-DDB5-7237-B66427438893}"/>
              </a:ext>
            </a:extLst>
          </p:cNvPr>
          <p:cNvSpPr txBox="1"/>
          <p:nvPr/>
        </p:nvSpPr>
        <p:spPr>
          <a:xfrm>
            <a:off x="2663504" y="682794"/>
            <a:ext cx="72400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/>
              <a:t>Multiverse Computing (Spain/Canada)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8231D9-69C5-7831-BEBC-DA38A7E01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207" y="1601482"/>
            <a:ext cx="7027984" cy="27364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16F6FF-2560-4B10-3856-44E5BDF806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9298" y="2206216"/>
            <a:ext cx="7350436" cy="2488784"/>
          </a:xfrm>
          <a:prstGeom prst="rect">
            <a:avLst/>
          </a:prstGeom>
        </p:spPr>
      </p:pic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7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41943407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4000">
              <a:schemeClr val="tx2">
                <a:lumMod val="90000"/>
                <a:lumOff val="1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508FF-C625-E5F9-AD41-75D084E18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733092AD-0C36-AE47-A51B-EED21685DB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0A1BB00F-28EC-9373-391C-423BA01BA8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65883CE-A91E-FAE7-18CB-C66A93F7E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C7B658A8-907C-8DCC-6297-8D8F0F0DA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8708D5-5514-31C3-1CE3-82375253F19B}"/>
              </a:ext>
            </a:extLst>
          </p:cNvPr>
          <p:cNvSpPr txBox="1"/>
          <p:nvPr/>
        </p:nvSpPr>
        <p:spPr>
          <a:xfrm>
            <a:off x="1973363" y="5346374"/>
            <a:ext cx="8932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RG Signature </a:t>
            </a:r>
            <a:r>
              <a:rPr lang="en-US" dirty="0"/>
              <a:t>They use </a:t>
            </a:r>
            <a:r>
              <a:rPr lang="en-US" b="1" dirty="0"/>
              <a:t>Matrix Product States (MPS)</a:t>
            </a:r>
            <a:r>
              <a:rPr lang="en-US" dirty="0"/>
              <a:t> and </a:t>
            </a:r>
            <a:r>
              <a:rPr lang="en-US" b="1" dirty="0"/>
              <a:t>DMRG-like structures</a:t>
            </a:r>
            <a:r>
              <a:rPr lang="en-US" dirty="0"/>
              <a:t>, which are formal RG tools from quantum physics.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0F5F73-ED66-3B49-E59E-97FAEB017F0B}"/>
              </a:ext>
            </a:extLst>
          </p:cNvPr>
          <p:cNvSpPr txBox="1"/>
          <p:nvPr/>
        </p:nvSpPr>
        <p:spPr>
          <a:xfrm>
            <a:off x="3265388" y="228144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Multiverse Computing (Spain/Canada)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9757B8-1AD3-9C9D-E6AB-5E979B1F79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3363" y="1097250"/>
            <a:ext cx="6857518" cy="3975901"/>
          </a:xfrm>
          <a:prstGeom prst="rect">
            <a:avLst/>
          </a:prstGeom>
        </p:spPr>
      </p:pic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09029348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31000">
              <a:schemeClr val="tx2">
                <a:lumMod val="90000"/>
                <a:lumOff val="1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9B6AC-C8A8-45D9-C651-DBDCCC6B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D433315C-66C9-97FA-5CAA-E336C87F7E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A19C5FFF-4D5A-B78E-CFDB-2A9DB6CD72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DA473865-231A-B41B-30A0-92FB022C6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84DBA962-C684-52E2-A15E-3E14A35B1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596EFA-AE6D-62C3-7F23-055F78CE68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585" y="1922319"/>
            <a:ext cx="11328937" cy="29506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B51DB8-8FB8-1A17-70EB-2F4358A50013}"/>
              </a:ext>
            </a:extLst>
          </p:cNvPr>
          <p:cNvSpPr txBox="1"/>
          <p:nvPr/>
        </p:nvSpPr>
        <p:spPr>
          <a:xfrm>
            <a:off x="3265388" y="228144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Multiverse Computing (Spain/Canada)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21862925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24000">
              <a:schemeClr val="tx2">
                <a:lumMod val="90000"/>
                <a:lumOff val="1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F0DA9E-CA6C-5449-3A60-CD46A86EE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4FD834E2-AF8D-AFC3-2D75-43754EDF19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A2C10DFF-8A2E-3074-275B-AFE71D0DA2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093A0C86-5682-D699-15D2-197DEA700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1BB773EB-987A-A7E8-7386-2A356C719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EB548B-0695-00B3-71EA-A3DD58DD27C5}"/>
              </a:ext>
            </a:extLst>
          </p:cNvPr>
          <p:cNvSpPr txBox="1"/>
          <p:nvPr/>
        </p:nvSpPr>
        <p:spPr>
          <a:xfrm>
            <a:off x="1788168" y="5130513"/>
            <a:ext cx="8932762" cy="646331"/>
          </a:xfrm>
          <a:prstGeom prst="rect">
            <a:avLst/>
          </a:prstGeom>
          <a:gradFill>
            <a:gsLst>
              <a:gs pos="24000">
                <a:schemeClr val="accent4">
                  <a:lumMod val="45000"/>
                  <a:lumOff val="5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US" b="1" dirty="0"/>
              <a:t>RG Signature</a:t>
            </a:r>
            <a:r>
              <a:rPr lang="en-US" dirty="0"/>
              <a:t> They use </a:t>
            </a:r>
            <a:r>
              <a:rPr lang="en-US" b="1" dirty="0"/>
              <a:t>Matrix Product States (MPS)</a:t>
            </a:r>
            <a:r>
              <a:rPr lang="en-US" dirty="0"/>
              <a:t> and </a:t>
            </a:r>
            <a:r>
              <a:rPr lang="en-US" b="1" dirty="0"/>
              <a:t>DMRG-like structures</a:t>
            </a:r>
            <a:r>
              <a:rPr lang="en-US" dirty="0"/>
              <a:t>, which are formal RG tools from quantum physics.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B711DD-EC15-5B9F-9B88-67DAB56723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875" y="1705603"/>
            <a:ext cx="9197580" cy="3149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82434A-45AA-20F3-5E45-C32C27C6D4AD}"/>
              </a:ext>
            </a:extLst>
          </p:cNvPr>
          <p:cNvSpPr txBox="1"/>
          <p:nvPr/>
        </p:nvSpPr>
        <p:spPr>
          <a:xfrm>
            <a:off x="3265388" y="228144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Multiverse Computing (Spain/Canada)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195431727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flip="none" rotWithShape="1">
          <a:gsLst>
            <a:gs pos="31000">
              <a:schemeClr val="tx2">
                <a:lumMod val="90000"/>
                <a:lumOff val="1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948B14-E4E1-29B3-6D6E-FC1F74C4A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DA2AE46C-90FE-9BBD-100A-49E081E455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14ABEB4C-BAC9-2098-8AB5-8FD04D882C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DA31632-4EC0-810D-47DF-FF8CC7658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5469D8F8-9053-0257-91C5-13044FEB0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0ADC2B-B5E8-DCBF-BAC0-180B2076B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310" y="1661619"/>
            <a:ext cx="10586815" cy="30492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1345A1-B01E-81C3-7B88-744647742751}"/>
              </a:ext>
            </a:extLst>
          </p:cNvPr>
          <p:cNvSpPr txBox="1"/>
          <p:nvPr/>
        </p:nvSpPr>
        <p:spPr>
          <a:xfrm>
            <a:off x="1938640" y="5865918"/>
            <a:ext cx="8967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RG Signature </a:t>
            </a:r>
            <a:r>
              <a:rPr lang="en-US" dirty="0"/>
              <a:t>Uses implicit scale transformations to encode physical laws across multiple biological scales (amino acid → structure → dynamics)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A06A43-49F0-A6FC-AC4F-4385E5778ECF}"/>
              </a:ext>
            </a:extLst>
          </p:cNvPr>
          <p:cNvSpPr txBox="1"/>
          <p:nvPr/>
        </p:nvSpPr>
        <p:spPr>
          <a:xfrm>
            <a:off x="3963365" y="597476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DeepMind (Alphabet / Google)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B51BF8-0880-9D65-E0E6-9FED2ACEB706}"/>
              </a:ext>
            </a:extLst>
          </p:cNvPr>
          <p:cNvSpPr txBox="1"/>
          <p:nvPr/>
        </p:nvSpPr>
        <p:spPr>
          <a:xfrm>
            <a:off x="1938640" y="4901776"/>
            <a:ext cx="93476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AlphaFold</a:t>
            </a:r>
            <a:r>
              <a:rPr lang="en-US" dirty="0"/>
              <a:t> protein folding tool and </a:t>
            </a:r>
            <a:r>
              <a:rPr lang="en-US" b="1" dirty="0"/>
              <a:t>physics-informed AI models</a:t>
            </a:r>
            <a:r>
              <a:rPr lang="en-US" dirty="0"/>
              <a:t> use </a:t>
            </a:r>
            <a:r>
              <a:rPr lang="en-US" b="1" dirty="0"/>
              <a:t>hierarchical representations</a:t>
            </a:r>
            <a:r>
              <a:rPr lang="en-US" dirty="0"/>
              <a:t>, mimicking </a:t>
            </a:r>
            <a:r>
              <a:rPr lang="en-US" b="1" dirty="0"/>
              <a:t>RG flow</a:t>
            </a:r>
            <a:r>
              <a:rPr lang="en-US" dirty="0"/>
              <a:t> across energy or spatial scales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6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4342409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45000">
              <a:schemeClr val="tx2">
                <a:lumMod val="90000"/>
                <a:lumOff val="1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D512B6-99BF-CE50-1B5E-ECA9FA492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921E70-1B4F-6A40-F9C8-B92EC0F26830}"/>
              </a:ext>
            </a:extLst>
          </p:cNvPr>
          <p:cNvSpPr txBox="1"/>
          <p:nvPr/>
        </p:nvSpPr>
        <p:spPr>
          <a:xfrm>
            <a:off x="1113810" y="2960716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NVIDIA / Schrödinger Inc. / QCWare</a:t>
            </a: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(Materials + Drug Discovery)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3F7E2-2B2D-D5AD-0260-D7EB1FF559E3}"/>
              </a:ext>
            </a:extLst>
          </p:cNvPr>
          <p:cNvSpPr txBox="1"/>
          <p:nvPr/>
        </p:nvSpPr>
        <p:spPr>
          <a:xfrm>
            <a:off x="1113809" y="953037"/>
            <a:ext cx="4036333" cy="17098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RG Signature</a:t>
            </a:r>
            <a:r>
              <a:rPr lang="en-US" sz="2000" b="1" dirty="0"/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Hierarchical approximations reduce compute cost while preserving chemical accuracy.</a:t>
            </a:r>
          </a:p>
        </p:txBody>
      </p: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" name="Rectangle 104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Rectangle 104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039C2DD3-862A-BAB0-B4D9-4B001AC80C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F6E14769-B311-DF5C-73EB-A65C7C6AAF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EA74510-05CC-D86C-305B-1EEDEF443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1EC8174E-C495-B76B-22BD-EEA575631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20AD10-EEDE-8D7C-E540-3E55C9A3F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782989"/>
              </p:ext>
            </p:extLst>
          </p:nvPr>
        </p:nvGraphicFramePr>
        <p:xfrm>
          <a:off x="5685808" y="449036"/>
          <a:ext cx="5646966" cy="5848570"/>
        </p:xfrm>
        <a:graphic>
          <a:graphicData uri="http://schemas.openxmlformats.org/drawingml/2006/table">
            <a:tbl>
              <a:tblPr/>
              <a:tblGrid>
                <a:gridCol w="1876912">
                  <a:extLst>
                    <a:ext uri="{9D8B030D-6E8A-4147-A177-3AD203B41FA5}">
                      <a16:colId xmlns:a16="http://schemas.microsoft.com/office/drawing/2014/main" val="2231007840"/>
                    </a:ext>
                  </a:extLst>
                </a:gridCol>
                <a:gridCol w="1913432">
                  <a:extLst>
                    <a:ext uri="{9D8B030D-6E8A-4147-A177-3AD203B41FA5}">
                      <a16:colId xmlns:a16="http://schemas.microsoft.com/office/drawing/2014/main" val="2120018798"/>
                    </a:ext>
                  </a:extLst>
                </a:gridCol>
                <a:gridCol w="1856622">
                  <a:extLst>
                    <a:ext uri="{9D8B030D-6E8A-4147-A177-3AD203B41FA5}">
                      <a16:colId xmlns:a16="http://schemas.microsoft.com/office/drawing/2014/main" val="3266531635"/>
                    </a:ext>
                  </a:extLst>
                </a:gridCol>
              </a:tblGrid>
              <a:tr h="470923">
                <a:tc>
                  <a:txBody>
                    <a:bodyPr/>
                    <a:lstStyle/>
                    <a:p>
                      <a:r>
                        <a:rPr lang="en-US" sz="1400"/>
                        <a:t>Provider / Focus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Article / Resource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RG‑style Hierarchy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54178957"/>
                  </a:ext>
                </a:extLst>
              </a:tr>
              <a:tr h="723642">
                <a:tc>
                  <a:txBody>
                    <a:bodyPr/>
                    <a:lstStyle/>
                    <a:p>
                      <a:r>
                        <a:rPr lang="en-US" sz="1400"/>
                        <a:t>Schrödinger / NVIDIA (industrial)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MS CG platform documentation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Electronic → atomistic → mesoscale → macro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811153087"/>
                  </a:ext>
                </a:extLst>
              </a:tr>
              <a:tr h="1137960">
                <a:tc>
                  <a:txBody>
                    <a:bodyPr/>
                    <a:lstStyle/>
                    <a:p>
                      <a:r>
                        <a:rPr lang="en-US" sz="1400"/>
                        <a:t>QCWare / quantum interactions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“Coarse-grained intermolecular interactions on quantum processors” (2021)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3">
                            <a:lumMod val="7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Coarse-grained electronic response via VQA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3">
                            <a:lumMod val="7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09962918"/>
                  </a:ext>
                </a:extLst>
              </a:tr>
              <a:tr h="930801">
                <a:tc>
                  <a:txBody>
                    <a:bodyPr/>
                    <a:lstStyle/>
                    <a:p>
                      <a:r>
                        <a:rPr lang="en-US" sz="1400"/>
                        <a:t>Noid et al. (2008)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Formal multiscale CG method bridging atomistic ↔ CG models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Rigorous projection / ensemble matching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980620748"/>
                  </a:ext>
                </a:extLst>
              </a:tr>
              <a:tr h="723642">
                <a:tc>
                  <a:txBody>
                    <a:bodyPr/>
                    <a:lstStyle/>
                    <a:p>
                      <a:r>
                        <a:rPr lang="en-US" sz="1400"/>
                        <a:t>Wang et al. / CGnets (2019)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Deep‑learning-based CG free‑energy model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Learned coarse forces approximating atomics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93473936"/>
                  </a:ext>
                </a:extLst>
              </a:tr>
              <a:tr h="1137960">
                <a:tc>
                  <a:txBody>
                    <a:bodyPr/>
                    <a:lstStyle/>
                    <a:p>
                      <a:r>
                        <a:rPr lang="en-US" sz="1400"/>
                        <a:t>Husic et al. (2020)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Graph‑neural coarse‑graining learning representations &amp; dynamics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Hierarchical learned model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95063123"/>
                  </a:ext>
                </a:extLst>
              </a:tr>
              <a:tr h="723642">
                <a:tc>
                  <a:txBody>
                    <a:bodyPr/>
                    <a:lstStyle/>
                    <a:p>
                      <a:r>
                        <a:rPr lang="en-US" sz="1400"/>
                        <a:t>Lyu &amp; Lei (2023)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Mori‑Zwanzig ML-based CG MD with memory functions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Projection retaining many‑body memory terms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77865831"/>
                  </a:ext>
                </a:extLst>
              </a:tr>
            </a:tbl>
          </a:graphicData>
        </a:graphic>
      </p:graphicFrame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57497998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12000">
              <a:schemeClr val="accent1">
                <a:lumMod val="5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9FE850-9A3E-DDC0-70BF-A9F97544E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15C15197-D4A5-EE69-1607-40798C3523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FF1C20E9-7E0F-9131-1FD9-F83B8F1EE2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9B79454-0D2C-8A95-2ECA-E6FA53328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37A45DB3-6A94-B69B-F835-10D40C79D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F21A60-D6B6-0669-6222-A38523A00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106431"/>
              </p:ext>
            </p:extLst>
          </p:nvPr>
        </p:nvGraphicFramePr>
        <p:xfrm>
          <a:off x="1450513" y="948584"/>
          <a:ext cx="10060564" cy="5296352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1793843">
                  <a:extLst>
                    <a:ext uri="{9D8B030D-6E8A-4147-A177-3AD203B41FA5}">
                      <a16:colId xmlns:a16="http://schemas.microsoft.com/office/drawing/2014/main" val="1265138519"/>
                    </a:ext>
                  </a:extLst>
                </a:gridCol>
                <a:gridCol w="3553823">
                  <a:extLst>
                    <a:ext uri="{9D8B030D-6E8A-4147-A177-3AD203B41FA5}">
                      <a16:colId xmlns:a16="http://schemas.microsoft.com/office/drawing/2014/main" val="333931612"/>
                    </a:ext>
                  </a:extLst>
                </a:gridCol>
                <a:gridCol w="4712898">
                  <a:extLst>
                    <a:ext uri="{9D8B030D-6E8A-4147-A177-3AD203B41FA5}">
                      <a16:colId xmlns:a16="http://schemas.microsoft.com/office/drawing/2014/main" val="19316257"/>
                    </a:ext>
                  </a:extLst>
                </a:gridCol>
              </a:tblGrid>
              <a:tr h="676363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Startup</a:t>
                      </a:r>
                    </a:p>
                  </a:txBody>
                  <a:tcPr marL="216767" marR="166744" marT="166744" marB="1667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Domain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RG-like Practice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899739"/>
                  </a:ext>
                </a:extLst>
              </a:tr>
              <a:tr h="1343198">
                <a:tc>
                  <a:txBody>
                    <a:bodyPr/>
                    <a:lstStyle/>
                    <a:p>
                      <a:r>
                        <a:rPr lang="en-US" sz="2600" b="1" cap="none" spc="0" dirty="0" err="1">
                          <a:solidFill>
                            <a:schemeClr val="bg1"/>
                          </a:solidFill>
                        </a:rPr>
                        <a:t>nference</a:t>
                      </a:r>
                      <a:endParaRPr lang="en-US" sz="26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216767" marR="166744" marT="166744" marB="1667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 dirty="0">
                          <a:solidFill>
                            <a:schemeClr val="bg1"/>
                          </a:solidFill>
                        </a:rPr>
                        <a:t>Biomedical data fusion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Compresses EHR + genomics into latent representations (effective variables)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610554"/>
                  </a:ext>
                </a:extLst>
              </a:tr>
              <a:tr h="1343198">
                <a:tc>
                  <a:txBody>
                    <a:bodyPr/>
                    <a:lstStyle/>
                    <a:p>
                      <a:r>
                        <a:rPr lang="en-US" sz="2600" b="1" cap="none" spc="0">
                          <a:solidFill>
                            <a:schemeClr val="bg1"/>
                          </a:solidFill>
                        </a:rPr>
                        <a:t>Tempus</a:t>
                      </a:r>
                      <a:endParaRPr lang="en-US" sz="2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216767" marR="166744" marT="166744" marB="1667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Oncology AI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Reduces high-dimensional genetic + clinical data into actionable predictive scales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365991"/>
                  </a:ext>
                </a:extLst>
              </a:tr>
              <a:tr h="1343198">
                <a:tc>
                  <a:txBody>
                    <a:bodyPr/>
                    <a:lstStyle/>
                    <a:p>
                      <a:r>
                        <a:rPr lang="en-US" sz="2600" b="1" cap="none" spc="0">
                          <a:solidFill>
                            <a:schemeClr val="bg1"/>
                          </a:solidFill>
                        </a:rPr>
                        <a:t>Qure.ai</a:t>
                      </a:r>
                      <a:endParaRPr lang="en-US" sz="2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216767" marR="166744" marT="166744" marB="1667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Radiology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 dirty="0">
                          <a:solidFill>
                            <a:schemeClr val="bg1"/>
                          </a:solidFill>
                        </a:rPr>
                        <a:t>Extracts hierarchical features in brain/chest images, bypassing local pixel noise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6390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C65BF8-E648-4949-25E7-9B5FD77078B1}"/>
              </a:ext>
            </a:extLst>
          </p:cNvPr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340702776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2">
            <a:alpha val="5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98826C-6FD0-9560-AC84-265320755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C3235122-E9EE-0817-FA43-8A091EDC07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D1F5DB82-69B8-051E-D0A7-6E30A529EB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587F2E16-F22F-180B-AFFF-271E23A27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99F4D041-AD1C-4B61-C578-41F635842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1A3CAD-C9ED-138B-15F3-8788C7A92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174558"/>
              </p:ext>
            </p:extLst>
          </p:nvPr>
        </p:nvGraphicFramePr>
        <p:xfrm>
          <a:off x="643467" y="1263480"/>
          <a:ext cx="10905067" cy="4331040"/>
        </p:xfrm>
        <a:graphic>
          <a:graphicData uri="http://schemas.openxmlformats.org/drawingml/2006/table">
            <a:tbl>
              <a:tblPr/>
              <a:tblGrid>
                <a:gridCol w="4370230">
                  <a:extLst>
                    <a:ext uri="{9D8B030D-6E8A-4147-A177-3AD203B41FA5}">
                      <a16:colId xmlns:a16="http://schemas.microsoft.com/office/drawing/2014/main" val="3085129369"/>
                    </a:ext>
                  </a:extLst>
                </a:gridCol>
                <a:gridCol w="6534837">
                  <a:extLst>
                    <a:ext uri="{9D8B030D-6E8A-4147-A177-3AD203B41FA5}">
                      <a16:colId xmlns:a16="http://schemas.microsoft.com/office/drawing/2014/main" val="3705055624"/>
                    </a:ext>
                  </a:extLst>
                </a:gridCol>
              </a:tblGrid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RG Theory (Physics)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Commercial Equivalent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12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t="10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71114927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Coarse-graining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Dimensionality reduction / PCA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736853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RG Flow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Layered feature abstraction (NN)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428963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 dirty="0"/>
                        <a:t>Fixed points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12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t="10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Disease phenotypes / outcomes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544009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Relevant variables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Biomarkers / macro patterns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85261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DMRG / MPS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3200" dirty="0"/>
                        <a:t>Tensor compression in QML/AI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02921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AD101C5-A4AB-505F-3A9D-62BCDE0CD672}"/>
              </a:ext>
            </a:extLst>
          </p:cNvPr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263152316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12000">
              <a:schemeClr val="accent1">
                <a:lumMod val="5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0BCB1-30DF-23B0-A9F2-7801847D2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2379961-831E-EC0C-A986-90B3022E63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84DF634D-9F1C-D0EE-895D-019D1EC65A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98EB904-A60F-45A2-E647-B22CD477D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716F5947-D72A-83AF-57C4-16075345C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96751C-FB27-98A9-2A1C-EB0BFE4A2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7856" y="820219"/>
            <a:ext cx="9230337" cy="28547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AE89E3-C953-0ABB-8E07-A731F737EA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7856" y="4010628"/>
            <a:ext cx="8375500" cy="2494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7060A0-57F8-D1A4-DC8D-037F6F5184FC}"/>
              </a:ext>
            </a:extLst>
          </p:cNvPr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7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97154166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12000">
              <a:schemeClr val="accent4">
                <a:lumMod val="7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0F3EC-74C7-00A9-6A88-BA4566E2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9E737CF-318D-A8B3-2189-CCA853BB3A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823F9985-F7C4-2E10-034B-0D2E6E7BCB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DC44B6C-90C3-E6BB-DB7C-970E3BC7F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A28825D7-1F60-8AC6-3192-402A89FC8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74222F-0C5C-6ED6-EE2B-7F9EA32AB3BD}"/>
              </a:ext>
            </a:extLst>
          </p:cNvPr>
          <p:cNvSpPr txBox="1"/>
          <p:nvPr/>
        </p:nvSpPr>
        <p:spPr>
          <a:xfrm>
            <a:off x="4861367" y="2685327"/>
            <a:ext cx="2077428" cy="830997"/>
          </a:xfrm>
          <a:prstGeom prst="rect">
            <a:avLst/>
          </a:prstGeom>
          <a:gradFill>
            <a:gsLst>
              <a:gs pos="12000">
                <a:schemeClr val="accent1">
                  <a:lumMod val="50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</a:gradFill>
        </p:spPr>
        <p:txBody>
          <a:bodyPr wrap="none" rtlCol="0">
            <a:spAutoFit/>
          </a:bodyPr>
          <a:lstStyle/>
          <a:p>
            <a:r>
              <a:rPr lang="en-US" sz="4800" dirty="0"/>
              <a:t>Thanks</a:t>
            </a:r>
          </a:p>
        </p:txBody>
      </p:sp>
      <p:sp>
        <p:nvSpPr>
          <p:cNvPr id="9002" name="LangToggleES"/>
          <p:cNvSpPr/>
          <p:nvPr/>
        </p:nvSpPr>
        <p:spPr>
          <a:xfrm>
            <a:off x="5580000" y="60000"/>
            <a:ext cx="1030000" cy="330000"/>
          </a:xfrm>
          <a:prstGeom prst="roundRect">
            <a:avLst/>
          </a:prstGeom>
          <a:solidFill>
            <a:srgbClr val="1F3864"/>
          </a:solidFill>
        </p:spPr>
        <p:txBody>
          <a:bodyPr anchor="ctr" wrap="none"/>
          <a:lstStyle/>
          <a:p>
            <a:pPr algn="ctr"/>
            <a:r>
              <a:rPr lang="en-US" b="1" sz="1400" dirty="0">
                <a:solidFill>
                  <a:srgbClr val="FFFFFF"/>
                </a:solidFill>
                <a:hlinkClick r:id="rId5" action="ppaction://hlinksldjump"/>
              </a:rPr>
              <a:t>ES ⇆</a:t>
            </a:r>
          </a:p>
        </p:txBody>
      </p:sp>
    </p:spTree>
    <p:extLst>
      <p:ext uri="{BB962C8B-B14F-4D97-AF65-F5344CB8AC3E}">
        <p14:creationId xmlns:p14="http://schemas.microsoft.com/office/powerpoint/2010/main" val="3711879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2872</TotalTime>
  <Words>3666</Words>
  <Application>Microsoft Office PowerPoint</Application>
  <PresentationFormat>Widescreen</PresentationFormat>
  <Paragraphs>383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0" baseType="lpstr">
      <vt:lpstr>ADLaM Display</vt:lpstr>
      <vt:lpstr>Amasis MT Pro Black</vt:lpstr>
      <vt:lpstr>Aptos</vt:lpstr>
      <vt:lpstr>Aptos Display</vt:lpstr>
      <vt:lpstr>Arial</vt:lpstr>
      <vt:lpstr>GothamSSm-light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Saravana | SIT</dc:creator>
  <cp:lastModifiedBy>Saravana | SIT</cp:lastModifiedBy>
  <cp:revision>38</cp:revision>
  <dcterms:created xsi:type="dcterms:W3CDTF">2025-08-04T05:49:13Z</dcterms:created>
  <dcterms:modified xsi:type="dcterms:W3CDTF">2025-08-06T05:41:36Z</dcterms:modified>
</cp:coreProperties>
</file>