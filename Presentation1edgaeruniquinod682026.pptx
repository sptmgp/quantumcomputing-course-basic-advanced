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2"/>
  </p:notesMasterIdLst>
  <p:sldIdLst>
    <p:sldId id="257" r:id="rId2"/>
    <p:sldId id="258" r:id="rId3"/>
    <p:sldId id="324" r:id="rId4"/>
    <p:sldId id="303" r:id="rId5"/>
    <p:sldId id="362" r:id="rId6"/>
    <p:sldId id="291" r:id="rId7"/>
    <p:sldId id="363" r:id="rId8"/>
    <p:sldId id="325" r:id="rId9"/>
    <p:sldId id="292" r:id="rId10"/>
    <p:sldId id="293" r:id="rId11"/>
    <p:sldId id="294" r:id="rId12"/>
    <p:sldId id="326" r:id="rId13"/>
    <p:sldId id="295" r:id="rId14"/>
    <p:sldId id="327" r:id="rId15"/>
    <p:sldId id="328" r:id="rId16"/>
    <p:sldId id="308" r:id="rId17"/>
    <p:sldId id="329" r:id="rId18"/>
    <p:sldId id="330" r:id="rId19"/>
    <p:sldId id="298" r:id="rId20"/>
    <p:sldId id="296" r:id="rId21"/>
    <p:sldId id="304" r:id="rId22"/>
    <p:sldId id="305" r:id="rId23"/>
    <p:sldId id="302" r:id="rId24"/>
    <p:sldId id="331" r:id="rId25"/>
    <p:sldId id="306" r:id="rId26"/>
    <p:sldId id="332" r:id="rId27"/>
    <p:sldId id="322" r:id="rId28"/>
    <p:sldId id="317" r:id="rId29"/>
    <p:sldId id="334" r:id="rId30"/>
    <p:sldId id="307" r:id="rId31"/>
    <p:sldId id="335" r:id="rId32"/>
    <p:sldId id="333" r:id="rId33"/>
    <p:sldId id="309" r:id="rId34"/>
    <p:sldId id="336" r:id="rId35"/>
    <p:sldId id="310" r:id="rId36"/>
    <p:sldId id="337" r:id="rId37"/>
    <p:sldId id="312" r:id="rId38"/>
    <p:sldId id="339" r:id="rId39"/>
    <p:sldId id="340" r:id="rId40"/>
    <p:sldId id="299" r:id="rId41"/>
    <p:sldId id="341" r:id="rId42"/>
    <p:sldId id="311" r:id="rId43"/>
    <p:sldId id="338" r:id="rId44"/>
    <p:sldId id="342" r:id="rId45"/>
    <p:sldId id="343" r:id="rId46"/>
    <p:sldId id="259" r:id="rId47"/>
    <p:sldId id="260" r:id="rId48"/>
    <p:sldId id="261" r:id="rId49"/>
    <p:sldId id="344" r:id="rId50"/>
    <p:sldId id="262" r:id="rId51"/>
    <p:sldId id="345" r:id="rId52"/>
    <p:sldId id="263" r:id="rId53"/>
    <p:sldId id="346" r:id="rId54"/>
    <p:sldId id="264" r:id="rId55"/>
    <p:sldId id="347" r:id="rId56"/>
    <p:sldId id="265" r:id="rId57"/>
    <p:sldId id="348" r:id="rId58"/>
    <p:sldId id="266" r:id="rId59"/>
    <p:sldId id="267" r:id="rId60"/>
    <p:sldId id="268" r:id="rId61"/>
    <p:sldId id="269" r:id="rId62"/>
    <p:sldId id="270" r:id="rId63"/>
    <p:sldId id="349" r:id="rId64"/>
    <p:sldId id="271" r:id="rId65"/>
    <p:sldId id="351" r:id="rId66"/>
    <p:sldId id="318" r:id="rId67"/>
    <p:sldId id="272" r:id="rId68"/>
    <p:sldId id="352" r:id="rId69"/>
    <p:sldId id="273" r:id="rId70"/>
    <p:sldId id="353" r:id="rId71"/>
    <p:sldId id="354" r:id="rId72"/>
    <p:sldId id="320" r:id="rId73"/>
    <p:sldId id="274" r:id="rId74"/>
    <p:sldId id="355" r:id="rId75"/>
    <p:sldId id="275" r:id="rId76"/>
    <p:sldId id="356" r:id="rId77"/>
    <p:sldId id="276" r:id="rId78"/>
    <p:sldId id="357" r:id="rId79"/>
    <p:sldId id="277" r:id="rId80"/>
    <p:sldId id="358" r:id="rId81"/>
    <p:sldId id="321" r:id="rId82"/>
    <p:sldId id="359" r:id="rId83"/>
    <p:sldId id="282" r:id="rId84"/>
    <p:sldId id="360" r:id="rId85"/>
    <p:sldId id="278" r:id="rId86"/>
    <p:sldId id="361" r:id="rId87"/>
    <p:sldId id="279" r:id="rId88"/>
    <p:sldId id="280" r:id="rId89"/>
    <p:sldId id="281" r:id="rId90"/>
    <p:sldId id="283" r:id="rId91"/>
    <p:sldId id="284" r:id="rId92"/>
    <p:sldId id="300" r:id="rId93"/>
    <p:sldId id="287" r:id="rId94"/>
    <p:sldId id="301" r:id="rId95"/>
    <p:sldId id="285" r:id="rId96"/>
    <p:sldId id="286" r:id="rId97"/>
    <p:sldId id="288" r:id="rId98"/>
    <p:sldId id="289" r:id="rId99"/>
    <p:sldId id="290" r:id="rId100"/>
    <p:sldId id="323" r:id="rId1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60"/>
  </p:normalViewPr>
  <p:slideViewPr>
    <p:cSldViewPr snapToGrid="0">
      <p:cViewPr varScale="1">
        <p:scale>
          <a:sx n="89" d="100"/>
          <a:sy n="89" d="100"/>
        </p:scale>
        <p:origin x="37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5F9D8B-1AAB-41DE-B24F-66E78AFF16A3}" type="doc">
      <dgm:prSet loTypeId="urn:microsoft.com/office/officeart/2005/8/layout/vList2#1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1718B06F-1FC3-4F55-93DD-43BE09DF23AD}">
      <dgm:prSet/>
      <dgm:spPr/>
      <dgm:t>
        <a:bodyPr/>
        <a:lstStyle/>
        <a:p>
          <a:r>
            <a:rPr lang="en-US" b="1"/>
            <a:t>There is a cat locked inside a box.</a:t>
          </a:r>
          <a:endParaRPr lang="en-US"/>
        </a:p>
      </dgm:t>
    </dgm:pt>
    <dgm:pt modelId="{FDD660B9-2666-4A40-8734-43FF45FDCD60}" type="parTrans" cxnId="{FF774F97-5A43-476C-A7DD-D0277EEC248E}">
      <dgm:prSet/>
      <dgm:spPr/>
      <dgm:t>
        <a:bodyPr/>
        <a:lstStyle/>
        <a:p>
          <a:endParaRPr lang="en-US"/>
        </a:p>
      </dgm:t>
    </dgm:pt>
    <dgm:pt modelId="{8C2E33D4-38F6-44FA-A5D0-9C24F27114EF}" type="sibTrans" cxnId="{FF774F97-5A43-476C-A7DD-D0277EEC248E}">
      <dgm:prSet/>
      <dgm:spPr/>
      <dgm:t>
        <a:bodyPr/>
        <a:lstStyle/>
        <a:p>
          <a:endParaRPr lang="en-US"/>
        </a:p>
      </dgm:t>
    </dgm:pt>
    <dgm:pt modelId="{B1B41F70-7C16-458E-97F6-D7B37FEDB891}">
      <dgm:prSet/>
      <dgm:spPr/>
      <dgm:t>
        <a:bodyPr/>
        <a:lstStyle/>
        <a:p>
          <a:r>
            <a:rPr lang="en-US" b="1"/>
            <a:t>Inside the box, there's a tiny atom.</a:t>
          </a:r>
          <a:endParaRPr lang="en-US"/>
        </a:p>
      </dgm:t>
    </dgm:pt>
    <dgm:pt modelId="{A5F453F9-35B0-49BB-A449-2B98ACFCC229}" type="parTrans" cxnId="{1D4C4FA9-00E7-44BC-B207-8A3096453E76}">
      <dgm:prSet/>
      <dgm:spPr/>
      <dgm:t>
        <a:bodyPr/>
        <a:lstStyle/>
        <a:p>
          <a:endParaRPr lang="en-US"/>
        </a:p>
      </dgm:t>
    </dgm:pt>
    <dgm:pt modelId="{0D8BCD87-6E14-4F35-954F-EFFDBA75BB7A}" type="sibTrans" cxnId="{1D4C4FA9-00E7-44BC-B207-8A3096453E76}">
      <dgm:prSet/>
      <dgm:spPr/>
      <dgm:t>
        <a:bodyPr/>
        <a:lstStyle/>
        <a:p>
          <a:endParaRPr lang="en-US"/>
        </a:p>
      </dgm:t>
    </dgm:pt>
    <dgm:pt modelId="{ADE86A12-3955-45DE-ABC5-AE1B7B7A8798}">
      <dgm:prSet/>
      <dgm:spPr/>
      <dgm:t>
        <a:bodyPr/>
        <a:lstStyle/>
        <a:p>
          <a:r>
            <a:rPr lang="en-US" b="1"/>
            <a:t>If the atom breaks down, it releases poison and the cat dies.</a:t>
          </a:r>
          <a:endParaRPr lang="en-US"/>
        </a:p>
      </dgm:t>
    </dgm:pt>
    <dgm:pt modelId="{AF3485F1-32FA-461C-A800-EF61485C6046}" type="parTrans" cxnId="{93D60651-D196-4D6E-A0B3-4B4E620248B6}">
      <dgm:prSet/>
      <dgm:spPr/>
      <dgm:t>
        <a:bodyPr/>
        <a:lstStyle/>
        <a:p>
          <a:endParaRPr lang="en-US"/>
        </a:p>
      </dgm:t>
    </dgm:pt>
    <dgm:pt modelId="{85946C70-5D21-477C-A93F-F8DACC558AAE}" type="sibTrans" cxnId="{93D60651-D196-4D6E-A0B3-4B4E620248B6}">
      <dgm:prSet/>
      <dgm:spPr/>
      <dgm:t>
        <a:bodyPr/>
        <a:lstStyle/>
        <a:p>
          <a:endParaRPr lang="en-US"/>
        </a:p>
      </dgm:t>
    </dgm:pt>
    <dgm:pt modelId="{A4F6E6A0-FF84-4C57-AB0A-2C2B8A7659E9}">
      <dgm:prSet/>
      <dgm:spPr/>
      <dgm:t>
        <a:bodyPr/>
        <a:lstStyle/>
        <a:p>
          <a:r>
            <a:rPr lang="en-US" b="1"/>
            <a:t>If the atom doesn’t break down, the cat stays alive.</a:t>
          </a:r>
          <a:endParaRPr lang="en-US"/>
        </a:p>
      </dgm:t>
    </dgm:pt>
    <dgm:pt modelId="{7522D468-9F16-47E0-ADA3-ED34DBEC0A34}" type="parTrans" cxnId="{D44C8E5D-47C2-4ABF-A3CB-C63F75FCD7A2}">
      <dgm:prSet/>
      <dgm:spPr/>
      <dgm:t>
        <a:bodyPr/>
        <a:lstStyle/>
        <a:p>
          <a:endParaRPr lang="en-US"/>
        </a:p>
      </dgm:t>
    </dgm:pt>
    <dgm:pt modelId="{8DFD52C2-ED5B-48AE-A968-1B53504FA79E}" type="sibTrans" cxnId="{D44C8E5D-47C2-4ABF-A3CB-C63F75FCD7A2}">
      <dgm:prSet/>
      <dgm:spPr/>
      <dgm:t>
        <a:bodyPr/>
        <a:lstStyle/>
        <a:p>
          <a:endParaRPr lang="en-US"/>
        </a:p>
      </dgm:t>
    </dgm:pt>
    <dgm:pt modelId="{12455830-B1BD-4503-9401-42512D5EC565}" type="pres">
      <dgm:prSet presAssocID="{6D5F9D8B-1AAB-41DE-B24F-66E78AFF16A3}" presName="linear" presStyleCnt="0">
        <dgm:presLayoutVars>
          <dgm:animLvl val="lvl"/>
          <dgm:resizeHandles val="exact"/>
        </dgm:presLayoutVars>
      </dgm:prSet>
      <dgm:spPr/>
    </dgm:pt>
    <dgm:pt modelId="{DC473644-31FE-4C3C-9899-85F7418DD5D1}" type="pres">
      <dgm:prSet presAssocID="{1718B06F-1FC3-4F55-93DD-43BE09DF23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9EDB569-42F8-46F2-8E3E-79B8B47D523F}" type="pres">
      <dgm:prSet presAssocID="{8C2E33D4-38F6-44FA-A5D0-9C24F27114EF}" presName="spacer" presStyleCnt="0"/>
      <dgm:spPr/>
    </dgm:pt>
    <dgm:pt modelId="{478E0508-DAA1-4F6F-B181-7E6AEC486F5B}" type="pres">
      <dgm:prSet presAssocID="{B1B41F70-7C16-458E-97F6-D7B37FEDB8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2E914E-4CDC-4126-8E7A-4580190836FC}" type="pres">
      <dgm:prSet presAssocID="{0D8BCD87-6E14-4F35-954F-EFFDBA75BB7A}" presName="spacer" presStyleCnt="0"/>
      <dgm:spPr/>
    </dgm:pt>
    <dgm:pt modelId="{DD0F372E-C07A-4D09-A00E-62436CF316C5}" type="pres">
      <dgm:prSet presAssocID="{ADE86A12-3955-45DE-ABC5-AE1B7B7A87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C8B383-5721-4452-8165-A1AAC31A69D2}" type="pres">
      <dgm:prSet presAssocID="{85946C70-5D21-477C-A93F-F8DACC558AAE}" presName="spacer" presStyleCnt="0"/>
      <dgm:spPr/>
    </dgm:pt>
    <dgm:pt modelId="{2D865E00-1065-4C62-A028-0DB041727F0B}" type="pres">
      <dgm:prSet presAssocID="{A4F6E6A0-FF84-4C57-AB0A-2C2B8A7659E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7047F16-D8EE-4BD7-913D-D6309E18DB9E}" type="presOf" srcId="{6D5F9D8B-1AAB-41DE-B24F-66E78AFF16A3}" destId="{12455830-B1BD-4503-9401-42512D5EC565}" srcOrd="0" destOrd="0" presId="urn:microsoft.com/office/officeart/2005/8/layout/vList2#1"/>
    <dgm:cxn modelId="{D44C8E5D-47C2-4ABF-A3CB-C63F75FCD7A2}" srcId="{6D5F9D8B-1AAB-41DE-B24F-66E78AFF16A3}" destId="{A4F6E6A0-FF84-4C57-AB0A-2C2B8A7659E9}" srcOrd="3" destOrd="0" parTransId="{7522D468-9F16-47E0-ADA3-ED34DBEC0A34}" sibTransId="{8DFD52C2-ED5B-48AE-A968-1B53504FA79E}"/>
    <dgm:cxn modelId="{9B949E5D-C039-43A3-9D58-4E0F17743222}" type="presOf" srcId="{1718B06F-1FC3-4F55-93DD-43BE09DF23AD}" destId="{DC473644-31FE-4C3C-9899-85F7418DD5D1}" srcOrd="0" destOrd="0" presId="urn:microsoft.com/office/officeart/2005/8/layout/vList2#1"/>
    <dgm:cxn modelId="{42A7114B-29CC-448F-B1C4-69AD3BE9088E}" type="presOf" srcId="{A4F6E6A0-FF84-4C57-AB0A-2C2B8A7659E9}" destId="{2D865E00-1065-4C62-A028-0DB041727F0B}" srcOrd="0" destOrd="0" presId="urn:microsoft.com/office/officeart/2005/8/layout/vList2#1"/>
    <dgm:cxn modelId="{93D60651-D196-4D6E-A0B3-4B4E620248B6}" srcId="{6D5F9D8B-1AAB-41DE-B24F-66E78AFF16A3}" destId="{ADE86A12-3955-45DE-ABC5-AE1B7B7A8798}" srcOrd="2" destOrd="0" parTransId="{AF3485F1-32FA-461C-A800-EF61485C6046}" sibTransId="{85946C70-5D21-477C-A93F-F8DACC558AAE}"/>
    <dgm:cxn modelId="{FF774F97-5A43-476C-A7DD-D0277EEC248E}" srcId="{6D5F9D8B-1AAB-41DE-B24F-66E78AFF16A3}" destId="{1718B06F-1FC3-4F55-93DD-43BE09DF23AD}" srcOrd="0" destOrd="0" parTransId="{FDD660B9-2666-4A40-8734-43FF45FDCD60}" sibTransId="{8C2E33D4-38F6-44FA-A5D0-9C24F27114EF}"/>
    <dgm:cxn modelId="{1D4C4FA9-00E7-44BC-B207-8A3096453E76}" srcId="{6D5F9D8B-1AAB-41DE-B24F-66E78AFF16A3}" destId="{B1B41F70-7C16-458E-97F6-D7B37FEDB891}" srcOrd="1" destOrd="0" parTransId="{A5F453F9-35B0-49BB-A449-2B98ACFCC229}" sibTransId="{0D8BCD87-6E14-4F35-954F-EFFDBA75BB7A}"/>
    <dgm:cxn modelId="{152ABFE1-226D-4608-87B0-5DBDA69F95EE}" type="presOf" srcId="{ADE86A12-3955-45DE-ABC5-AE1B7B7A8798}" destId="{DD0F372E-C07A-4D09-A00E-62436CF316C5}" srcOrd="0" destOrd="0" presId="urn:microsoft.com/office/officeart/2005/8/layout/vList2#1"/>
    <dgm:cxn modelId="{F4A0DBE3-8D3A-42D2-B1EA-C5D11F066684}" type="presOf" srcId="{B1B41F70-7C16-458E-97F6-D7B37FEDB891}" destId="{478E0508-DAA1-4F6F-B181-7E6AEC486F5B}" srcOrd="0" destOrd="0" presId="urn:microsoft.com/office/officeart/2005/8/layout/vList2#1"/>
    <dgm:cxn modelId="{94054A2D-A0A8-4FD3-8C40-0EEB33BA07EC}" type="presParOf" srcId="{12455830-B1BD-4503-9401-42512D5EC565}" destId="{DC473644-31FE-4C3C-9899-85F7418DD5D1}" srcOrd="0" destOrd="0" presId="urn:microsoft.com/office/officeart/2005/8/layout/vList2#1"/>
    <dgm:cxn modelId="{BC870FCB-B96C-4FD5-A1EC-62A49C5C44E1}" type="presParOf" srcId="{12455830-B1BD-4503-9401-42512D5EC565}" destId="{59EDB569-42F8-46F2-8E3E-79B8B47D523F}" srcOrd="1" destOrd="0" presId="urn:microsoft.com/office/officeart/2005/8/layout/vList2#1"/>
    <dgm:cxn modelId="{C894CADD-F655-4F53-9E94-7B77E1ADB0C9}" type="presParOf" srcId="{12455830-B1BD-4503-9401-42512D5EC565}" destId="{478E0508-DAA1-4F6F-B181-7E6AEC486F5B}" srcOrd="2" destOrd="0" presId="urn:microsoft.com/office/officeart/2005/8/layout/vList2#1"/>
    <dgm:cxn modelId="{DB550104-B63A-4234-BB4A-C908A85405FA}" type="presParOf" srcId="{12455830-B1BD-4503-9401-42512D5EC565}" destId="{8A2E914E-4CDC-4126-8E7A-4580190836FC}" srcOrd="3" destOrd="0" presId="urn:microsoft.com/office/officeart/2005/8/layout/vList2#1"/>
    <dgm:cxn modelId="{86F7703C-C681-4853-A4F2-F045675D8808}" type="presParOf" srcId="{12455830-B1BD-4503-9401-42512D5EC565}" destId="{DD0F372E-C07A-4D09-A00E-62436CF316C5}" srcOrd="4" destOrd="0" presId="urn:microsoft.com/office/officeart/2005/8/layout/vList2#1"/>
    <dgm:cxn modelId="{ECFE0807-3924-4848-A31A-A911E655EF4B}" type="presParOf" srcId="{12455830-B1BD-4503-9401-42512D5EC565}" destId="{6FC8B383-5721-4452-8165-A1AAC31A69D2}" srcOrd="5" destOrd="0" presId="urn:microsoft.com/office/officeart/2005/8/layout/vList2#1"/>
    <dgm:cxn modelId="{E3DF28FD-CECB-4562-A974-56C354B8BB2B}" type="presParOf" srcId="{12455830-B1BD-4503-9401-42512D5EC565}" destId="{2D865E00-1065-4C62-A028-0DB041727F0B}" srcOrd="6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F9D564-490C-4593-B71A-9363FF59B8D3}" type="doc">
      <dgm:prSet loTypeId="urn:microsoft.com/office/officeart/2005/8/layout/process5#1" loCatId="process" qsTypeId="urn:microsoft.com/office/officeart/2005/8/quickstyle/simple1#2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E487337F-A3F4-4740-9A5E-B523C8F3DE64}">
      <dgm:prSet/>
      <dgm:spPr/>
      <dgm:t>
        <a:bodyPr/>
        <a:lstStyle/>
        <a:p>
          <a:r>
            <a:rPr lang="en-US"/>
            <a:t>Without RG</a:t>
          </a:r>
        </a:p>
      </dgm:t>
    </dgm:pt>
    <dgm:pt modelId="{143E8FB2-2C5F-46FB-A9C1-9B1687E473A3}" type="parTrans" cxnId="{011E21E3-9720-4ED5-8636-B891C73DA38F}">
      <dgm:prSet/>
      <dgm:spPr/>
      <dgm:t>
        <a:bodyPr/>
        <a:lstStyle/>
        <a:p>
          <a:endParaRPr lang="en-US"/>
        </a:p>
      </dgm:t>
    </dgm:pt>
    <dgm:pt modelId="{6CD351B2-B9BE-4FA4-A540-A257843D4DD1}" type="sibTrans" cxnId="{011E21E3-9720-4ED5-8636-B891C73DA38F}">
      <dgm:prSet/>
      <dgm:spPr/>
      <dgm:t>
        <a:bodyPr/>
        <a:lstStyle/>
        <a:p>
          <a:endParaRPr lang="en-US"/>
        </a:p>
      </dgm:t>
    </dgm:pt>
    <dgm:pt modelId="{36766282-7EFB-4374-90E0-2DCEE887433E}">
      <dgm:prSet/>
      <dgm:spPr/>
      <dgm:t>
        <a:bodyPr/>
        <a:lstStyle/>
        <a:p>
          <a:r>
            <a:rPr lang="en-US"/>
            <a:t>Simulate every hair on the cat</a:t>
          </a:r>
        </a:p>
      </dgm:t>
    </dgm:pt>
    <dgm:pt modelId="{5333D234-15DD-471E-8278-483E0F6E0D64}" type="parTrans" cxnId="{90353CE8-C5CB-4053-9958-1E77E8368CD2}">
      <dgm:prSet/>
      <dgm:spPr/>
      <dgm:t>
        <a:bodyPr/>
        <a:lstStyle/>
        <a:p>
          <a:endParaRPr lang="en-US"/>
        </a:p>
      </dgm:t>
    </dgm:pt>
    <dgm:pt modelId="{CEA50449-1D47-4A45-909A-B6F9DE4CC70C}" type="sibTrans" cxnId="{90353CE8-C5CB-4053-9958-1E77E8368CD2}">
      <dgm:prSet/>
      <dgm:spPr/>
      <dgm:t>
        <a:bodyPr/>
        <a:lstStyle/>
        <a:p>
          <a:endParaRPr lang="en-US"/>
        </a:p>
      </dgm:t>
    </dgm:pt>
    <dgm:pt modelId="{8DE71CFE-D320-4D79-8C89-D5C13C48D542}">
      <dgm:prSet/>
      <dgm:spPr/>
      <dgm:t>
        <a:bodyPr/>
        <a:lstStyle/>
        <a:p>
          <a:r>
            <a:rPr lang="en-US"/>
            <a:t>Store </a:t>
          </a:r>
          <a:r>
            <a:rPr lang="pt-BR"/>
            <a:t>2</a:t>
          </a:r>
          <a:r>
            <a:rPr lang="pt-BR" baseline="30000"/>
            <a:t>N </a:t>
          </a:r>
          <a:r>
            <a:rPr lang="en-US"/>
            <a:t>amplitudes</a:t>
          </a:r>
        </a:p>
      </dgm:t>
    </dgm:pt>
    <dgm:pt modelId="{58ADDB0C-7C09-4C50-A160-AF5D27144AA3}" type="parTrans" cxnId="{FD0D215B-49E9-4B65-A2BC-77FF8A43BAA2}">
      <dgm:prSet/>
      <dgm:spPr/>
      <dgm:t>
        <a:bodyPr/>
        <a:lstStyle/>
        <a:p>
          <a:endParaRPr lang="en-US"/>
        </a:p>
      </dgm:t>
    </dgm:pt>
    <dgm:pt modelId="{31CAAF79-1240-44FB-A208-136DC8C19643}" type="sibTrans" cxnId="{FD0D215B-49E9-4B65-A2BC-77FF8A43BAA2}">
      <dgm:prSet/>
      <dgm:spPr/>
      <dgm:t>
        <a:bodyPr/>
        <a:lstStyle/>
        <a:p>
          <a:endParaRPr lang="en-US"/>
        </a:p>
      </dgm:t>
    </dgm:pt>
    <dgm:pt modelId="{6BAB5DFA-FE2F-4100-BD4F-2A15279C969B}">
      <dgm:prSet/>
      <dgm:spPr/>
      <dgm:t>
        <a:bodyPr/>
        <a:lstStyle/>
        <a:p>
          <a:r>
            <a:rPr lang="en-US"/>
            <a:t>With RG</a:t>
          </a:r>
        </a:p>
      </dgm:t>
    </dgm:pt>
    <dgm:pt modelId="{7A953A03-AF8D-468F-83AD-1EA908C637A8}" type="parTrans" cxnId="{9AB12197-39A8-447E-B962-55807457C5DF}">
      <dgm:prSet/>
      <dgm:spPr/>
      <dgm:t>
        <a:bodyPr/>
        <a:lstStyle/>
        <a:p>
          <a:endParaRPr lang="en-US"/>
        </a:p>
      </dgm:t>
    </dgm:pt>
    <dgm:pt modelId="{4BBBE61D-32A6-4B9F-BD20-57053CD2400E}" type="sibTrans" cxnId="{9AB12197-39A8-447E-B962-55807457C5DF}">
      <dgm:prSet/>
      <dgm:spPr/>
      <dgm:t>
        <a:bodyPr/>
        <a:lstStyle/>
        <a:p>
          <a:endParaRPr lang="en-US"/>
        </a:p>
      </dgm:t>
    </dgm:pt>
    <dgm:pt modelId="{E5ADA5C4-5EDB-4DD9-B98D-61F87B3FA562}">
      <dgm:prSet/>
      <dgm:spPr/>
      <dgm:t>
        <a:bodyPr/>
        <a:lstStyle/>
        <a:p>
          <a:r>
            <a:rPr lang="en-US"/>
            <a:t>Track only two outcomes:</a:t>
          </a:r>
        </a:p>
      </dgm:t>
    </dgm:pt>
    <dgm:pt modelId="{5E66A0CF-0485-475C-9AF3-6553314A80EF}" type="parTrans" cxnId="{86078FCD-55DC-4C1F-8316-E358D4E76697}">
      <dgm:prSet/>
      <dgm:spPr/>
      <dgm:t>
        <a:bodyPr/>
        <a:lstStyle/>
        <a:p>
          <a:endParaRPr lang="en-US"/>
        </a:p>
      </dgm:t>
    </dgm:pt>
    <dgm:pt modelId="{92B039ED-C05A-4F5D-9927-0DB25C9B5BE2}" type="sibTrans" cxnId="{86078FCD-55DC-4C1F-8316-E358D4E76697}">
      <dgm:prSet/>
      <dgm:spPr/>
      <dgm:t>
        <a:bodyPr/>
        <a:lstStyle/>
        <a:p>
          <a:endParaRPr lang="en-US"/>
        </a:p>
      </dgm:t>
    </dgm:pt>
    <dgm:pt modelId="{C6295813-2812-4BAD-9724-E419B091B73C}" type="pres">
      <dgm:prSet presAssocID="{BBF9D564-490C-4593-B71A-9363FF59B8D3}" presName="diagram" presStyleCnt="0">
        <dgm:presLayoutVars>
          <dgm:dir/>
          <dgm:resizeHandles val="exact"/>
        </dgm:presLayoutVars>
      </dgm:prSet>
      <dgm:spPr/>
    </dgm:pt>
    <dgm:pt modelId="{03DE3880-90A9-417C-A4C2-9543CEA2AFE8}" type="pres">
      <dgm:prSet presAssocID="{E487337F-A3F4-4740-9A5E-B523C8F3DE64}" presName="node" presStyleLbl="node1" presStyleIdx="0" presStyleCnt="5">
        <dgm:presLayoutVars>
          <dgm:bulletEnabled val="1"/>
        </dgm:presLayoutVars>
      </dgm:prSet>
      <dgm:spPr/>
    </dgm:pt>
    <dgm:pt modelId="{6766C9D6-6A74-42C3-B68D-7986AA0F945D}" type="pres">
      <dgm:prSet presAssocID="{6CD351B2-B9BE-4FA4-A540-A257843D4DD1}" presName="sibTrans" presStyleLbl="sibTrans2D1" presStyleIdx="0" presStyleCnt="4"/>
      <dgm:spPr/>
    </dgm:pt>
    <dgm:pt modelId="{9E0C39BA-DAE3-4F80-9406-959482AFBC04}" type="pres">
      <dgm:prSet presAssocID="{6CD351B2-B9BE-4FA4-A540-A257843D4DD1}" presName="connectorText" presStyleLbl="sibTrans2D1" presStyleIdx="0" presStyleCnt="4"/>
      <dgm:spPr/>
    </dgm:pt>
    <dgm:pt modelId="{CCD451B5-DB66-495A-B710-858F35D2BF24}" type="pres">
      <dgm:prSet presAssocID="{36766282-7EFB-4374-90E0-2DCEE887433E}" presName="node" presStyleLbl="node1" presStyleIdx="1" presStyleCnt="5">
        <dgm:presLayoutVars>
          <dgm:bulletEnabled val="1"/>
        </dgm:presLayoutVars>
      </dgm:prSet>
      <dgm:spPr/>
    </dgm:pt>
    <dgm:pt modelId="{1992206A-37A4-476D-B365-F91A35DB04EC}" type="pres">
      <dgm:prSet presAssocID="{CEA50449-1D47-4A45-909A-B6F9DE4CC70C}" presName="sibTrans" presStyleLbl="sibTrans2D1" presStyleIdx="1" presStyleCnt="4"/>
      <dgm:spPr/>
    </dgm:pt>
    <dgm:pt modelId="{077BF50C-8245-4613-933A-14A56148CAE3}" type="pres">
      <dgm:prSet presAssocID="{CEA50449-1D47-4A45-909A-B6F9DE4CC70C}" presName="connectorText" presStyleLbl="sibTrans2D1" presStyleIdx="1" presStyleCnt="4"/>
      <dgm:spPr/>
    </dgm:pt>
    <dgm:pt modelId="{A83BDE79-A78A-46D9-BA2F-394C31996DCB}" type="pres">
      <dgm:prSet presAssocID="{8DE71CFE-D320-4D79-8C89-D5C13C48D542}" presName="node" presStyleLbl="node1" presStyleIdx="2" presStyleCnt="5">
        <dgm:presLayoutVars>
          <dgm:bulletEnabled val="1"/>
        </dgm:presLayoutVars>
      </dgm:prSet>
      <dgm:spPr/>
    </dgm:pt>
    <dgm:pt modelId="{9CA5FBBB-75AC-44E3-B6E4-BF04C2DA1812}" type="pres">
      <dgm:prSet presAssocID="{31CAAF79-1240-44FB-A208-136DC8C19643}" presName="sibTrans" presStyleLbl="sibTrans2D1" presStyleIdx="2" presStyleCnt="4"/>
      <dgm:spPr/>
    </dgm:pt>
    <dgm:pt modelId="{22FA0ADF-3B6D-4918-BB26-55B96713C29B}" type="pres">
      <dgm:prSet presAssocID="{31CAAF79-1240-44FB-A208-136DC8C19643}" presName="connectorText" presStyleLbl="sibTrans2D1" presStyleIdx="2" presStyleCnt="4"/>
      <dgm:spPr/>
    </dgm:pt>
    <dgm:pt modelId="{F2FFE6A9-7FB5-4AAB-817C-313BF280FF47}" type="pres">
      <dgm:prSet presAssocID="{6BAB5DFA-FE2F-4100-BD4F-2A15279C969B}" presName="node" presStyleLbl="node1" presStyleIdx="3" presStyleCnt="5">
        <dgm:presLayoutVars>
          <dgm:bulletEnabled val="1"/>
        </dgm:presLayoutVars>
      </dgm:prSet>
      <dgm:spPr/>
    </dgm:pt>
    <dgm:pt modelId="{BA77626A-D6D3-464E-90EC-2250674496FD}" type="pres">
      <dgm:prSet presAssocID="{4BBBE61D-32A6-4B9F-BD20-57053CD2400E}" presName="sibTrans" presStyleLbl="sibTrans2D1" presStyleIdx="3" presStyleCnt="4"/>
      <dgm:spPr/>
    </dgm:pt>
    <dgm:pt modelId="{E3C9AC66-7E17-43D4-A16F-9B577EBE9D2E}" type="pres">
      <dgm:prSet presAssocID="{4BBBE61D-32A6-4B9F-BD20-57053CD2400E}" presName="connectorText" presStyleLbl="sibTrans2D1" presStyleIdx="3" presStyleCnt="4"/>
      <dgm:spPr/>
    </dgm:pt>
    <dgm:pt modelId="{C4FA2A8F-69F2-4972-BD1F-89BD6006533D}" type="pres">
      <dgm:prSet presAssocID="{E5ADA5C4-5EDB-4DD9-B98D-61F87B3FA562}" presName="node" presStyleLbl="node1" presStyleIdx="4" presStyleCnt="5">
        <dgm:presLayoutVars>
          <dgm:bulletEnabled val="1"/>
        </dgm:presLayoutVars>
      </dgm:prSet>
      <dgm:spPr/>
    </dgm:pt>
  </dgm:ptLst>
  <dgm:cxnLst>
    <dgm:cxn modelId="{21B1930B-26EF-456B-BE62-AE9EF44CB886}" type="presOf" srcId="{4BBBE61D-32A6-4B9F-BD20-57053CD2400E}" destId="{E3C9AC66-7E17-43D4-A16F-9B577EBE9D2E}" srcOrd="1" destOrd="0" presId="urn:microsoft.com/office/officeart/2005/8/layout/process5#1"/>
    <dgm:cxn modelId="{8B5F7D0C-C1A8-4149-AEA7-71C610030EA7}" type="presOf" srcId="{8DE71CFE-D320-4D79-8C89-D5C13C48D542}" destId="{A83BDE79-A78A-46D9-BA2F-394C31996DCB}" srcOrd="0" destOrd="0" presId="urn:microsoft.com/office/officeart/2005/8/layout/process5#1"/>
    <dgm:cxn modelId="{1305003A-B89E-4D10-8AF0-D446D29DC17A}" type="presOf" srcId="{31CAAF79-1240-44FB-A208-136DC8C19643}" destId="{22FA0ADF-3B6D-4918-BB26-55B96713C29B}" srcOrd="1" destOrd="0" presId="urn:microsoft.com/office/officeart/2005/8/layout/process5#1"/>
    <dgm:cxn modelId="{FD0D215B-49E9-4B65-A2BC-77FF8A43BAA2}" srcId="{BBF9D564-490C-4593-B71A-9363FF59B8D3}" destId="{8DE71CFE-D320-4D79-8C89-D5C13C48D542}" srcOrd="2" destOrd="0" parTransId="{58ADDB0C-7C09-4C50-A160-AF5D27144AA3}" sibTransId="{31CAAF79-1240-44FB-A208-136DC8C19643}"/>
    <dgm:cxn modelId="{215ADB61-EC97-411F-9A18-44F82082F64A}" type="presOf" srcId="{6BAB5DFA-FE2F-4100-BD4F-2A15279C969B}" destId="{F2FFE6A9-7FB5-4AAB-817C-313BF280FF47}" srcOrd="0" destOrd="0" presId="urn:microsoft.com/office/officeart/2005/8/layout/process5#1"/>
    <dgm:cxn modelId="{5B22274B-0CC0-4483-8577-6770E907875B}" type="presOf" srcId="{E5ADA5C4-5EDB-4DD9-B98D-61F87B3FA562}" destId="{C4FA2A8F-69F2-4972-BD1F-89BD6006533D}" srcOrd="0" destOrd="0" presId="urn:microsoft.com/office/officeart/2005/8/layout/process5#1"/>
    <dgm:cxn modelId="{C918B071-C279-48D0-B163-3FC8558E717B}" type="presOf" srcId="{36766282-7EFB-4374-90E0-2DCEE887433E}" destId="{CCD451B5-DB66-495A-B710-858F35D2BF24}" srcOrd="0" destOrd="0" presId="urn:microsoft.com/office/officeart/2005/8/layout/process5#1"/>
    <dgm:cxn modelId="{7664DE87-A267-4DC4-9099-6B54B7498A26}" type="presOf" srcId="{CEA50449-1D47-4A45-909A-B6F9DE4CC70C}" destId="{1992206A-37A4-476D-B365-F91A35DB04EC}" srcOrd="0" destOrd="0" presId="urn:microsoft.com/office/officeart/2005/8/layout/process5#1"/>
    <dgm:cxn modelId="{E3DB368C-94F7-4206-90F6-5852C5EF92C5}" type="presOf" srcId="{6CD351B2-B9BE-4FA4-A540-A257843D4DD1}" destId="{6766C9D6-6A74-42C3-B68D-7986AA0F945D}" srcOrd="0" destOrd="0" presId="urn:microsoft.com/office/officeart/2005/8/layout/process5#1"/>
    <dgm:cxn modelId="{9AB12197-39A8-447E-B962-55807457C5DF}" srcId="{BBF9D564-490C-4593-B71A-9363FF59B8D3}" destId="{6BAB5DFA-FE2F-4100-BD4F-2A15279C969B}" srcOrd="3" destOrd="0" parTransId="{7A953A03-AF8D-468F-83AD-1EA908C637A8}" sibTransId="{4BBBE61D-32A6-4B9F-BD20-57053CD2400E}"/>
    <dgm:cxn modelId="{23F73198-56C5-451B-917A-336BBC71D989}" type="presOf" srcId="{4BBBE61D-32A6-4B9F-BD20-57053CD2400E}" destId="{BA77626A-D6D3-464E-90EC-2250674496FD}" srcOrd="0" destOrd="0" presId="urn:microsoft.com/office/officeart/2005/8/layout/process5#1"/>
    <dgm:cxn modelId="{E33E4BA2-2548-4C88-90EA-DC26AD294B5F}" type="presOf" srcId="{6CD351B2-B9BE-4FA4-A540-A257843D4DD1}" destId="{9E0C39BA-DAE3-4F80-9406-959482AFBC04}" srcOrd="1" destOrd="0" presId="urn:microsoft.com/office/officeart/2005/8/layout/process5#1"/>
    <dgm:cxn modelId="{404852AF-5B1B-4C76-8644-B0BDFEA65900}" type="presOf" srcId="{E487337F-A3F4-4740-9A5E-B523C8F3DE64}" destId="{03DE3880-90A9-417C-A4C2-9543CEA2AFE8}" srcOrd="0" destOrd="0" presId="urn:microsoft.com/office/officeart/2005/8/layout/process5#1"/>
    <dgm:cxn modelId="{1D0F59C5-9863-4CD0-92FC-5D152DAD3DC5}" type="presOf" srcId="{BBF9D564-490C-4593-B71A-9363FF59B8D3}" destId="{C6295813-2812-4BAD-9724-E419B091B73C}" srcOrd="0" destOrd="0" presId="urn:microsoft.com/office/officeart/2005/8/layout/process5#1"/>
    <dgm:cxn modelId="{86078FCD-55DC-4C1F-8316-E358D4E76697}" srcId="{BBF9D564-490C-4593-B71A-9363FF59B8D3}" destId="{E5ADA5C4-5EDB-4DD9-B98D-61F87B3FA562}" srcOrd="4" destOrd="0" parTransId="{5E66A0CF-0485-475C-9AF3-6553314A80EF}" sibTransId="{92B039ED-C05A-4F5D-9927-0DB25C9B5BE2}"/>
    <dgm:cxn modelId="{99F26FD4-CC76-4591-8666-14D09A2061ED}" type="presOf" srcId="{CEA50449-1D47-4A45-909A-B6F9DE4CC70C}" destId="{077BF50C-8245-4613-933A-14A56148CAE3}" srcOrd="1" destOrd="0" presId="urn:microsoft.com/office/officeart/2005/8/layout/process5#1"/>
    <dgm:cxn modelId="{011E21E3-9720-4ED5-8636-B891C73DA38F}" srcId="{BBF9D564-490C-4593-B71A-9363FF59B8D3}" destId="{E487337F-A3F4-4740-9A5E-B523C8F3DE64}" srcOrd="0" destOrd="0" parTransId="{143E8FB2-2C5F-46FB-A9C1-9B1687E473A3}" sibTransId="{6CD351B2-B9BE-4FA4-A540-A257843D4DD1}"/>
    <dgm:cxn modelId="{90353CE8-C5CB-4053-9958-1E77E8368CD2}" srcId="{BBF9D564-490C-4593-B71A-9363FF59B8D3}" destId="{36766282-7EFB-4374-90E0-2DCEE887433E}" srcOrd="1" destOrd="0" parTransId="{5333D234-15DD-471E-8278-483E0F6E0D64}" sibTransId="{CEA50449-1D47-4A45-909A-B6F9DE4CC70C}"/>
    <dgm:cxn modelId="{5ACCA7E8-FC00-468E-A837-152C60419C37}" type="presOf" srcId="{31CAAF79-1240-44FB-A208-136DC8C19643}" destId="{9CA5FBBB-75AC-44E3-B6E4-BF04C2DA1812}" srcOrd="0" destOrd="0" presId="urn:microsoft.com/office/officeart/2005/8/layout/process5#1"/>
    <dgm:cxn modelId="{4DDBD772-6D97-4361-88F0-07E41A2A9A05}" type="presParOf" srcId="{C6295813-2812-4BAD-9724-E419B091B73C}" destId="{03DE3880-90A9-417C-A4C2-9543CEA2AFE8}" srcOrd="0" destOrd="0" presId="urn:microsoft.com/office/officeart/2005/8/layout/process5#1"/>
    <dgm:cxn modelId="{1C96B4EE-559B-4F82-9787-97ADFA616FAB}" type="presParOf" srcId="{C6295813-2812-4BAD-9724-E419B091B73C}" destId="{6766C9D6-6A74-42C3-B68D-7986AA0F945D}" srcOrd="1" destOrd="0" presId="urn:microsoft.com/office/officeart/2005/8/layout/process5#1"/>
    <dgm:cxn modelId="{C485B30E-5565-4859-BABB-170DC584DD2E}" type="presParOf" srcId="{6766C9D6-6A74-42C3-B68D-7986AA0F945D}" destId="{9E0C39BA-DAE3-4F80-9406-959482AFBC04}" srcOrd="0" destOrd="0" presId="urn:microsoft.com/office/officeart/2005/8/layout/process5#1"/>
    <dgm:cxn modelId="{26C59407-E143-4F2D-8B6D-935B1C6753DD}" type="presParOf" srcId="{C6295813-2812-4BAD-9724-E419B091B73C}" destId="{CCD451B5-DB66-495A-B710-858F35D2BF24}" srcOrd="2" destOrd="0" presId="urn:microsoft.com/office/officeart/2005/8/layout/process5#1"/>
    <dgm:cxn modelId="{C8C46A33-5CAF-4D4C-AE72-243242C20AFD}" type="presParOf" srcId="{C6295813-2812-4BAD-9724-E419B091B73C}" destId="{1992206A-37A4-476D-B365-F91A35DB04EC}" srcOrd="3" destOrd="0" presId="urn:microsoft.com/office/officeart/2005/8/layout/process5#1"/>
    <dgm:cxn modelId="{F79A105E-0864-43B3-809E-463CB6E39C7E}" type="presParOf" srcId="{1992206A-37A4-476D-B365-F91A35DB04EC}" destId="{077BF50C-8245-4613-933A-14A56148CAE3}" srcOrd="0" destOrd="0" presId="urn:microsoft.com/office/officeart/2005/8/layout/process5#1"/>
    <dgm:cxn modelId="{F4F54086-EFE9-47F1-8711-4394BC5ADAAA}" type="presParOf" srcId="{C6295813-2812-4BAD-9724-E419B091B73C}" destId="{A83BDE79-A78A-46D9-BA2F-394C31996DCB}" srcOrd="4" destOrd="0" presId="urn:microsoft.com/office/officeart/2005/8/layout/process5#1"/>
    <dgm:cxn modelId="{B246FBD8-E7B4-468A-A930-E9425761A774}" type="presParOf" srcId="{C6295813-2812-4BAD-9724-E419B091B73C}" destId="{9CA5FBBB-75AC-44E3-B6E4-BF04C2DA1812}" srcOrd="5" destOrd="0" presId="urn:microsoft.com/office/officeart/2005/8/layout/process5#1"/>
    <dgm:cxn modelId="{7B79C511-C54D-47C0-BC57-179C4C5194D3}" type="presParOf" srcId="{9CA5FBBB-75AC-44E3-B6E4-BF04C2DA1812}" destId="{22FA0ADF-3B6D-4918-BB26-55B96713C29B}" srcOrd="0" destOrd="0" presId="urn:microsoft.com/office/officeart/2005/8/layout/process5#1"/>
    <dgm:cxn modelId="{DFC2C499-DB92-4AA1-B0D0-56336DC0318F}" type="presParOf" srcId="{C6295813-2812-4BAD-9724-E419B091B73C}" destId="{F2FFE6A9-7FB5-4AAB-817C-313BF280FF47}" srcOrd="6" destOrd="0" presId="urn:microsoft.com/office/officeart/2005/8/layout/process5#1"/>
    <dgm:cxn modelId="{70391DBD-E5F0-4F89-BF48-B8BB6FF35DA5}" type="presParOf" srcId="{C6295813-2812-4BAD-9724-E419B091B73C}" destId="{BA77626A-D6D3-464E-90EC-2250674496FD}" srcOrd="7" destOrd="0" presId="urn:microsoft.com/office/officeart/2005/8/layout/process5#1"/>
    <dgm:cxn modelId="{7A2F50A1-56C4-4798-A020-E6699ADA1FE5}" type="presParOf" srcId="{BA77626A-D6D3-464E-90EC-2250674496FD}" destId="{E3C9AC66-7E17-43D4-A16F-9B577EBE9D2E}" srcOrd="0" destOrd="0" presId="urn:microsoft.com/office/officeart/2005/8/layout/process5#1"/>
    <dgm:cxn modelId="{C5856919-50CC-4117-9A92-569534992747}" type="presParOf" srcId="{C6295813-2812-4BAD-9724-E419B091B73C}" destId="{C4FA2A8F-69F2-4972-BD1F-89BD6006533D}" srcOrd="8" destOrd="0" presId="urn:microsoft.com/office/officeart/2005/8/layout/process5#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1DFE72-D6FD-4173-97A4-A8314957DED2}" type="doc">
      <dgm:prSet loTypeId="urn:microsoft.com/office/officeart/2016/7/layout/LinearBlockProcessNumbered" loCatId="process" qsTypeId="urn:microsoft.com/office/officeart/2005/8/quickstyle/simple1#3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FF57CC23-B98E-4C64-A889-07CC0B2DBF66}">
      <dgm:prSet/>
      <dgm:spPr/>
      <dgm:t>
        <a:bodyPr/>
        <a:lstStyle/>
        <a:p>
          <a:r>
            <a:rPr lang="en-US" dirty="0"/>
            <a:t>A digital signal contains both high-frequency noise and low-frequency clinical trends. To efficiently extract only clinically relevant features, a coarse-graining approach is applied by averaging every 100 consecutive samples. This is conceptually most similar to</a:t>
          </a:r>
        </a:p>
      </dgm:t>
    </dgm:pt>
    <dgm:pt modelId="{F76088D4-3368-4D8F-9366-601EF9DA40C1}" type="parTrans" cxnId="{EEBD1A33-8201-42A8-B00B-B6BE9E75072C}">
      <dgm:prSet/>
      <dgm:spPr/>
      <dgm:t>
        <a:bodyPr/>
        <a:lstStyle/>
        <a:p>
          <a:endParaRPr lang="en-US"/>
        </a:p>
      </dgm:t>
    </dgm:pt>
    <dgm:pt modelId="{EBAE54F0-4894-4247-ACA0-A83507677E65}" type="sibTrans" cxnId="{EEBD1A33-8201-42A8-B00B-B6BE9E75072C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014A6FCE-93E4-4DB7-BAAB-ACD5773278B0}">
      <dgm:prSet/>
      <dgm:spPr/>
      <dgm:t>
        <a:bodyPr/>
        <a:lstStyle/>
        <a:p>
          <a:r>
            <a:rPr lang="en-US" dirty="0"/>
            <a:t>A) Fourier Transform</a:t>
          </a:r>
          <a:br>
            <a:rPr lang="en-US" dirty="0"/>
          </a:br>
          <a:r>
            <a:rPr lang="en-US" dirty="0"/>
            <a:t>B) Principal Component Analysis</a:t>
          </a:r>
          <a:br>
            <a:rPr lang="en-US" dirty="0"/>
          </a:br>
          <a:r>
            <a:rPr lang="en-US" dirty="0"/>
            <a:t>C) Renormalization Group Flow</a:t>
          </a:r>
          <a:br>
            <a:rPr lang="en-US" dirty="0"/>
          </a:br>
          <a:r>
            <a:rPr lang="en-US" dirty="0"/>
            <a:t>D) Nyquist Sampling</a:t>
          </a:r>
          <a:br>
            <a:rPr lang="en-US" dirty="0"/>
          </a:br>
          <a:r>
            <a:rPr lang="en-US" dirty="0"/>
            <a:t>E) Histogram Equalization</a:t>
          </a:r>
        </a:p>
      </dgm:t>
    </dgm:pt>
    <dgm:pt modelId="{55C86403-4FF0-40AB-92BF-9CE66474DA1E}" type="parTrans" cxnId="{BB35F752-207D-47DF-AC47-D6BC43F7E1EC}">
      <dgm:prSet/>
      <dgm:spPr/>
      <dgm:t>
        <a:bodyPr/>
        <a:lstStyle/>
        <a:p>
          <a:endParaRPr lang="en-US"/>
        </a:p>
      </dgm:t>
    </dgm:pt>
    <dgm:pt modelId="{1EAC3101-2A2B-47EE-8AE0-E9A6450C9C30}" type="sibTrans" cxnId="{BB35F752-207D-47DF-AC47-D6BC43F7E1EC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592F580F-0D73-475D-BD56-EAA83ECC6323}" type="pres">
      <dgm:prSet presAssocID="{381DFE72-D6FD-4173-97A4-A8314957DED2}" presName="Name0" presStyleCnt="0">
        <dgm:presLayoutVars>
          <dgm:animLvl val="lvl"/>
          <dgm:resizeHandles val="exact"/>
        </dgm:presLayoutVars>
      </dgm:prSet>
      <dgm:spPr/>
    </dgm:pt>
    <dgm:pt modelId="{624DB0C5-E2D9-4B28-BE5E-F304F1DECC25}" type="pres">
      <dgm:prSet presAssocID="{FF57CC23-B98E-4C64-A889-07CC0B2DBF66}" presName="compositeNode" presStyleCnt="0">
        <dgm:presLayoutVars>
          <dgm:bulletEnabled val="1"/>
        </dgm:presLayoutVars>
      </dgm:prSet>
      <dgm:spPr/>
    </dgm:pt>
    <dgm:pt modelId="{1ECB2C9A-83B8-4947-9EE3-68613743DC33}" type="pres">
      <dgm:prSet presAssocID="{FF57CC23-B98E-4C64-A889-07CC0B2DBF66}" presName="bgRect" presStyleLbl="alignNode1" presStyleIdx="0" presStyleCnt="2" custLinFactNeighborX="1200" custLinFactNeighborY="-9577"/>
      <dgm:spPr/>
    </dgm:pt>
    <dgm:pt modelId="{A675FC8F-7B2A-4E6B-8CFD-9DF2B5B2008C}" type="pres">
      <dgm:prSet presAssocID="{EBAE54F0-4894-4247-ACA0-A83507677E65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250BC58F-C6B6-467E-A580-CBA6266C3247}" type="pres">
      <dgm:prSet presAssocID="{FF57CC23-B98E-4C64-A889-07CC0B2DBF66}" presName="nodeRect" presStyleLbl="alignNode1" presStyleIdx="0" presStyleCnt="2">
        <dgm:presLayoutVars>
          <dgm:bulletEnabled val="1"/>
        </dgm:presLayoutVars>
      </dgm:prSet>
      <dgm:spPr/>
    </dgm:pt>
    <dgm:pt modelId="{4ABF0973-1DD4-4D3F-98EA-7AEBED64BEA1}" type="pres">
      <dgm:prSet presAssocID="{EBAE54F0-4894-4247-ACA0-A83507677E65}" presName="sibTrans" presStyleCnt="0"/>
      <dgm:spPr/>
    </dgm:pt>
    <dgm:pt modelId="{BF2EEBDE-6000-4B59-BC6D-292787246E3C}" type="pres">
      <dgm:prSet presAssocID="{014A6FCE-93E4-4DB7-BAAB-ACD5773278B0}" presName="compositeNode" presStyleCnt="0">
        <dgm:presLayoutVars>
          <dgm:bulletEnabled val="1"/>
        </dgm:presLayoutVars>
      </dgm:prSet>
      <dgm:spPr/>
    </dgm:pt>
    <dgm:pt modelId="{49C3B087-8271-461F-9268-F9BD803AEA27}" type="pres">
      <dgm:prSet presAssocID="{014A6FCE-93E4-4DB7-BAAB-ACD5773278B0}" presName="bgRect" presStyleLbl="alignNode1" presStyleIdx="1" presStyleCnt="2"/>
      <dgm:spPr/>
    </dgm:pt>
    <dgm:pt modelId="{D2C6983C-58B3-4895-B3F2-B3BBF7C0E53E}" type="pres">
      <dgm:prSet presAssocID="{1EAC3101-2A2B-47EE-8AE0-E9A6450C9C30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9E354BF4-3736-4A2A-A04F-89E27C3C365B}" type="pres">
      <dgm:prSet presAssocID="{014A6FCE-93E4-4DB7-BAAB-ACD5773278B0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239FC405-CBDD-4A09-96B9-B4A0C1F1B22D}" type="presOf" srcId="{381DFE72-D6FD-4173-97A4-A8314957DED2}" destId="{592F580F-0D73-475D-BD56-EAA83ECC6323}" srcOrd="0" destOrd="0" presId="urn:microsoft.com/office/officeart/2016/7/layout/LinearBlockProcessNumbered"/>
    <dgm:cxn modelId="{D5BD160B-4EBA-419E-86EC-1A5ECA792C14}" type="presOf" srcId="{FF57CC23-B98E-4C64-A889-07CC0B2DBF66}" destId="{250BC58F-C6B6-467E-A580-CBA6266C3247}" srcOrd="1" destOrd="0" presId="urn:microsoft.com/office/officeart/2016/7/layout/LinearBlockProcessNumbered"/>
    <dgm:cxn modelId="{EEBD1A33-8201-42A8-B00B-B6BE9E75072C}" srcId="{381DFE72-D6FD-4173-97A4-A8314957DED2}" destId="{FF57CC23-B98E-4C64-A889-07CC0B2DBF66}" srcOrd="0" destOrd="0" parTransId="{F76088D4-3368-4D8F-9366-601EF9DA40C1}" sibTransId="{EBAE54F0-4894-4247-ACA0-A83507677E65}"/>
    <dgm:cxn modelId="{52CBEB6A-6ED2-43BD-8172-6BC33A6F1593}" type="presOf" srcId="{014A6FCE-93E4-4DB7-BAAB-ACD5773278B0}" destId="{9E354BF4-3736-4A2A-A04F-89E27C3C365B}" srcOrd="1" destOrd="0" presId="urn:microsoft.com/office/officeart/2016/7/layout/LinearBlockProcessNumbered"/>
    <dgm:cxn modelId="{BB35F752-207D-47DF-AC47-D6BC43F7E1EC}" srcId="{381DFE72-D6FD-4173-97A4-A8314957DED2}" destId="{014A6FCE-93E4-4DB7-BAAB-ACD5773278B0}" srcOrd="1" destOrd="0" parTransId="{55C86403-4FF0-40AB-92BF-9CE66474DA1E}" sibTransId="{1EAC3101-2A2B-47EE-8AE0-E9A6450C9C30}"/>
    <dgm:cxn modelId="{D509D355-31FA-48E0-94E5-342D77C3DC8B}" type="presOf" srcId="{014A6FCE-93E4-4DB7-BAAB-ACD5773278B0}" destId="{49C3B087-8271-461F-9268-F9BD803AEA27}" srcOrd="0" destOrd="0" presId="urn:microsoft.com/office/officeart/2016/7/layout/LinearBlockProcessNumbered"/>
    <dgm:cxn modelId="{6A70C87B-7E87-46C5-9445-E27FB11D58BB}" type="presOf" srcId="{1EAC3101-2A2B-47EE-8AE0-E9A6450C9C30}" destId="{D2C6983C-58B3-4895-B3F2-B3BBF7C0E53E}" srcOrd="0" destOrd="0" presId="urn:microsoft.com/office/officeart/2016/7/layout/LinearBlockProcessNumbered"/>
    <dgm:cxn modelId="{1B45D9A9-26D2-424B-888E-D484E2AF23DE}" type="presOf" srcId="{FF57CC23-B98E-4C64-A889-07CC0B2DBF66}" destId="{1ECB2C9A-83B8-4947-9EE3-68613743DC33}" srcOrd="0" destOrd="0" presId="urn:microsoft.com/office/officeart/2016/7/layout/LinearBlockProcessNumbered"/>
    <dgm:cxn modelId="{6DEFAFD0-33B2-49D4-8DDE-1EB57BC15E2A}" type="presOf" srcId="{EBAE54F0-4894-4247-ACA0-A83507677E65}" destId="{A675FC8F-7B2A-4E6B-8CFD-9DF2B5B2008C}" srcOrd="0" destOrd="0" presId="urn:microsoft.com/office/officeart/2016/7/layout/LinearBlockProcessNumbered"/>
    <dgm:cxn modelId="{EDA57741-5E4D-4C06-B758-03BDB56C0BF4}" type="presParOf" srcId="{592F580F-0D73-475D-BD56-EAA83ECC6323}" destId="{624DB0C5-E2D9-4B28-BE5E-F304F1DECC25}" srcOrd="0" destOrd="0" presId="urn:microsoft.com/office/officeart/2016/7/layout/LinearBlockProcessNumbered"/>
    <dgm:cxn modelId="{52060852-2E9C-4F6E-880F-84225A431DB3}" type="presParOf" srcId="{624DB0C5-E2D9-4B28-BE5E-F304F1DECC25}" destId="{1ECB2C9A-83B8-4947-9EE3-68613743DC33}" srcOrd="0" destOrd="0" presId="urn:microsoft.com/office/officeart/2016/7/layout/LinearBlockProcessNumbered"/>
    <dgm:cxn modelId="{BFDEDA38-CB21-441A-825A-DBBF0BEA9DEE}" type="presParOf" srcId="{624DB0C5-E2D9-4B28-BE5E-F304F1DECC25}" destId="{A675FC8F-7B2A-4E6B-8CFD-9DF2B5B2008C}" srcOrd="1" destOrd="0" presId="urn:microsoft.com/office/officeart/2016/7/layout/LinearBlockProcessNumbered"/>
    <dgm:cxn modelId="{A72E1E1D-4B0D-458F-958E-5835C7906B99}" type="presParOf" srcId="{624DB0C5-E2D9-4B28-BE5E-F304F1DECC25}" destId="{250BC58F-C6B6-467E-A580-CBA6266C3247}" srcOrd="2" destOrd="0" presId="urn:microsoft.com/office/officeart/2016/7/layout/LinearBlockProcessNumbered"/>
    <dgm:cxn modelId="{19272AAA-E983-4FE8-B56A-88DE2A48673B}" type="presParOf" srcId="{592F580F-0D73-475D-BD56-EAA83ECC6323}" destId="{4ABF0973-1DD4-4D3F-98EA-7AEBED64BEA1}" srcOrd="1" destOrd="0" presId="urn:microsoft.com/office/officeart/2016/7/layout/LinearBlockProcessNumbered"/>
    <dgm:cxn modelId="{8A4A2B33-9471-467E-A4AC-A89B44E4A7C3}" type="presParOf" srcId="{592F580F-0D73-475D-BD56-EAA83ECC6323}" destId="{BF2EEBDE-6000-4B59-BC6D-292787246E3C}" srcOrd="2" destOrd="0" presId="urn:microsoft.com/office/officeart/2016/7/layout/LinearBlockProcessNumbered"/>
    <dgm:cxn modelId="{30264A54-F2D5-4926-844E-CE1C92D25BE5}" type="presParOf" srcId="{BF2EEBDE-6000-4B59-BC6D-292787246E3C}" destId="{49C3B087-8271-461F-9268-F9BD803AEA27}" srcOrd="0" destOrd="0" presId="urn:microsoft.com/office/officeart/2016/7/layout/LinearBlockProcessNumbered"/>
    <dgm:cxn modelId="{8B40EA24-20A6-4463-8217-BD618AB6FBCF}" type="presParOf" srcId="{BF2EEBDE-6000-4B59-BC6D-292787246E3C}" destId="{D2C6983C-58B3-4895-B3F2-B3BBF7C0E53E}" srcOrd="1" destOrd="0" presId="urn:microsoft.com/office/officeart/2016/7/layout/LinearBlockProcessNumbered"/>
    <dgm:cxn modelId="{38C2CE94-A658-4DC2-9FEE-A04593586816}" type="presParOf" srcId="{BF2EEBDE-6000-4B59-BC6D-292787246E3C}" destId="{9E354BF4-3736-4A2A-A04F-89E27C3C365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203784-F5B5-4C4A-A9C0-0645C3DF515D}" type="doc">
      <dgm:prSet loTypeId="urn:microsoft.com/office/officeart/2005/8/layout/vProcess5" loCatId="process" qsTypeId="urn:microsoft.com/office/officeart/2005/8/quickstyle/simple2#1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72082AD1-D7F6-4711-B7C3-29335BF48FF5}">
      <dgm:prSet custT="1"/>
      <dgm:spPr/>
      <dgm:t>
        <a:bodyPr/>
        <a:lstStyle/>
        <a:p>
          <a:r>
            <a:rPr lang="en-US" sz="1800" dirty="0"/>
            <a:t>Just as Indian temples were built from the </a:t>
          </a:r>
          <a:r>
            <a:rPr lang="en-US" sz="1800" b="1" dirty="0"/>
            <a:t>outside in</a:t>
          </a:r>
          <a:r>
            <a:rPr lang="en-US" sz="1800" dirty="0"/>
            <a:t>, starting from complex towers (Gopuram) and moving to the </a:t>
          </a:r>
          <a:r>
            <a:rPr lang="en-US" sz="1800" b="1" dirty="0"/>
            <a:t>simple core (Sanctum)</a:t>
          </a:r>
          <a:r>
            <a:rPr lang="en-US" sz="1800" dirty="0"/>
            <a:t>,</a:t>
          </a:r>
        </a:p>
      </dgm:t>
    </dgm:pt>
    <dgm:pt modelId="{DF7EF5BE-6660-46EB-B0DC-A192359FF498}" type="parTrans" cxnId="{453A4912-9698-407B-9A2F-F2324A8D2124}">
      <dgm:prSet/>
      <dgm:spPr/>
      <dgm:t>
        <a:bodyPr/>
        <a:lstStyle/>
        <a:p>
          <a:endParaRPr lang="en-US"/>
        </a:p>
      </dgm:t>
    </dgm:pt>
    <dgm:pt modelId="{F098E2B2-C69D-4415-BA63-A2FF9AAEC9BA}" type="sibTrans" cxnId="{453A4912-9698-407B-9A2F-F2324A8D2124}">
      <dgm:prSet/>
      <dgm:spPr/>
      <dgm:t>
        <a:bodyPr/>
        <a:lstStyle/>
        <a:p>
          <a:endParaRPr lang="en-US"/>
        </a:p>
      </dgm:t>
    </dgm:pt>
    <dgm:pt modelId="{B5E6EFE0-25F8-43A9-85B5-21ED3A1A9A4B}">
      <dgm:prSet/>
      <dgm:spPr/>
      <dgm:t>
        <a:bodyPr/>
        <a:lstStyle/>
        <a:p>
          <a:r>
            <a:rPr lang="en-US" dirty="0"/>
            <a:t>AI and quantum systems must also zoom in on the </a:t>
          </a:r>
          <a:r>
            <a:rPr lang="en-US" b="1" dirty="0"/>
            <a:t>core information</a:t>
          </a:r>
          <a:r>
            <a:rPr lang="en-US" dirty="0"/>
            <a:t>  filtering out complexity using </a:t>
          </a:r>
          <a:r>
            <a:rPr lang="en-US" b="1" dirty="0"/>
            <a:t>renormalization and tensor logic</a:t>
          </a:r>
          <a:endParaRPr lang="en-US" dirty="0"/>
        </a:p>
      </dgm:t>
    </dgm:pt>
    <dgm:pt modelId="{851B5C3E-673F-4263-B9C2-EDBF9DDD4CBE}" type="parTrans" cxnId="{816F6C48-3791-45B5-890C-DDE322D6DEDB}">
      <dgm:prSet/>
      <dgm:spPr/>
      <dgm:t>
        <a:bodyPr/>
        <a:lstStyle/>
        <a:p>
          <a:endParaRPr lang="en-US"/>
        </a:p>
      </dgm:t>
    </dgm:pt>
    <dgm:pt modelId="{EA892945-18F1-42DA-9CA0-F07FEA57CFE1}" type="sibTrans" cxnId="{816F6C48-3791-45B5-890C-DDE322D6DEDB}">
      <dgm:prSet/>
      <dgm:spPr/>
      <dgm:t>
        <a:bodyPr/>
        <a:lstStyle/>
        <a:p>
          <a:endParaRPr lang="en-US"/>
        </a:p>
      </dgm:t>
    </dgm:pt>
    <dgm:pt modelId="{13783D30-256B-4EB6-B856-38C3943F4D43}" type="pres">
      <dgm:prSet presAssocID="{32203784-F5B5-4C4A-A9C0-0645C3DF515D}" presName="outerComposite" presStyleCnt="0">
        <dgm:presLayoutVars>
          <dgm:chMax val="5"/>
          <dgm:dir/>
          <dgm:resizeHandles val="exact"/>
        </dgm:presLayoutVars>
      </dgm:prSet>
      <dgm:spPr/>
    </dgm:pt>
    <dgm:pt modelId="{26A5FD9B-4D5E-4B84-BE75-33DABA1EFCE8}" type="pres">
      <dgm:prSet presAssocID="{32203784-F5B5-4C4A-A9C0-0645C3DF515D}" presName="dummyMaxCanvas" presStyleCnt="0">
        <dgm:presLayoutVars/>
      </dgm:prSet>
      <dgm:spPr/>
    </dgm:pt>
    <dgm:pt modelId="{5ACEA57D-6F5F-43BB-9C4F-83F3518C86F0}" type="pres">
      <dgm:prSet presAssocID="{32203784-F5B5-4C4A-A9C0-0645C3DF515D}" presName="TwoNodes_1" presStyleLbl="node1" presStyleIdx="0" presStyleCnt="2">
        <dgm:presLayoutVars>
          <dgm:bulletEnabled val="1"/>
        </dgm:presLayoutVars>
      </dgm:prSet>
      <dgm:spPr/>
    </dgm:pt>
    <dgm:pt modelId="{87E05058-5861-4E72-8E01-4B7D8A559B09}" type="pres">
      <dgm:prSet presAssocID="{32203784-F5B5-4C4A-A9C0-0645C3DF515D}" presName="TwoNodes_2" presStyleLbl="node1" presStyleIdx="1" presStyleCnt="2">
        <dgm:presLayoutVars>
          <dgm:bulletEnabled val="1"/>
        </dgm:presLayoutVars>
      </dgm:prSet>
      <dgm:spPr/>
    </dgm:pt>
    <dgm:pt modelId="{33BAE158-535B-41E3-AC2E-A6F5ECBDAECA}" type="pres">
      <dgm:prSet presAssocID="{32203784-F5B5-4C4A-A9C0-0645C3DF515D}" presName="TwoConn_1-2" presStyleLbl="fgAccFollowNode1" presStyleIdx="0" presStyleCnt="1">
        <dgm:presLayoutVars>
          <dgm:bulletEnabled val="1"/>
        </dgm:presLayoutVars>
      </dgm:prSet>
      <dgm:spPr/>
    </dgm:pt>
    <dgm:pt modelId="{8DDF1AA6-FB83-4C23-A65D-482A1572AF13}" type="pres">
      <dgm:prSet presAssocID="{32203784-F5B5-4C4A-A9C0-0645C3DF515D}" presName="TwoNodes_1_text" presStyleLbl="node1" presStyleIdx="1" presStyleCnt="2">
        <dgm:presLayoutVars>
          <dgm:bulletEnabled val="1"/>
        </dgm:presLayoutVars>
      </dgm:prSet>
      <dgm:spPr/>
    </dgm:pt>
    <dgm:pt modelId="{8694E304-63F4-4D8D-9C11-0BACB4909564}" type="pres">
      <dgm:prSet presAssocID="{32203784-F5B5-4C4A-A9C0-0645C3DF515D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453A4912-9698-407B-9A2F-F2324A8D2124}" srcId="{32203784-F5B5-4C4A-A9C0-0645C3DF515D}" destId="{72082AD1-D7F6-4711-B7C3-29335BF48FF5}" srcOrd="0" destOrd="0" parTransId="{DF7EF5BE-6660-46EB-B0DC-A192359FF498}" sibTransId="{F098E2B2-C69D-4415-BA63-A2FF9AAEC9BA}"/>
    <dgm:cxn modelId="{AE8EE31F-F648-4A70-AF1A-86E7F647707A}" type="presOf" srcId="{32203784-F5B5-4C4A-A9C0-0645C3DF515D}" destId="{13783D30-256B-4EB6-B856-38C3943F4D43}" srcOrd="0" destOrd="0" presId="urn:microsoft.com/office/officeart/2005/8/layout/vProcess5"/>
    <dgm:cxn modelId="{E5F78D3E-3234-478C-9873-00645D447101}" type="presOf" srcId="{B5E6EFE0-25F8-43A9-85B5-21ED3A1A9A4B}" destId="{87E05058-5861-4E72-8E01-4B7D8A559B09}" srcOrd="0" destOrd="0" presId="urn:microsoft.com/office/officeart/2005/8/layout/vProcess5"/>
    <dgm:cxn modelId="{816F6C48-3791-45B5-890C-DDE322D6DEDB}" srcId="{32203784-F5B5-4C4A-A9C0-0645C3DF515D}" destId="{B5E6EFE0-25F8-43A9-85B5-21ED3A1A9A4B}" srcOrd="1" destOrd="0" parTransId="{851B5C3E-673F-4263-B9C2-EDBF9DDD4CBE}" sibTransId="{EA892945-18F1-42DA-9CA0-F07FEA57CFE1}"/>
    <dgm:cxn modelId="{DDC29FA3-76EE-4D0F-893F-9E6B106C1C28}" type="presOf" srcId="{B5E6EFE0-25F8-43A9-85B5-21ED3A1A9A4B}" destId="{8694E304-63F4-4D8D-9C11-0BACB4909564}" srcOrd="1" destOrd="0" presId="urn:microsoft.com/office/officeart/2005/8/layout/vProcess5"/>
    <dgm:cxn modelId="{3BBAA5A6-F0D9-4672-B4C0-A90FACB4AC60}" type="presOf" srcId="{72082AD1-D7F6-4711-B7C3-29335BF48FF5}" destId="{8DDF1AA6-FB83-4C23-A65D-482A1572AF13}" srcOrd="1" destOrd="0" presId="urn:microsoft.com/office/officeart/2005/8/layout/vProcess5"/>
    <dgm:cxn modelId="{883B5DAF-C66A-46B8-8419-F0862D1FC7D2}" type="presOf" srcId="{72082AD1-D7F6-4711-B7C3-29335BF48FF5}" destId="{5ACEA57D-6F5F-43BB-9C4F-83F3518C86F0}" srcOrd="0" destOrd="0" presId="urn:microsoft.com/office/officeart/2005/8/layout/vProcess5"/>
    <dgm:cxn modelId="{C50ABAF6-6D2F-47D0-8EA9-A77FEA85C011}" type="presOf" srcId="{F098E2B2-C69D-4415-BA63-A2FF9AAEC9BA}" destId="{33BAE158-535B-41E3-AC2E-A6F5ECBDAECA}" srcOrd="0" destOrd="0" presId="urn:microsoft.com/office/officeart/2005/8/layout/vProcess5"/>
    <dgm:cxn modelId="{B2F27CBC-3A8A-44E9-8730-4AB65925961B}" type="presParOf" srcId="{13783D30-256B-4EB6-B856-38C3943F4D43}" destId="{26A5FD9B-4D5E-4B84-BE75-33DABA1EFCE8}" srcOrd="0" destOrd="0" presId="urn:microsoft.com/office/officeart/2005/8/layout/vProcess5"/>
    <dgm:cxn modelId="{EAAE09C0-4068-4A1E-A2B4-D6AEDFE20277}" type="presParOf" srcId="{13783D30-256B-4EB6-B856-38C3943F4D43}" destId="{5ACEA57D-6F5F-43BB-9C4F-83F3518C86F0}" srcOrd="1" destOrd="0" presId="urn:microsoft.com/office/officeart/2005/8/layout/vProcess5"/>
    <dgm:cxn modelId="{958E5CB1-C656-4C57-9970-EF776B496547}" type="presParOf" srcId="{13783D30-256B-4EB6-B856-38C3943F4D43}" destId="{87E05058-5861-4E72-8E01-4B7D8A559B09}" srcOrd="2" destOrd="0" presId="urn:microsoft.com/office/officeart/2005/8/layout/vProcess5"/>
    <dgm:cxn modelId="{4BDA6F2E-B6AE-47A9-AF8D-E3384AD35664}" type="presParOf" srcId="{13783D30-256B-4EB6-B856-38C3943F4D43}" destId="{33BAE158-535B-41E3-AC2E-A6F5ECBDAECA}" srcOrd="3" destOrd="0" presId="urn:microsoft.com/office/officeart/2005/8/layout/vProcess5"/>
    <dgm:cxn modelId="{1A82441D-A285-4D7A-BB48-9FE1CDB6B9AB}" type="presParOf" srcId="{13783D30-256B-4EB6-B856-38C3943F4D43}" destId="{8DDF1AA6-FB83-4C23-A65D-482A1572AF13}" srcOrd="4" destOrd="0" presId="urn:microsoft.com/office/officeart/2005/8/layout/vProcess5"/>
    <dgm:cxn modelId="{AC6CEEA3-DCAE-4CF1-AA22-1592A23DE7CD}" type="presParOf" srcId="{13783D30-256B-4EB6-B856-38C3943F4D43}" destId="{8694E304-63F4-4D8D-9C11-0BACB4909564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73644-31FE-4C3C-9899-85F7418DD5D1}">
      <dsp:nvSpPr>
        <dsp:cNvPr id="0" name=""/>
        <dsp:cNvSpPr/>
      </dsp:nvSpPr>
      <dsp:spPr bwMode="white">
        <a:xfrm>
          <a:off x="0" y="347373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There is a cat locked inside a box.</a:t>
          </a:r>
          <a:endParaRPr lang="en-US" sz="2200" kern="1200"/>
        </a:p>
      </dsp:txBody>
      <dsp:txXfrm>
        <a:off x="26387" y="373760"/>
        <a:ext cx="7806962" cy="487766"/>
      </dsp:txXfrm>
    </dsp:sp>
    <dsp:sp modelId="{478E0508-DAA1-4F6F-B181-7E6AEC486F5B}">
      <dsp:nvSpPr>
        <dsp:cNvPr id="0" name=""/>
        <dsp:cNvSpPr/>
      </dsp:nvSpPr>
      <dsp:spPr bwMode="white">
        <a:xfrm>
          <a:off x="0" y="951273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Inside the box, there's a tiny atom.</a:t>
          </a:r>
          <a:endParaRPr lang="en-US" sz="2200" kern="1200"/>
        </a:p>
      </dsp:txBody>
      <dsp:txXfrm>
        <a:off x="26387" y="977660"/>
        <a:ext cx="7806962" cy="487766"/>
      </dsp:txXfrm>
    </dsp:sp>
    <dsp:sp modelId="{DD0F372E-C07A-4D09-A00E-62436CF316C5}">
      <dsp:nvSpPr>
        <dsp:cNvPr id="0" name=""/>
        <dsp:cNvSpPr/>
      </dsp:nvSpPr>
      <dsp:spPr bwMode="white">
        <a:xfrm>
          <a:off x="0" y="1555174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If the atom breaks down, it releases poison and the cat dies.</a:t>
          </a:r>
          <a:endParaRPr lang="en-US" sz="2200" kern="1200"/>
        </a:p>
      </dsp:txBody>
      <dsp:txXfrm>
        <a:off x="26387" y="1581561"/>
        <a:ext cx="7806962" cy="487766"/>
      </dsp:txXfrm>
    </dsp:sp>
    <dsp:sp modelId="{2D865E00-1065-4C62-A028-0DB041727F0B}">
      <dsp:nvSpPr>
        <dsp:cNvPr id="0" name=""/>
        <dsp:cNvSpPr/>
      </dsp:nvSpPr>
      <dsp:spPr bwMode="white">
        <a:xfrm>
          <a:off x="0" y="2159074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If the atom doesn’t break down, the cat stays alive.</a:t>
          </a:r>
          <a:endParaRPr lang="en-US" sz="2200" kern="1200"/>
        </a:p>
      </dsp:txBody>
      <dsp:txXfrm>
        <a:off x="26387" y="2185461"/>
        <a:ext cx="7806962" cy="487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E3880-90A9-417C-A4C2-9543CEA2AFE8}">
      <dsp:nvSpPr>
        <dsp:cNvPr id="0" name=""/>
        <dsp:cNvSpPr/>
      </dsp:nvSpPr>
      <dsp:spPr bwMode="white">
        <a:xfrm>
          <a:off x="4142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Without RG</a:t>
          </a:r>
        </a:p>
      </dsp:txBody>
      <dsp:txXfrm>
        <a:off x="26708" y="653006"/>
        <a:ext cx="1238939" cy="725311"/>
      </dsp:txXfrm>
    </dsp:sp>
    <dsp:sp modelId="{6766C9D6-6A74-42C3-B68D-7986AA0F945D}">
      <dsp:nvSpPr>
        <dsp:cNvPr id="0" name=""/>
        <dsp:cNvSpPr/>
      </dsp:nvSpPr>
      <dsp:spPr bwMode="white">
        <a:xfrm>
          <a:off x="1401212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401212" y="920127"/>
        <a:ext cx="190556" cy="191069"/>
      </dsp:txXfrm>
    </dsp:sp>
    <dsp:sp modelId="{CCD451B5-DB66-495A-B710-858F35D2BF24}">
      <dsp:nvSpPr>
        <dsp:cNvPr id="0" name=""/>
        <dsp:cNvSpPr/>
      </dsp:nvSpPr>
      <dsp:spPr bwMode="white">
        <a:xfrm>
          <a:off x="1801842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Simulate every hair on the cat</a:t>
          </a:r>
        </a:p>
      </dsp:txBody>
      <dsp:txXfrm>
        <a:off x="1824408" y="653006"/>
        <a:ext cx="1238939" cy="725311"/>
      </dsp:txXfrm>
    </dsp:sp>
    <dsp:sp modelId="{1992206A-37A4-476D-B365-F91A35DB04EC}">
      <dsp:nvSpPr>
        <dsp:cNvPr id="0" name=""/>
        <dsp:cNvSpPr/>
      </dsp:nvSpPr>
      <dsp:spPr bwMode="white">
        <a:xfrm>
          <a:off x="3198912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198912" y="920127"/>
        <a:ext cx="190556" cy="191069"/>
      </dsp:txXfrm>
    </dsp:sp>
    <dsp:sp modelId="{A83BDE79-A78A-46D9-BA2F-394C31996DCB}">
      <dsp:nvSpPr>
        <dsp:cNvPr id="0" name=""/>
        <dsp:cNvSpPr/>
      </dsp:nvSpPr>
      <dsp:spPr bwMode="white">
        <a:xfrm>
          <a:off x="3599543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Store </a:t>
          </a:r>
          <a:r>
            <a:rPr lang="pt-BR" sz="1400" kern="1200"/>
            <a:t>2</a:t>
          </a:r>
          <a:r>
            <a:rPr lang="pt-BR" sz="1400" kern="1200" baseline="30000"/>
            <a:t>N </a:t>
          </a:r>
          <a:r>
            <a:rPr lang="en-US" sz="1400" kern="1200"/>
            <a:t>amplitudes</a:t>
          </a:r>
        </a:p>
      </dsp:txBody>
      <dsp:txXfrm>
        <a:off x="3622109" y="653006"/>
        <a:ext cx="1238939" cy="725311"/>
      </dsp:txXfrm>
    </dsp:sp>
    <dsp:sp modelId="{9CA5FBBB-75AC-44E3-B6E4-BF04C2DA1812}">
      <dsp:nvSpPr>
        <dsp:cNvPr id="0" name=""/>
        <dsp:cNvSpPr/>
      </dsp:nvSpPr>
      <dsp:spPr bwMode="white">
        <a:xfrm>
          <a:off x="4996613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996613" y="920127"/>
        <a:ext cx="190556" cy="191069"/>
      </dsp:txXfrm>
    </dsp:sp>
    <dsp:sp modelId="{F2FFE6A9-7FB5-4AAB-817C-313BF280FF47}">
      <dsp:nvSpPr>
        <dsp:cNvPr id="0" name=""/>
        <dsp:cNvSpPr/>
      </dsp:nvSpPr>
      <dsp:spPr bwMode="white">
        <a:xfrm>
          <a:off x="5397243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With RG</a:t>
          </a:r>
        </a:p>
      </dsp:txBody>
      <dsp:txXfrm>
        <a:off x="5419809" y="653006"/>
        <a:ext cx="1238939" cy="725311"/>
      </dsp:txXfrm>
    </dsp:sp>
    <dsp:sp modelId="{BA77626A-D6D3-464E-90EC-2250674496FD}">
      <dsp:nvSpPr>
        <dsp:cNvPr id="0" name=""/>
        <dsp:cNvSpPr/>
      </dsp:nvSpPr>
      <dsp:spPr bwMode="white">
        <a:xfrm>
          <a:off x="6794313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794313" y="920127"/>
        <a:ext cx="190556" cy="191069"/>
      </dsp:txXfrm>
    </dsp:sp>
    <dsp:sp modelId="{C4FA2A8F-69F2-4972-BD1F-89BD6006533D}">
      <dsp:nvSpPr>
        <dsp:cNvPr id="0" name=""/>
        <dsp:cNvSpPr/>
      </dsp:nvSpPr>
      <dsp:spPr bwMode="white">
        <a:xfrm>
          <a:off x="7194944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Track only two outcomes:</a:t>
          </a:r>
        </a:p>
      </dsp:txBody>
      <dsp:txXfrm>
        <a:off x="7217510" y="653006"/>
        <a:ext cx="1238939" cy="7253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B2C9A-83B8-4947-9EE3-68613743DC33}">
      <dsp:nvSpPr>
        <dsp:cNvPr id="0" name=""/>
        <dsp:cNvSpPr/>
      </dsp:nvSpPr>
      <dsp:spPr>
        <a:xfrm>
          <a:off x="66420" y="0"/>
          <a:ext cx="5250480" cy="419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0" rIns="51863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 digital signal contains both high-frequency noise and low-frequency clinical trends. To efficiently extract only clinically relevant features, a coarse-graining approach is applied by averaging every 100 consecutive samples. This is conceptually most similar to</a:t>
          </a:r>
        </a:p>
      </dsp:txBody>
      <dsp:txXfrm>
        <a:off x="66420" y="1677122"/>
        <a:ext cx="5250480" cy="2515683"/>
      </dsp:txXfrm>
    </dsp:sp>
    <dsp:sp modelId="{A675FC8F-7B2A-4E6B-8CFD-9DF2B5B2008C}">
      <dsp:nvSpPr>
        <dsp:cNvPr id="0" name=""/>
        <dsp:cNvSpPr/>
      </dsp:nvSpPr>
      <dsp:spPr>
        <a:xfrm>
          <a:off x="3414" y="0"/>
          <a:ext cx="5250480" cy="167712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165100" rIns="518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3414" y="0"/>
        <a:ext cx="5250480" cy="1677122"/>
      </dsp:txXfrm>
    </dsp:sp>
    <dsp:sp modelId="{49C3B087-8271-461F-9268-F9BD803AEA27}">
      <dsp:nvSpPr>
        <dsp:cNvPr id="0" name=""/>
        <dsp:cNvSpPr/>
      </dsp:nvSpPr>
      <dsp:spPr>
        <a:xfrm>
          <a:off x="5673933" y="0"/>
          <a:ext cx="5250480" cy="41928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0" rIns="51863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A) Fourier Transform</a:t>
          </a:r>
          <a:br>
            <a:rPr lang="en-US" sz="1900" kern="1200" dirty="0"/>
          </a:br>
          <a:r>
            <a:rPr lang="en-US" sz="1900" kern="1200" dirty="0"/>
            <a:t>B) Principal Component Analysis</a:t>
          </a:r>
          <a:br>
            <a:rPr lang="en-US" sz="1900" kern="1200" dirty="0"/>
          </a:br>
          <a:r>
            <a:rPr lang="en-US" sz="1900" kern="1200" dirty="0"/>
            <a:t>C) Renormalization Group Flow</a:t>
          </a:r>
          <a:br>
            <a:rPr lang="en-US" sz="1900" kern="1200" dirty="0"/>
          </a:br>
          <a:r>
            <a:rPr lang="en-US" sz="1900" kern="1200" dirty="0"/>
            <a:t>D) Nyquist Sampling</a:t>
          </a:r>
          <a:br>
            <a:rPr lang="en-US" sz="1900" kern="1200" dirty="0"/>
          </a:br>
          <a:r>
            <a:rPr lang="en-US" sz="1900" kern="1200" dirty="0"/>
            <a:t>E) Histogram Equalization</a:t>
          </a:r>
        </a:p>
      </dsp:txBody>
      <dsp:txXfrm>
        <a:off x="5673933" y="1677121"/>
        <a:ext cx="5250480" cy="2515683"/>
      </dsp:txXfrm>
    </dsp:sp>
    <dsp:sp modelId="{D2C6983C-58B3-4895-B3F2-B3BBF7C0E53E}">
      <dsp:nvSpPr>
        <dsp:cNvPr id="0" name=""/>
        <dsp:cNvSpPr/>
      </dsp:nvSpPr>
      <dsp:spPr>
        <a:xfrm>
          <a:off x="5673933" y="0"/>
          <a:ext cx="5250480" cy="167712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165100" rIns="518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5673933" y="0"/>
        <a:ext cx="5250480" cy="16771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EA57D-6F5F-43BB-9C4F-83F3518C86F0}">
      <dsp:nvSpPr>
        <dsp:cNvPr id="0" name=""/>
        <dsp:cNvSpPr/>
      </dsp:nvSpPr>
      <dsp:spPr bwMode="white">
        <a:xfrm>
          <a:off x="0" y="0"/>
          <a:ext cx="4529850" cy="18259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Just as Indian temples were built from the </a:t>
          </a:r>
          <a:r>
            <a:rPr lang="en-US" sz="1800" b="1" kern="1200" dirty="0"/>
            <a:t>outside in</a:t>
          </a:r>
          <a:r>
            <a:rPr lang="en-US" sz="1800" kern="1200" dirty="0"/>
            <a:t>, starting from complex towers (Gopuram) and moving to the </a:t>
          </a:r>
          <a:r>
            <a:rPr lang="en-US" sz="1800" b="1" kern="1200" dirty="0"/>
            <a:t>simple core (Sanctum)</a:t>
          </a:r>
          <a:r>
            <a:rPr lang="en-US" sz="1800" kern="1200" dirty="0"/>
            <a:t>,</a:t>
          </a:r>
        </a:p>
      </dsp:txBody>
      <dsp:txXfrm>
        <a:off x="53480" y="53480"/>
        <a:ext cx="2642596" cy="1718982"/>
      </dsp:txXfrm>
    </dsp:sp>
    <dsp:sp modelId="{87E05058-5861-4E72-8E01-4B7D8A559B09}">
      <dsp:nvSpPr>
        <dsp:cNvPr id="0" name=""/>
        <dsp:cNvSpPr/>
      </dsp:nvSpPr>
      <dsp:spPr bwMode="white">
        <a:xfrm>
          <a:off x="799385" y="2231707"/>
          <a:ext cx="4529850" cy="182594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 and quantum systems must also zoom in on the </a:t>
          </a:r>
          <a:r>
            <a:rPr lang="en-US" sz="1700" b="1" kern="1200" dirty="0"/>
            <a:t>core information</a:t>
          </a:r>
          <a:r>
            <a:rPr lang="en-US" sz="1700" kern="1200" dirty="0"/>
            <a:t>  filtering out complexity using </a:t>
          </a:r>
          <a:r>
            <a:rPr lang="en-US" sz="1700" b="1" kern="1200" dirty="0"/>
            <a:t>renormalization and tensor logic</a:t>
          </a:r>
          <a:endParaRPr lang="en-US" sz="1700" kern="1200" dirty="0"/>
        </a:p>
      </dsp:txBody>
      <dsp:txXfrm>
        <a:off x="852865" y="2285187"/>
        <a:ext cx="2436642" cy="1718982"/>
      </dsp:txXfrm>
    </dsp:sp>
    <dsp:sp modelId="{33BAE158-535B-41E3-AC2E-A6F5ECBDAECA}">
      <dsp:nvSpPr>
        <dsp:cNvPr id="0" name=""/>
        <dsp:cNvSpPr/>
      </dsp:nvSpPr>
      <dsp:spPr bwMode="white">
        <a:xfrm>
          <a:off x="3342987" y="1435393"/>
          <a:ext cx="1186862" cy="11868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10031" y="1435393"/>
        <a:ext cx="652774" cy="893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#1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bkpt" val="endCnv"/>
          <dgm:param type="contDir" val="revDir"/>
          <dgm:param type="grDir" val="tL"/>
          <dgm:param type="flowDir" val="row"/>
        </dgm:alg>
      </dgm:if>
      <dgm:else name="Name2">
        <dgm:alg type="snake">
          <dgm:param type="bkpt" val="endCnv"/>
          <dgm:param type="contDir" val="rev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rPr/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rPr/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rPr/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stBulletLvl" val="2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E6145-4FAA-4ADE-9BFB-9B3106E16E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F7823-BCB0-4A78-B782-6A17CA9D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8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8364-A455-B745-9803-4CDA09A58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010EA-8DCD-8F38-486F-920988236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934F5-7888-957D-B73E-E9834152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C599A-AD2C-B6E2-446C-7AC145213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D2FBC-AC76-F203-772C-5E35215D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82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C5B1E-1FBA-F456-3EED-7661E9A5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06287-E3DD-CF8D-2E86-7F7352302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19F11-1E6E-93A4-087C-54FA5226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AE06E-D6FF-A8BB-9423-897E4900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D0743-2140-103C-3E99-301E6815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8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BD34-1F0A-96E1-03DE-11C85F366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DDB10-1CF5-A66D-6EA0-1B5995835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DA778-F605-2FDF-8EFE-67D313A20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C2963-8710-EF6C-D1CC-D12B12BE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A3AF0-F06E-6C82-9670-5FAA5666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6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023B-6677-6CA8-EF9B-0B059D00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E29AC-3C13-EAB2-3127-3C2B572FE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CF6D2-D4C2-57E6-7677-FD96D5766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7CA59-EC8B-4135-C243-214A7602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9890A-48D8-6CF5-3BB6-E4F3CE03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6A552-2F51-886B-1280-3395B47A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9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1B39-4EDD-7AAB-4888-1D5B41946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EEA69-7474-E094-2F56-F3C55D4B5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E76B0-11C7-460B-BE53-3BFED06E6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30B1AE-C305-9D4D-5CF5-359F19C03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0B89D6-A77B-6B99-073A-78CBC31B4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4F50C9-4E87-65B2-AAF7-241FB435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A780E-EE4F-C64F-A283-EFFF0586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EBE10-61B5-4389-1561-173C4F05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37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3D77-0BA4-2D58-70EF-80495160B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1025E-D64D-3E21-202F-051D3C55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7EE90-BE03-4EDB-86A8-791B42D67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772EE-91F7-572B-E228-8F2094F6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8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7682B-4B38-10E7-9AE2-DE2A3EA6A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5C237-174D-D463-B428-4BBE29FE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B82B2-0D80-3BD3-2FA1-DC085E86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7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39FB4-B2C1-D8BC-F0E6-0DB29B9C7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042B8-F293-BE2B-8ECF-0B806B32C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13B63-A621-A30E-C1E3-5BB93C1F4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DA3B2-BC7A-F310-04D7-1A19890B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56E5F-9D70-0F47-5481-71276EC0A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843B6-6EE8-FCF0-F454-C124BD07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DEC4-47B8-F066-1690-463C92F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D56E8-0074-03AA-66C5-45FE3408E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EBC3-11FB-2EBF-A5FC-81C423860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6CF2C-9892-F5E3-A81D-CC4D281C5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F133E-DD5A-53D9-8ACA-AF3E8F35B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D19B9-778D-2FF6-1255-E07F03F5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82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9FD93-B1F2-2303-182C-E34BE6C37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3287E-A978-080A-2B65-F45EA6EE8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12A21-EA9D-7E94-9350-6702C75A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1C133-EFAB-93DF-9AF0-EF2C868C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4ABF1-2BEA-0CC7-69A4-E9DC5C41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0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F8715-E77E-5548-001F-23DAFE3312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5D873-406C-8A67-B760-F57401447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26D6C-EE75-DF30-A186-5E37461C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BF0C1-EB70-5A48-1B8D-D4F786C2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6BCFB-E536-5149-FF49-BFF47B206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02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89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F5BF0D-4854-9266-5F91-5682E37B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FDCA3-D74D-2BEF-815F-EB7483C54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59E77-C990-5439-4A96-744FD5BD7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B0CCE-6A66-43D8-B967-0832F3984B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B2649-6FF2-B658-8959-633AA31B8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1F2BE-CEA5-8040-C26F-A19DDD1D9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06B39-47BB-4792-85EC-CF0A5DCEB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3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12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11.png"/><Relationship Id="rId10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microsoft.com/office/2007/relationships/diagramDrawing" Target="../diagrams/drawin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5" Type="http://schemas.openxmlformats.org/officeDocument/2006/relationships/image" Target="../media/image18.png"/><Relationship Id="rId10" Type="http://schemas.microsoft.com/office/2007/relationships/diagramDrawing" Target="../diagrams/drawing2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3.png"/><Relationship Id="rId9" Type="http://schemas.microsoft.com/office/2007/relationships/diagramDrawing" Target="../diagrams/drawing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4.xml"/><Relationship Id="rId5" Type="http://schemas.openxmlformats.org/officeDocument/2006/relationships/image" Target="../media/image3.png"/><Relationship Id="rId10" Type="http://schemas.microsoft.com/office/2007/relationships/diagramDrawing" Target="../diagrams/drawing4.xml"/><Relationship Id="rId4" Type="http://schemas.openxmlformats.org/officeDocument/2006/relationships/image" Target="../media/image2.jpeg"/><Relationship Id="rId9" Type="http://schemas.openxmlformats.org/officeDocument/2006/relationships/diagramColors" Target="../diagrams/colors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7" y="135081"/>
            <a:ext cx="1273741" cy="102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6754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48965" y="6189084"/>
            <a:ext cx="6094070" cy="369332"/>
          </a:xfrm>
          <a:prstGeom prst="rect">
            <a:avLst/>
          </a:prstGeom>
          <a:gradFill>
            <a:gsLst>
              <a:gs pos="0">
                <a:srgbClr val="00B050"/>
              </a:gs>
              <a:gs pos="2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Ignore the noise. Zoom out. Focus on what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6887" y="1203733"/>
            <a:ext cx="10514634" cy="628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Renormalization Theory in Quantum Intelligence Unifying Physics, AI, and Intelligent Systems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Teoría de la Renormalización en la Inteligencia Cuántica</a:t>
            </a:r>
            <a:endParaRPr lang="en-US" sz="2800" dirty="0"/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 Saravana Prakash </a:t>
            </a:r>
            <a:r>
              <a:rPr lang="en-US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Thirumuruganandham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Founder , </a:t>
            </a:r>
            <a:r>
              <a:rPr lang="en-U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Hessq.tech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Manitoba, Canada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Director of Research and Development 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SIT Health and SMART CO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Catalina </a:t>
            </a:r>
            <a:r>
              <a:rPr lang="en-U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aldez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av Portugal 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Quito, Ecuador, E mail </a:t>
            </a:r>
            <a:r>
              <a:rPr lang="en-U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Saravana@sit.health</a:t>
            </a: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6">
              <a:lnSpc>
                <a:spcPct val="107000"/>
              </a:lnSpc>
              <a:spcAft>
                <a:spcPts val="800"/>
              </a:spcAft>
            </a:pP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0510" y="3030220"/>
            <a:ext cx="8535670" cy="781050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noAutofit/>
          </a:bodyPr>
          <a:lstStyle/>
          <a:p>
            <a:pPr algn="ctr"/>
            <a:r>
              <a:rPr lang="en-US" sz="2000" b="1" dirty="0"/>
              <a:t>Venue. Universidad del Quindio, Colombia, Fecha 6-8-2026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34" y="457200"/>
            <a:ext cx="9824131" cy="5943600"/>
          </a:xfrm>
          <a:prstGeom prst="rect">
            <a:avLst/>
          </a:prstGeom>
        </p:spPr>
      </p:pic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CONTEXTO HISTÓRICO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932" y="845820"/>
            <a:ext cx="10515600" cy="8686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Cincuenta años del grupo de renormalización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62607" y="2140790"/>
            <a:ext cx="11266785" cy="257642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La renormalización fue el avance que volvió manejable a la teoría cuántica de campos a fines de la década de 1940.</a:t>
            </a:r>
            <a:endParaRPr lang="en-US" sz="24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endParaRPr lang="en-US" sz="24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método del grupo de renormalización sigue siendo una herramienta central para el desarrollo teórico desde entonces.</a:t>
            </a:r>
            <a:endParaRPr lang="en-US" sz="24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endParaRPr lang="en-US" sz="24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físico Dmitry Shirkov, pionero del campo junto a Nikolái Bogoliúbov, ha documentado esta historia de primera mano.</a:t>
            </a:r>
            <a:endParaRPr lang="en-US" sz="2400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840441" y="554307"/>
            <a:ext cx="5230018" cy="26309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u="sng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6142297" y="1199931"/>
            <a:ext cx="4558247" cy="8921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441385" y="4049583"/>
            <a:ext cx="6028130" cy="7393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441385" y="3124256"/>
            <a:ext cx="8674637" cy="6505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368441" y="5122895"/>
            <a:ext cx="11495610" cy="483278"/>
          </a:xfrm>
          <a:prstGeom prst="rect">
            <a:avLst/>
          </a:prstGeom>
        </p:spPr>
      </p:pic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694534" y="3712164"/>
            <a:ext cx="4545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Higher powers are almost invisible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463" y="426421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All terms matter a 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472" y="5806032"/>
            <a:ext cx="7315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x^4 term completely dominates — others can be ignored.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55925" y="603504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 polinomio simple ilustra la idea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34672" y="196596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f(x) = 0.01x⁴ + 0.1x² + 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9875520" cy="1426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200" dirty="0">
                <a:solidFill>
                  <a:srgbClr val="EEF3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x = 1, todos los términos contribuyen de forma similar — f(1) ≈ 1.11.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200" dirty="0">
                <a:solidFill>
                  <a:srgbClr val="EEF3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x = 100, el término x⁴ supera el 1.000.000, mientras el resto casi no cuenta.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200" dirty="0">
                <a:solidFill>
                  <a:srgbClr val="EEF3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Vistos a gran escala, el término x⁴ domina por completo — los demás se pueden ignorar</a:t>
            </a:r>
            <a:r>
              <a:rPr lang="en-US" sz="1500" dirty="0">
                <a:solidFill>
                  <a:srgbClr val="EEF3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/ 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52989" y="2745551"/>
            <a:ext cx="78606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 qubit ≠ superposition</a:t>
            </a:r>
          </a:p>
          <a:p>
            <a:endParaRPr lang="en-US" sz="3200" dirty="0"/>
          </a:p>
          <a:p>
            <a:r>
              <a:rPr lang="en-US" sz="3200" dirty="0"/>
              <a:t>A </a:t>
            </a:r>
            <a:r>
              <a:rPr lang="en-US" sz="3200" b="1" dirty="0"/>
              <a:t>qubit can be in a superposition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52989" y="4524116"/>
          <a:ext cx="10515600" cy="579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 dirty="0"/>
                        <a:t>Superposition is a </a:t>
                      </a:r>
                      <a:r>
                        <a:rPr lang="en-US" sz="3200" b="0" dirty="0"/>
                        <a:t>property</a:t>
                      </a:r>
                      <a:r>
                        <a:rPr lang="en-US" sz="3200" b="1" dirty="0"/>
                        <a:t> of qubits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34012" y="5238034"/>
          <a:ext cx="6946252" cy="863011"/>
        </p:xfrm>
        <a:graphic>
          <a:graphicData uri="http://schemas.openxmlformats.org/drawingml/2006/table">
            <a:tbl>
              <a:tblPr/>
              <a:tblGrid>
                <a:gridCol w="694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3011">
                <a:tc>
                  <a:txBody>
                    <a:bodyPr/>
                    <a:lstStyle/>
                    <a:p>
                      <a:r>
                        <a:rPr lang="en-US" sz="3200" b="1" dirty="0"/>
                        <a:t>Not all qubits are in superposition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52989" y="920665"/>
            <a:ext cx="101258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 </a:t>
            </a:r>
            <a:r>
              <a:rPr lang="en-US" sz="3200" b="1" dirty="0"/>
              <a:t>qubit</a:t>
            </a:r>
            <a:r>
              <a:rPr lang="en-US" sz="3200" dirty="0"/>
              <a:t> is the fundamental unit of quantum information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A </a:t>
            </a:r>
            <a:r>
              <a:rPr lang="en-US" sz="3200" b="1" dirty="0"/>
              <a:t>superposition</a:t>
            </a:r>
            <a:r>
              <a:rPr lang="en-US" sz="3200" dirty="0"/>
              <a:t> is a special </a:t>
            </a:r>
            <a:r>
              <a:rPr lang="en-US" sz="3200" i="1" dirty="0"/>
              <a:t>state</a:t>
            </a:r>
            <a:r>
              <a:rPr lang="en-US" sz="3200" dirty="0"/>
              <a:t> that a qubit can be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CÚBITS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7492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 cúbit es la unidad fundamental de la información cuántica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53839" y="1376172"/>
            <a:ext cx="9875520" cy="1426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 superposición es un estado especial en el que puede estar un cúbit.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cúbit no es lo mismo que una superposición.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cúbit puede estar en superposición — pero no tiene que estarlo.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45720" cy="576072"/>
          </a:xfrm>
          <a:prstGeom prst="rect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3529584"/>
            <a:ext cx="9601200" cy="576072"/>
          </a:xfrm>
          <a:prstGeom prst="rect">
            <a:avLst/>
          </a:prstGeom>
          <a:solidFill>
            <a:srgbClr val="3A2E14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529584"/>
            <a:ext cx="923544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7E2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superposición es una propiedad de los cúbits. No todos los cúbits están en superposición</a:t>
            </a:r>
            <a:r>
              <a:rPr lang="en-US" sz="1300" dirty="0">
                <a:solidFill>
                  <a:srgbClr val="F7E2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ENTRELAZAMIENTO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Estado cuántico general de un cúbit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724912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450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|ψ⟩ = α|0⟩ + β|1⟩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148" y="3776470"/>
            <a:ext cx="8824452" cy="2743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 solo cúbit </a:t>
            </a:r>
            <a:r>
              <a:rPr lang="en-US" sz="2400" b="1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nunca</a:t>
            </a:r>
            <a:r>
              <a:rPr lang="en-US" sz="24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400" b="1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puede</a:t>
            </a:r>
            <a:r>
              <a:rPr lang="en-US" sz="24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estar entrelazado — el entrelazamiento siempre requiere dos o más cúbits.</a:t>
            </a:r>
            <a:endParaRPr lang="en-US" sz="24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entrelazamiento es una propiedad de un sistema de </a:t>
            </a:r>
            <a:r>
              <a:rPr lang="en-US" sz="2400" b="1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cúbits</a:t>
            </a:r>
            <a:r>
              <a:rPr lang="en-US" sz="24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, no de uno individual.</a:t>
            </a:r>
            <a:endParaRPr lang="en-US" sz="24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estado combinado de dos (o más) cúbits no puede escribirse como el producto de sus estados individuales.</a:t>
            </a:r>
            <a:endParaRPr lang="en-US" sz="2400" b="1" dirty="0"/>
          </a:p>
        </p:txBody>
      </p:sp>
      <p:sp>
        <p:nvSpPr>
          <p:cNvPr id="9" name="Text 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/ 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  <p:sp>
        <p:nvSpPr>
          <p:cNvPr id="15" name="Text Box 14"/>
          <p:cNvSpPr txBox="1"/>
          <p:nvPr/>
        </p:nvSpPr>
        <p:spPr>
          <a:xfrm>
            <a:off x="450215" y="1045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38200" y="1060682"/>
            <a:ext cx="3687041" cy="23683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General quantum state of a qubit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268653"/>
            <a:ext cx="3648941" cy="1323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8086" y="1035843"/>
            <a:ext cx="6005713" cy="494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A single qubit cannot be entangled  entanglement always requires two or more qubits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Entanglement is a property of a system of qubits, not an individual one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The combined state of two (or more) qubits cannot be written as a product of their individual states</a:t>
            </a:r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553" y="2136318"/>
            <a:ext cx="7456505" cy="14415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50" y="1135309"/>
            <a:ext cx="3676650" cy="18694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346" y="2294267"/>
            <a:ext cx="5810654" cy="7967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88067" y="245924"/>
            <a:ext cx="9318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Entanglement - The Cat Is Linked to the Atom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8721" y="1135309"/>
            <a:ext cx="4111584" cy="9349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0290" y="3304638"/>
            <a:ext cx="3669373" cy="139183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6883" y="5818024"/>
            <a:ext cx="2910015" cy="9614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92813" y="6133152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</a:t>
            </a:r>
            <a:r>
              <a:rPr lang="en-US" b="1" dirty="0"/>
              <a:t>cannot</a:t>
            </a:r>
            <a:r>
              <a:rPr lang="en-US" dirty="0"/>
              <a:t> separate this into “just the atom” state and “just the cat” state. They are </a:t>
            </a:r>
            <a:r>
              <a:rPr lang="en-US" b="1" dirty="0"/>
              <a:t>linked</a:t>
            </a:r>
            <a:r>
              <a:rPr lang="en-US" dirty="0"/>
              <a:t>.</a:t>
            </a:r>
          </a:p>
        </p:txBody>
      </p:sp>
      <p:graphicFrame>
        <p:nvGraphicFramePr>
          <p:cNvPr id="1036" name="TextBox 2"/>
          <p:cNvGraphicFramePr/>
          <p:nvPr/>
        </p:nvGraphicFramePr>
        <p:xfrm>
          <a:off x="207818" y="2921794"/>
          <a:ext cx="7859736" cy="3046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ENTRELAZAMIENTO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El gato está vinculado al átomo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⚛️ 🧪 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541264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52669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|no desintegrado, vivo⟩ = |0⟩|0⟩ = |00⟩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18688"/>
            <a:ext cx="5413248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51389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|desintegrado, muerto⟩ = |1⟩|1⟩ = |11⟩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85616"/>
            <a:ext cx="3877056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785616"/>
            <a:ext cx="3602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|ψ⟩ = 1/√2 · (|00⟩ + |11⟩)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43984"/>
            <a:ext cx="9875520" cy="1426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Hay un gato encerrado en una caja, junto con un pequeño átomo radiactivo.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 el átomo se desintegra, libera veneno y el gato muere.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 el átomo no se desintegra, el gato permanece vivo</a:t>
            </a:r>
            <a:r>
              <a:rPr lang="en-US" sz="15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6007608"/>
            <a:ext cx="45720" cy="832104"/>
          </a:xfrm>
          <a:prstGeom prst="rect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6007608"/>
            <a:ext cx="9601200" cy="832104"/>
          </a:xfrm>
          <a:prstGeom prst="rect">
            <a:avLst/>
          </a:prstGeom>
          <a:solidFill>
            <a:srgbClr val="3A2E14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5591048"/>
            <a:ext cx="9235440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E2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No se puede separar esto en un estado de “solo el átomo” y otro de “solo el gato” — están vinculados.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7818" y="2012855"/>
            <a:ext cx="960230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It’s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Bell state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which passes the test for maximal entanglement: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 can't write it as a product.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Measuring the atom tells you the cat's state 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you measure atom = decayed (1) → cat is dead 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atom = not decayed (0) → cat is alive 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620" y="798653"/>
            <a:ext cx="3768005" cy="1180618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07818" y="4228693"/>
            <a:ext cx="1159783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Before measurement - Both atom and cat are in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shared, mixed, entangled state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After measurement - The whole system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collapses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either |00⟩ or |11⟩.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6213" y="5983326"/>
            <a:ext cx="9620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+mj-lt"/>
              </a:rPr>
              <a:t>Entanglement plays a role </a:t>
            </a:r>
            <a:r>
              <a:rPr lang="en-US" sz="2800" b="1" i="1" dirty="0">
                <a:latin typeface="+mj-lt"/>
              </a:rPr>
              <a:t>before</a:t>
            </a:r>
            <a:r>
              <a:rPr lang="en-US" sz="2800" b="1" dirty="0">
                <a:latin typeface="+mj-lt"/>
              </a:rPr>
              <a:t> measurement  not after</a:t>
            </a:r>
            <a:endParaRPr lang="en-US" sz="28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6592" y="59066"/>
            <a:ext cx="71637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+mj-lt"/>
              </a:rPr>
              <a:t>When Does Entanglement Play a Role?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ENTRELAZAMIENTO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2940" y="68580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¿Cuándo entra en juego el entrelazamiento?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810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 un estado de Bell, que cumple la prueba de entrelazamiento máximo — no puede escribirse como un producto.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Medir el átomo revela de inmediato el estado del gato.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 el átomo se mide como desintegrado (1) → el gato está muerto (1).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 el átomo no está desintegrado (0) → el gato está vivo (0).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913632"/>
            <a:ext cx="45720" cy="1088136"/>
          </a:xfrm>
          <a:prstGeom prst="rect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4096512"/>
            <a:ext cx="9601200" cy="1088136"/>
          </a:xfrm>
          <a:prstGeom prst="rect">
            <a:avLst/>
          </a:prstGeom>
          <a:solidFill>
            <a:srgbClr val="3A2E14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913632"/>
            <a:ext cx="9235440" cy="10881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E2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Antes de medir, el átomo y el gato están en un estado compartido, </a:t>
            </a:r>
            <a:r>
              <a:rPr lang="en-US" sz="1300" dirty="0" err="1">
                <a:solidFill>
                  <a:srgbClr val="F7E2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mixto</a:t>
            </a:r>
            <a:r>
              <a:rPr lang="en-US" sz="1300" dirty="0">
                <a:solidFill>
                  <a:srgbClr val="F7E2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y entrelazado. Después de medir, todo el sistema colapsa a |00⟩ o a |11⟩. El entrelazamiento actúa antes de medir, no después.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ENTRELAZAMIENTO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¿Qué hace especial al entrelazamiento?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22376" y="2788920"/>
            <a:ext cx="98755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9BB0C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No se trata solo de incertidumbre — se trata de que dos sistemas sean incierto juntos.</a:t>
            </a:r>
            <a:endParaRPr lang="en-US" sz="2400" b="1" dirty="0"/>
          </a:p>
          <a:p>
            <a:pPr marL="0" indent="0">
              <a:lnSpc>
                <a:spcPts val="2000"/>
              </a:lnSpc>
              <a:buNone/>
            </a:pPr>
            <a:endParaRPr lang="en-US" sz="2400" b="1" dirty="0"/>
          </a:p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9BB0C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estado de uno depende del estado del otro, aunque ambos estén indefinidos individualmente.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759" y="1850332"/>
            <a:ext cx="6716702" cy="880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6599" y="585901"/>
            <a:ext cx="87885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How zooming out (RG) helps simplify complex entangled systems, like a quantum cat</a:t>
            </a:r>
            <a:endParaRPr lang="en-US" b="1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9367" y="2846025"/>
            <a:ext cx="104259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atom is a qubit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cat is a macroscopic system, but treated as coupled to the qubit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818" y="3869309"/>
            <a:ext cx="79373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cat is made up of  </a:t>
            </a:r>
            <a:r>
              <a:rPr lang="pt-BR" sz="2400" dirty="0"/>
              <a:t>N∼10</a:t>
            </a:r>
            <a:r>
              <a:rPr lang="pt-BR" sz="2400" baseline="30000" dirty="0"/>
              <a:t>27</a:t>
            </a:r>
            <a:r>
              <a:rPr lang="pt-BR" sz="2400" dirty="0"/>
              <a:t> atoms = 2</a:t>
            </a:r>
            <a:r>
              <a:rPr lang="pt-BR" sz="2400" baseline="30000" dirty="0"/>
              <a:t>N </a:t>
            </a:r>
            <a:r>
              <a:rPr lang="pt-BR" sz="2400" dirty="0"/>
              <a:t>possible quantum configurations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036943" y="5310807"/>
            <a:ext cx="10118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Full entangled system is </a:t>
            </a:r>
            <a:r>
              <a:rPr lang="en-US" sz="2400" b="1" dirty="0"/>
              <a:t>mathematically impossible</a:t>
            </a:r>
            <a:r>
              <a:rPr lang="en-US" sz="2400" dirty="0"/>
              <a:t> without simplification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197" y="3984769"/>
            <a:ext cx="33147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RENORMALIZACIÓN (GR)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Cómo alejar la mirada (GR) simplifica a un gato cuántico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26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átomo es un cúbit.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gato es un sistema macroscópico, pero se trata como acoplado al cúbit.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gato está hecho de N ~ 10²⁷ átomos → 2^N posibles configuraciones cuánticas.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45720" cy="832104"/>
          </a:xfrm>
          <a:prstGeom prst="rect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3529584"/>
            <a:ext cx="9601200" cy="832104"/>
          </a:xfrm>
          <a:prstGeom prst="rect">
            <a:avLst/>
          </a:prstGeom>
          <a:solidFill>
            <a:srgbClr val="3A2E14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529584"/>
            <a:ext cx="9235440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E2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 sistema totalmente entrelazado a esta escala es matemáticamente imposible de manejar sin simplificarlo.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RENORMALIZACIÓN (GR)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Por qué importa 2^N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191256"/>
            <a:ext cx="9875520" cy="1426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GR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comprime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esta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información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una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variable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macroscópica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— de nuevo dos amplitudes, un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estado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efectivo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comprimido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 N = 50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cúbits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→ 2⁵⁰ ≈ 1,13 × 10¹⁵ amplitudes —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ya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imposible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de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almacenar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una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computadora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normal.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 N = 300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cúbits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, el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espacio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de Hilbert es mayor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que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el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número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de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átomos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el </a:t>
            </a:r>
            <a:r>
              <a:rPr lang="en-US" sz="28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universo</a:t>
            </a: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observable.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18572" y="1059872"/>
            <a:ext cx="107876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RG compresses this information into a macroscopic variable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120" y="2119744"/>
            <a:ext cx="9785005" cy="841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5500" y="3308630"/>
            <a:ext cx="10540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Two amplitudes again  a compressed effective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95" y="5865918"/>
            <a:ext cx="90022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Forget the microscopic states  keep only the big picture Is the cat alive or dead</a:t>
            </a:r>
          </a:p>
        </p:txBody>
      </p:sp>
      <p:graphicFrame>
        <p:nvGraphicFramePr>
          <p:cNvPr id="1034" name="TextBox 8"/>
          <p:cNvGraphicFramePr/>
          <p:nvPr/>
        </p:nvGraphicFramePr>
        <p:xfrm>
          <a:off x="1661509" y="3761324"/>
          <a:ext cx="8483158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5585" y="1442466"/>
          <a:ext cx="11181144" cy="3973068"/>
        </p:xfrm>
        <a:graphic>
          <a:graphicData uri="http://schemas.openxmlformats.org/drawingml/2006/table">
            <a:tbl>
              <a:tblPr/>
              <a:tblGrid>
                <a:gridCol w="11181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r>
                        <a:rPr lang="en-US" sz="3300" b="1"/>
                        <a:t>What Makes Entanglement Special?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9636">
                <a:tc>
                  <a:txBody>
                    <a:bodyPr/>
                    <a:lstStyle/>
                    <a:p>
                      <a:r>
                        <a:rPr lang="en-US" sz="3300" b="1" dirty="0"/>
                        <a:t>It’s not just about being uncertain. It’s about two systems being uncertain together.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9636">
                <a:tc>
                  <a:txBody>
                    <a:bodyPr/>
                    <a:lstStyle/>
                    <a:p>
                      <a:r>
                        <a:rPr lang="en-US" sz="3300" b="1" dirty="0"/>
                        <a:t>The state of one depends on the state of the other  even though both are undefined individually.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37907" y="1430795"/>
            <a:ext cx="102889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In training an AI to classify ECG anomalies, you are using a moving average window to reduce the number of training points. What principle is being applied here?</a:t>
            </a:r>
          </a:p>
          <a:p>
            <a:endParaRPr lang="en-US" sz="3200" dirty="0"/>
          </a:p>
          <a:p>
            <a:r>
              <a:rPr lang="en-US" sz="3200" dirty="0"/>
              <a:t>A) Overfitting reduction</a:t>
            </a:r>
            <a:br>
              <a:rPr lang="en-US" sz="3200" dirty="0"/>
            </a:br>
            <a:r>
              <a:rPr lang="en-US" sz="3200" dirty="0"/>
              <a:t>B) Renormalization</a:t>
            </a:r>
            <a:br>
              <a:rPr lang="en-US" sz="3200" dirty="0"/>
            </a:br>
            <a:r>
              <a:rPr lang="en-US" sz="3200" dirty="0"/>
              <a:t>C) Signal convolution</a:t>
            </a:r>
            <a:br>
              <a:rPr lang="en-US" sz="3200" dirty="0"/>
            </a:br>
            <a:r>
              <a:rPr lang="en-US" sz="3200" dirty="0"/>
              <a:t>D) Feature expansion</a:t>
            </a:r>
            <a:br>
              <a:rPr lang="en-US" sz="3200" dirty="0"/>
            </a:br>
            <a:r>
              <a:rPr lang="en-US" sz="3200" dirty="0"/>
              <a:t>E) Bandwidth estimation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808316" y="120766"/>
            <a:ext cx="8828818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Freeform: Shape 10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38313" y="1229857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you simplify the system by grouping nearby values and removing small fluctuations, i.e., 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coarse-graining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the data</a:t>
            </a:r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08316" y="120766"/>
            <a:ext cx="886354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6915" y="1224269"/>
            <a:ext cx="109578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RG helps quantum computing and physics because it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Reduces overwhelming microscopic data (atoms in cat)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Keeps only </a:t>
            </a:r>
            <a:r>
              <a:rPr lang="en-US" sz="2400" b="1" dirty="0"/>
              <a:t>effective variables</a:t>
            </a:r>
            <a:r>
              <a:rPr lang="en-US" sz="2400" dirty="0"/>
              <a:t> (like alive/dead)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Allows quantum computers to simulate </a:t>
            </a:r>
            <a:r>
              <a:rPr lang="en-US" sz="2400" b="1" dirty="0"/>
              <a:t>realistic large systems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52797" y="2929010"/>
          <a:ext cx="9411660" cy="3570075"/>
        </p:xfrm>
        <a:graphic>
          <a:graphicData uri="http://schemas.openxmlformats.org/drawingml/2006/table">
            <a:tbl>
              <a:tblPr/>
              <a:tblGrid>
                <a:gridCol w="2954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8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995">
                <a:tc>
                  <a:txBody>
                    <a:bodyPr/>
                    <a:lstStyle/>
                    <a:p>
                      <a:r>
                        <a:rPr lang="en-US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Quantum Cat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Quantum 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511">
                <a:tc>
                  <a:txBody>
                    <a:bodyPr/>
                    <a:lstStyle/>
                    <a:p>
                      <a:r>
                        <a:rPr lang="en-US"/>
                        <a:t>Microscopic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10^{27} atomic qubits in 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 </a:t>
                      </a:r>
                      <a:r>
                        <a:rPr lang="en-US" dirty="0"/>
                        <a:t>physical qubits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Determine alive/dead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final outcome / measurement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/>
                        <a:t>Without 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Simulate everything: too 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Simulate all qubits: exponential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 dirty="0"/>
                        <a:t>With 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Just track "decayed or not" → “alive/dead”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66000">
                          <a:schemeClr val="accent4">
                            <a:lumMod val="75000"/>
                          </a:schemeClr>
                        </a:gs>
                        <a:gs pos="17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track entanglement structure (e.g. MPS)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/>
                        <a:t>RG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Macroscopic observable (dead/alive)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Compressed quantum state (MPS/QTT)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49729" y="135081"/>
            <a:ext cx="9456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RG compresses this information into a macroscopic variable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RENORMALIZACIÓN (GR)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El GR comprime la información en una variable macroscópica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9875520" cy="1014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Reduce el abrumador volumen de datos microscópicos (cada átomo del gato).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Conserva solo las variables efectivas (como vivo/muerto).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Permite que las computadoras cuánticas simulen sistemas grandes y realistas.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490744"/>
              </p:ext>
            </p:extLst>
          </p:nvPr>
        </p:nvGraphicFramePr>
        <p:xfrm>
          <a:off x="640080" y="2752344"/>
          <a:ext cx="10058400" cy="39624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baseline="0" dirty="0">
                          <a:solidFill>
                            <a:srgbClr val="5EEAD4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Componente</a:t>
                      </a:r>
                      <a:endParaRPr lang="en-US" sz="2000" baseline="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baseline="0" dirty="0">
                          <a:solidFill>
                            <a:srgbClr val="5EEAD4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Sistema del gato cuántico</a:t>
                      </a:r>
                      <a:endParaRPr lang="en-US" sz="2000" baseline="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baseline="0" dirty="0">
                          <a:solidFill>
                            <a:srgbClr val="5EEAD4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Computadora cuántica</a:t>
                      </a:r>
                      <a:endParaRPr lang="en-US" sz="2000" baseline="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Detalles microscópicos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10²⁷ cúbits atómicos en el gato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2^N cúbits físicos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Objetivo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Determinar vivo / muerto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Predecir el resultado final / la medición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 GR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Simular todo: demasiado difícil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Simular todos los cúbits: memoria exponencial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 GR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Rastrear solo “desintegrado o no” → “vivo/muerto”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Rastrear solo la estructura de entrelazamiento (p. ej., MPS)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Salida del GR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Observable macroscópico (muerto/vivo)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Estado cuántico comprimido (MPS/QTT)</a:t>
                      </a:r>
                      <a:endParaRPr lang="en-US" sz="2000" baseline="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 / 60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5" name="TextBox 2"/>
          <p:cNvGraphicFramePr/>
          <p:nvPr/>
        </p:nvGraphicFramePr>
        <p:xfrm>
          <a:off x="780307" y="1575955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808315" y="120766"/>
            <a:ext cx="8615745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RENORMALIZACIÓN (GR)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2197" y="45720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Comprimiendo amplitudes con redes tensoriales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0424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GR comprime estas 2^N amplitudes enfocándose en las correlaciones dominantes (la estructura de entrelazamiento) y en variables efectivas, en lugar de rastrear cada amplitud.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8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Usando MPS (Estados de Producto Matricial) o TTN (Redes Tensoriales de Árbol): 2^N amplitudes → O(N·D²), donde D es una dimensión de enlace pequeña.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9729" y="135081"/>
            <a:ext cx="9456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RG compresses this information into a macroscopic variable </a:t>
            </a:r>
            <a:endParaRPr lang="en-US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21" y="1194954"/>
            <a:ext cx="9792098" cy="1860762"/>
          </a:xfrm>
          <a:prstGeom prst="rect">
            <a:avLst/>
          </a:prstGeom>
          <a:effectLst>
            <a:glow>
              <a:schemeClr val="accent3"/>
            </a:glow>
            <a:softEdge rad="762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722" y="3171158"/>
            <a:ext cx="6544402" cy="2731931"/>
          </a:xfrm>
          <a:prstGeom prst="rect">
            <a:avLst/>
          </a:prstGeom>
          <a:effectLst>
            <a:glow rad="63500">
              <a:schemeClr val="accent4">
                <a:alpha val="40000"/>
              </a:schemeClr>
            </a:glow>
            <a:softEdge rad="88900"/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17002" y="1462195"/>
            <a:ext cx="11157995" cy="3046988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Renormalization Group Flow</a:t>
            </a:r>
            <a:endParaRPr lang="en-US" sz="3200" dirty="0"/>
          </a:p>
          <a:p>
            <a:r>
              <a:rPr lang="en-US" sz="3200" b="1" dirty="0"/>
              <a:t>Explanation</a:t>
            </a:r>
            <a:br>
              <a:rPr lang="en-US" sz="3200" dirty="0"/>
            </a:br>
            <a:r>
              <a:rPr lang="en-US" sz="3200" dirty="0"/>
              <a:t>This process is like </a:t>
            </a:r>
            <a:r>
              <a:rPr lang="en-US" sz="3200" b="1" dirty="0"/>
              <a:t>RG flow</a:t>
            </a:r>
            <a:r>
              <a:rPr lang="en-US" sz="3200" dirty="0"/>
              <a:t> because you are removing short-distance (high-frequency) fluctuations and focusing on long-range (low-frequency) behavior  exactly the idea behind RG in physics.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8122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Es renormalización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875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BB0C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Simplificas el sistema agrupando valores cercanos y eliminando las pequeñas fluctuaciones — es decir, aplicando coarse-graining (granulado grueso) a los datos</a:t>
            </a:r>
            <a:r>
              <a:rPr lang="en-US" sz="2800" dirty="0">
                <a:solidFill>
                  <a:srgbClr val="9BB0C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6270" y="1247981"/>
            <a:ext cx="10344873" cy="4524315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An engineer applies a method that groups every 60 minutes of data into average values to focus on macro patterns in a solar microgrid. This approach is conceptually equivalent to</a:t>
            </a:r>
          </a:p>
          <a:p>
            <a:r>
              <a:rPr lang="en-US" sz="3200" dirty="0"/>
              <a:t>A) Runge-</a:t>
            </a:r>
            <a:r>
              <a:rPr lang="en-US" sz="3200" dirty="0" err="1"/>
              <a:t>Kutta</a:t>
            </a:r>
            <a:r>
              <a:rPr lang="en-US" sz="3200" dirty="0"/>
              <a:t> integration</a:t>
            </a:r>
            <a:br>
              <a:rPr lang="en-US" sz="3200" dirty="0"/>
            </a:br>
            <a:r>
              <a:rPr lang="en-US" sz="3200" dirty="0"/>
              <a:t>B) Multi-level wavelet decomposition</a:t>
            </a:r>
            <a:br>
              <a:rPr lang="en-US" sz="3200" dirty="0"/>
            </a:br>
            <a:r>
              <a:rPr lang="en-US" sz="3200" dirty="0"/>
              <a:t>C) Renormalization Group flow</a:t>
            </a:r>
            <a:br>
              <a:rPr lang="en-US" sz="3200" dirty="0"/>
            </a:br>
            <a:r>
              <a:rPr lang="en-US" sz="3200" dirty="0"/>
              <a:t>D) Nyquist frequency sampling</a:t>
            </a:r>
            <a:br>
              <a:rPr lang="en-US" sz="3200" dirty="0"/>
            </a:br>
            <a:r>
              <a:rPr lang="en-US" sz="3200" dirty="0"/>
              <a:t>E) Eigen decomposition of covariance matrix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Datos de una microrred solar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 ingeniero agrupa cada 60 minutos de datos en valores promedio para enfocarse en patrones macro de una microrred solar. Este enfoque es conceptualmente equivalente a: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Integración de Runge–Kutta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Descomposición wavelet multinivel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Flujo del Grupo de Renormalización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Muestreo a la frecuencia de Nyquist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Descomposición en autovalores de la matriz de covarianza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Detección de anomalías en ECG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 entrenar una IA para clasificar anomalías en un ECG, usas una ventana de promedio móvil para reducir el número de puntos de entrenamiento. ¿Qué principio se aplica aquí?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Reducción del sobreajuste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Renormalización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Convolución de señal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Expansión de características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Estimación de ancho de banda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27926" y="1455928"/>
            <a:ext cx="11564073" cy="4524315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In neural network optimization, a method reduces redundant features layer by layer and keeps only dominant patterns at each scale. This strategy resembles</a:t>
            </a:r>
          </a:p>
          <a:p>
            <a:pPr>
              <a:buNone/>
            </a:pPr>
            <a:endParaRPr lang="en-US" sz="3200" b="1" dirty="0"/>
          </a:p>
          <a:p>
            <a:r>
              <a:rPr lang="en-US" sz="3200" b="1" dirty="0"/>
              <a:t>A) Newton-Raphson descent</a:t>
            </a:r>
            <a:br>
              <a:rPr lang="en-US" sz="3200" b="1" dirty="0"/>
            </a:br>
            <a:r>
              <a:rPr lang="en-US" sz="3200" b="1" dirty="0"/>
              <a:t>B) Convolutional </a:t>
            </a:r>
            <a:r>
              <a:rPr lang="en-US" sz="3200" b="1" dirty="0" err="1"/>
              <a:t>upsampling</a:t>
            </a:r>
            <a:br>
              <a:rPr lang="en-US" sz="3200" b="1" dirty="0"/>
            </a:br>
            <a:r>
              <a:rPr lang="en-US" sz="3200" b="1" dirty="0"/>
              <a:t>C) Renormalization Group flow</a:t>
            </a:r>
            <a:br>
              <a:rPr lang="en-US" sz="3200" b="1" dirty="0"/>
            </a:br>
            <a:r>
              <a:rPr lang="en-US" sz="3200" b="1" dirty="0"/>
              <a:t>D) Naive Bayes simplification</a:t>
            </a:r>
            <a:br>
              <a:rPr lang="en-US" sz="3200" b="1" dirty="0"/>
            </a:br>
            <a:r>
              <a:rPr lang="en-US" sz="3200" b="1" dirty="0"/>
              <a:t>E) Dropout regularization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08316" y="120766"/>
            <a:ext cx="851630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Optimización de redes neuronales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 método reduce las características redundantes capa por capa y conserva solo los patrones dominantes en cada escala. Esta estrategia se parece a: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Descenso de Newton–Raphson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Sobremuestreo convolucional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Flujo del Grupo de Renormalización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Simplificación de Naive Bayes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Regularización por dropout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41767" y="1059872"/>
            <a:ext cx="1130846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You want to compress a video using a smart algorithm that doesn’t just look at </a:t>
            </a:r>
            <a:r>
              <a:rPr lang="en-US" sz="3200" b="1" dirty="0"/>
              <a:t>pixel-by-pixel compression</a:t>
            </a:r>
            <a:r>
              <a:rPr lang="en-US" sz="3200" dirty="0"/>
              <a:t>, but </a:t>
            </a:r>
            <a:r>
              <a:rPr lang="en-US" sz="3200" b="1" dirty="0"/>
              <a:t>semantic-level compression</a:t>
            </a:r>
            <a:r>
              <a:rPr lang="en-US" sz="3200" dirty="0"/>
              <a:t>.</a:t>
            </a:r>
          </a:p>
          <a:p>
            <a:pPr>
              <a:buNone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Analyze frames in 16x16 blocks.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Extract features via CNN.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Apply PCA or SVD to drop low-energy modes.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Track how quality degrades.</a:t>
            </a:r>
          </a:p>
          <a:p>
            <a:r>
              <a:rPr lang="en-US" sz="3200" dirty="0"/>
              <a:t>This </a:t>
            </a:r>
            <a:r>
              <a:rPr lang="en-US" sz="3200" b="1" dirty="0"/>
              <a:t>hierarchical compression</a:t>
            </a:r>
            <a:r>
              <a:rPr lang="en-US" sz="3200" dirty="0"/>
              <a:t> is conceptually like RG  remove noise at small scales, keep structure at larger ones</a:t>
            </a:r>
            <a:r>
              <a:rPr lang="en-US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Compresión semántica de video, al estilo GR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Quieres comprimir video con un algoritmo que va más allá de la compresión píxel por píxel, hacia una compresión a nivel semántico.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Analiza los cuadros en bloques de 16×16.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Extrae características con una CNN.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Aplica PCA o SVD para descartar los modos de baja energía.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Rastrea cómo se degrada la calidad.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45720" cy="832104"/>
          </a:xfrm>
          <a:prstGeom prst="rect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4297680"/>
            <a:ext cx="9601200" cy="832104"/>
          </a:xfrm>
          <a:prstGeom prst="rect">
            <a:avLst/>
          </a:prstGeom>
          <a:solidFill>
            <a:srgbClr val="3A2E14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9235440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7E2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Esta compresión jerárquica es conceptualmente parecida al GR: elimina el ruido a pequeña escala y conserva la estructura a mayor escala.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07818" y="1274564"/>
            <a:ext cx="114936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You model each consumer as a qubit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b="1" dirty="0"/>
              <a:t>Over time, user preferences shift due to recommendation influence (entanglement with system state). Applying RG helps you</a:t>
            </a:r>
          </a:p>
          <a:p>
            <a:r>
              <a:rPr lang="en-US" sz="2800" b="1" dirty="0"/>
              <a:t>A. Increase entanglement</a:t>
            </a:r>
            <a:br>
              <a:rPr lang="en-US" sz="2800" b="1" dirty="0"/>
            </a:br>
            <a:r>
              <a:rPr lang="en-US" sz="2800" b="1" dirty="0"/>
              <a:t>B. Collapse user state faster</a:t>
            </a:r>
            <a:br>
              <a:rPr lang="en-US" sz="2800" b="1" dirty="0"/>
            </a:br>
            <a:r>
              <a:rPr lang="en-US" sz="2800" b="1" dirty="0"/>
              <a:t>C. Track only dominant influences like price, emotion, and timing</a:t>
            </a:r>
            <a:br>
              <a:rPr lang="en-US" sz="2800" b="1" dirty="0"/>
            </a:br>
            <a:r>
              <a:rPr lang="en-US" sz="2800" b="1" dirty="0"/>
              <a:t>D. Represent each click as a qubit gate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834" y="1805788"/>
            <a:ext cx="3680106" cy="7869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8315" y="120766"/>
            <a:ext cx="890984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Deriva de preferencias del consumidor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645152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3708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|ψ⟩ = α|comprar⟩ + β|no comprar⟩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Modelas a cada consumidor como un cúbit. Con el tiempo, las preferencias cambian por la influencia de las recomendaciones (entrelazamiento con el estado del sistema). Aplicar el GR te ayuda a: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3447288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Aumentar el entrelazamiento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3447288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9632" y="3447288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Colapsar el estado del usuario más rápido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41605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Rastrear solo las influencias dominantes, como precio, emoción y momento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41605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99632" y="41605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Representar cada clic como una puerta cuántica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22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Marketing a gran escala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Una IA de marketing rastrea a 100 millones de clientes, cada uno con 1.000 variables. Un modelo inspirado en el GR agrupa a los usuarios por patrones emergentes y comprime el tamaño de entrada. Este enfoque: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Hace el modelo más lento pero más detallado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Provoca pérdida de información a nivel local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Reduce el sobreajuste y mejora la generalización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Aumenta el número de parámetros de entrenamiento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23 / 60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85875" y="573183"/>
            <a:ext cx="1059093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				Analogy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Imagine you're building an AI system that has to look at every detail  every pixel, every variable, every sensor input. At some point, the system just gets overwhelmed. You need a way to zoom out, focus on what really matters, and ignore the rest. That’s exactly what physicists had to do in the 1940s, when quantum field theory started giving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infinite answers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. They invented something radical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renormalization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 a way to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zoom out without losing meaning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. Today, we’ll see how that same logic can help make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quantum AI smarter, faster, and more scalable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masis MT Pro Black" panose="02040A040500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Por qué la física tuvo que alejar la mirada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716178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800" dirty="0">
                <a:solidFill>
                  <a:srgbClr val="DBE6E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Imagina construir un sistema de IA que tiene que fijarse en cada detalle: cada píxel, cada variable, cada entrada de sensor. En algún momento el sistema se ve abrumado. Necesitas una forma de alejar la mirada, enfocarte en lo que importa e ignorar el resto. Eso es exactamente lo que enfrentaron los físicos en la década de 1940, cuando la teoría cuántica de campos empezó a dar respuestas infinitas. Inventaron algo radical: la renormalización — una forma de alejar la mirada sin perder el sentido. Hoy veremos cómo esa misma lógica puede hacer que la IA cuántica sea más inteligente, más rápida y más escalable.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24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5082" y="1348769"/>
            <a:ext cx="116595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Two departments (Sales and Logistics) are </a:t>
            </a:r>
            <a:r>
              <a:rPr lang="en-US" sz="3200" b="1" dirty="0"/>
              <a:t>entangled</a:t>
            </a:r>
            <a:r>
              <a:rPr lang="en-US" sz="3200" dirty="0"/>
              <a:t>: if Sales increases, Logistics is stressed. Instead of modeling all 1000 sales routes, you focus only on 3 dominant logistics bottlenecks.</a:t>
            </a:r>
          </a:p>
          <a:p>
            <a:pPr>
              <a:buNone/>
            </a:pPr>
            <a:r>
              <a:rPr lang="en-US" sz="3200" dirty="0"/>
              <a:t>This simplification is most similar to</a:t>
            </a:r>
          </a:p>
          <a:p>
            <a:pPr>
              <a:buNone/>
            </a:pPr>
            <a:endParaRPr lang="en-US" sz="3200" dirty="0"/>
          </a:p>
          <a:p>
            <a:r>
              <a:rPr lang="en-US" sz="3200" b="1" dirty="0"/>
              <a:t>A.</a:t>
            </a:r>
            <a:r>
              <a:rPr lang="en-US" sz="3200" dirty="0"/>
              <a:t> Brute-force simulation</a:t>
            </a:r>
            <a:br>
              <a:rPr lang="en-US" sz="3200" dirty="0"/>
            </a:br>
            <a:r>
              <a:rPr lang="en-US" sz="3200" b="1" dirty="0"/>
              <a:t>B.</a:t>
            </a:r>
            <a:r>
              <a:rPr lang="en-US" sz="3200" dirty="0"/>
              <a:t> Deep Learning</a:t>
            </a:r>
            <a:br>
              <a:rPr lang="en-US" sz="3200" dirty="0"/>
            </a:br>
            <a:r>
              <a:rPr lang="en-US" sz="3200" b="1" dirty="0"/>
              <a:t>C.</a:t>
            </a:r>
            <a:r>
              <a:rPr lang="en-US" sz="3200" dirty="0"/>
              <a:t> Renormalization filtering</a:t>
            </a:r>
            <a:br>
              <a:rPr lang="en-US" sz="3200" dirty="0"/>
            </a:br>
            <a:r>
              <a:rPr lang="en-US" sz="3200" b="1" dirty="0"/>
              <a:t>D.</a:t>
            </a:r>
            <a:r>
              <a:rPr lang="en-US" sz="3200" dirty="0"/>
              <a:t> Bayesian belief propagation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GR FILTRA LAS CONTRIBUCIONES PEQUEÑAS A GRAN 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46849" y="70408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Ventas y logística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Ventas y Logística están entrelazadas: si Ventas aumenta, Logística se estresa. En vez de modelar las 1.000 rutas de venta, te enfocas solo en 3 cuellos de botella logísticos dominantes. Esta simplificación se parece más a: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Simulación por fuerza bruta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Aprendizaje profundo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Filtrado por renormalización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Propagación de creencias bayesiana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21 / 60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035"/>
          <p:cNvPicPr>
            <a:picLocks noChangeAspect="1"/>
          </p:cNvPicPr>
          <p:nvPr/>
        </p:nvPicPr>
        <p:blipFill>
          <a:blip r:embed="rId2"/>
          <a:srcRect r="9016" b="-3"/>
          <a:stretch>
            <a:fillRect/>
          </a:stretch>
        </p:blipFill>
        <p:spPr>
          <a:xfrm>
            <a:off x="20" y="10"/>
            <a:ext cx="6204384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745399" y="1194943"/>
            <a:ext cx="4164011" cy="261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latin typeface="+mj-lt"/>
                <a:ea typeface="+mj-ea"/>
                <a:cs typeface="+mj-cs"/>
              </a:rPr>
              <a:t>There’s too much information, too much noise, too much happening and it becomes hard or impossible to find what’s actually important.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3538" y="4700044"/>
            <a:ext cx="30410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we need shortcuts like </a:t>
            </a:r>
            <a:r>
              <a:rPr lang="en-US" sz="2400" b="1" dirty="0"/>
              <a:t>renormalization</a:t>
            </a:r>
            <a:r>
              <a:rPr lang="en-US" sz="2400" dirty="0"/>
              <a:t>, compression, zooming out, or filtering</a:t>
            </a:r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4" name="TextBox 6"/>
          <p:cNvGraphicFramePr/>
          <p:nvPr/>
        </p:nvGraphicFramePr>
        <p:xfrm>
          <a:off x="6381750" y="2119313"/>
          <a:ext cx="5329236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16916" y="135081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Analogy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Demasiado ruido, muy poca claridad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8755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800" b="1" dirty="0">
                <a:solidFill>
                  <a:srgbClr val="DBE6E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Hay demasiada información, demasiado ruido, demasiado sucediendo a la vez — se vuelve difícil, o imposible, encontrar lo que realmente importa. Necesitamos atajos: renormalización, compresión, alejar la mirada o filtrar.</a:t>
            </a:r>
            <a:endParaRPr lang="en-US" sz="2800" b="1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25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071" y="681307"/>
            <a:ext cx="4778651" cy="301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9724" y="1824114"/>
            <a:ext cx="3092103" cy="1236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temple has layers of complexity, but its core idea is simple. From chaos to clarity.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97101" y="3797144"/>
            <a:ext cx="59609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geometric plan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ancient temples were designed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symmetric, layered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mandala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filters out noise and creates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ordered space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dirty="0"/>
              <a:t>Like a </a:t>
            </a:r>
            <a:r>
              <a:rPr lang="en-US" b="1" dirty="0"/>
              <a:t>map</a:t>
            </a:r>
            <a:r>
              <a:rPr lang="en-US" dirty="0"/>
              <a:t> that </a:t>
            </a:r>
            <a:r>
              <a:rPr lang="en-US" b="1" dirty="0"/>
              <a:t>compresses</a:t>
            </a:r>
            <a:r>
              <a:rPr lang="en-US" dirty="0"/>
              <a:t> temple complexity into something understandable — this is like </a:t>
            </a:r>
            <a:r>
              <a:rPr lang="en-US" b="1" dirty="0"/>
              <a:t>renormalization</a:t>
            </a:r>
            <a:r>
              <a:rPr lang="en-US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393083" y="3830616"/>
            <a:ext cx="468308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Blue to orange nodes with connections mimics how AI learns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 Network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structured way to reduce the size of complex quantum systems (used in quantum AI).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5392" y="5684112"/>
            <a:ext cx="40482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networks also </a:t>
            </a:r>
            <a:r>
              <a:rPr lang="en-US" b="1" dirty="0"/>
              <a:t>filter, compress, and zoom out</a:t>
            </a:r>
            <a:r>
              <a:rPr lang="en-US" dirty="0"/>
              <a:t>  just like the temple layout or renormalization in physics.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9618" y="20776"/>
            <a:ext cx="2173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Analogy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6" name="Rectangle 4199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739128" y="638089"/>
            <a:ext cx="4818888" cy="147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Analogy</a:t>
            </a:r>
          </a:p>
        </p:txBody>
      </p:sp>
      <p:pic>
        <p:nvPicPr>
          <p:cNvPr id="41987" name="Picture 3" descr="Gener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144" y="1542775"/>
            <a:ext cx="6125990" cy="408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7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Trying to conserve a forest by tracking every leaf is overwhelming.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But when you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zoom out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, spot patterns, and focus on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right scales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,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you protect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whole system  smartly, efficiently, and meaningfully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That’s renormalization. In forests, physics, or AI.</a:t>
            </a:r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44616" y="1059872"/>
            <a:ext cx="107384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 team of forest conservationists is overwhelmed with data from millions of individual trees, species, and climate sensors in a dense rainforest. To simplify their analysis, they adopt a "zoom-out" strategy that focuses on large-scale indicators like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Zone classification (wet/dry/edge),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Monitoring of selected animal species,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Aggregate CO₂ absorption metrics.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Which of the following best describes the approach they are using?</a:t>
            </a:r>
          </a:p>
          <a:p>
            <a:r>
              <a:rPr lang="en-US" sz="2400" b="1" dirty="0"/>
              <a:t>A. Linear Regression Modeling</a:t>
            </a:r>
            <a:br>
              <a:rPr lang="en-US" sz="2400" b="1" dirty="0"/>
            </a:br>
            <a:r>
              <a:rPr lang="en-US" sz="2400" b="1" dirty="0"/>
              <a:t>B. Renormalization or Dimensionality Reduction</a:t>
            </a:r>
            <a:br>
              <a:rPr lang="en-US" sz="2400" b="1" dirty="0"/>
            </a:br>
            <a:r>
              <a:rPr lang="en-US" sz="2400" b="1" dirty="0"/>
              <a:t>C. Deep Feature Amplification</a:t>
            </a:r>
            <a:br>
              <a:rPr lang="en-US" sz="2400" b="1" dirty="0"/>
            </a:br>
            <a:r>
              <a:rPr lang="en-US" sz="2400" b="1" dirty="0"/>
              <a:t>D. Localized Biodiversity Exhaustion</a:t>
            </a:r>
            <a:br>
              <a:rPr lang="en-US" sz="2400" b="1" dirty="0"/>
            </a:br>
            <a:r>
              <a:rPr lang="en-US" sz="2400" b="1" dirty="0"/>
              <a:t>E. Random Sampling Without Replacement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7607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Monitoreo de selva tropical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Abrumados por datos de millones de árboles, especies y sensores climáticos, unos conservacionistas adoptan una estrategia de “alejar la mirada” centrada en indicadores a gran escala: clasificación de zonas, monitoreo de especies seleccionadas y absorción agregada de CO₂. ¿Cuál describe mejor este enfoque?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8437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Modelado por regresión lineal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Renormalización o reducción de dimensionalidad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Amplificación profunda de características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Agotamiento localizado de biodiversidad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Muestreo aleatorio sin reemplazo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28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6435" y="1335156"/>
            <a:ext cx="60940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Classical Data Science Approach</a:t>
            </a:r>
          </a:p>
          <a:p>
            <a:r>
              <a:rPr lang="en-US" sz="2400" dirty="0"/>
              <a:t> Use all available data</a:t>
            </a:r>
            <a:br>
              <a:rPr lang="en-US" sz="2400" dirty="0"/>
            </a:br>
            <a:r>
              <a:rPr lang="en-US" sz="2400" dirty="0"/>
              <a:t> Build large models with hundreds of variables</a:t>
            </a:r>
            <a:br>
              <a:rPr lang="en-US" sz="2400" dirty="0"/>
            </a:br>
            <a:r>
              <a:rPr lang="en-US" sz="2400" dirty="0"/>
              <a:t>Try to find patterns from the full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167" y="3429000"/>
            <a:ext cx="60940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+mj-lt"/>
              </a:rPr>
              <a:t>Renormalization-Inspired Approach</a:t>
            </a:r>
          </a:p>
          <a:p>
            <a:r>
              <a:rPr lang="en-US" sz="2400" dirty="0">
                <a:latin typeface="+mj-lt"/>
              </a:rPr>
              <a:t> Inspired by physics: discard small-scale fluctuations, focus on </a:t>
            </a:r>
            <a:r>
              <a:rPr lang="en-US" sz="2400" b="1" dirty="0">
                <a:latin typeface="+mj-lt"/>
              </a:rPr>
              <a:t>effective behavior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Emphasizes </a:t>
            </a:r>
            <a:r>
              <a:rPr lang="en-US" sz="2400" b="1" dirty="0">
                <a:latin typeface="+mj-lt"/>
              </a:rPr>
              <a:t>scaling, hierarchy</a:t>
            </a:r>
            <a:r>
              <a:rPr lang="en-US" sz="2400" dirty="0">
                <a:latin typeface="+mj-lt"/>
              </a:rPr>
              <a:t>, and </a:t>
            </a:r>
            <a:r>
              <a:rPr lang="en-US" sz="2400" b="1" dirty="0">
                <a:latin typeface="+mj-lt"/>
              </a:rPr>
              <a:t>emergent patterns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Uses </a:t>
            </a:r>
            <a:r>
              <a:rPr lang="en-US" sz="2400" b="1" dirty="0">
                <a:latin typeface="+mj-lt"/>
              </a:rPr>
              <a:t>only the most relevant variables</a:t>
            </a:r>
            <a:r>
              <a:rPr lang="en-US" sz="2400" dirty="0">
                <a:latin typeface="+mj-lt"/>
              </a:rPr>
              <a:t> at the right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Ciencia de datos clásica vs. pensamiento inspirado en la renormalización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4892040" cy="4023360"/>
          </a:xfrm>
          <a:prstGeom prst="roundRect">
            <a:avLst>
              <a:gd name="adj" fmla="val 1818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343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7F9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Ciencia de datos clásica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3434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Usar todos los datos disponibles.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Construir modelos grandes con cientos de variables.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Buscar patrones en el conjunto de datos completo.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33872" y="1965960"/>
            <a:ext cx="4892040" cy="4023360"/>
          </a:xfrm>
          <a:prstGeom prst="roundRect">
            <a:avLst>
              <a:gd name="adj" fmla="val 1818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2194560"/>
            <a:ext cx="4343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EAD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Enfoque inspirado en la renormalización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72200" y="2743200"/>
            <a:ext cx="43434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Inspirado en la física: descarta las fluctuaciones a pequeña escala, se centra en el comportamiento efectivo.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Enfatiza la escala, la jerarquía y los patrones emergentes.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Usa solo las variables más relevantes, en la escala correcta</a:t>
            </a:r>
            <a:r>
              <a:rPr lang="en-US" sz="15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29 / 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18572" y="980624"/>
          <a:ext cx="10529963" cy="5107920"/>
        </p:xfrm>
        <a:graphic>
          <a:graphicData uri="http://schemas.openxmlformats.org/drawingml/2006/table">
            <a:tbl>
              <a:tblPr/>
              <a:tblGrid>
                <a:gridCol w="3451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5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112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Problem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Classical Approach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Renormalization Approach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Curse of Dimensionality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Needs exponentially more data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Works with fewer, scaled variables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Overfitting Risk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 (more features → more noise fit)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 (only core structure remains)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Model Complexity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O(n²) or O(n³) in large systems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O(log n) or constant time models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Entropy &amp; Information Theory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 entropy, low signal-to-noise ratio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Lower entropy, higher information density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 dirty="0"/>
                        <a:t>Scalability</a:t>
                      </a:r>
                      <a:endParaRPr lang="en-US" sz="2400" dirty="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Poor — bottlenecked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Excellent — scalable to large forests or fields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Enfoque clásico vs. de renormalización, lado a lado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902202"/>
              </p:ext>
            </p:extLst>
          </p:nvPr>
        </p:nvGraphicFramePr>
        <p:xfrm>
          <a:off x="640080" y="1645920"/>
          <a:ext cx="10058400" cy="42672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5EEAD4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Problema</a:t>
                      </a:r>
                      <a:endParaRPr lang="en-US" sz="2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5EEAD4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Enfoque clásico</a:t>
                      </a:r>
                      <a:endParaRPr lang="en-US" sz="2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5EEAD4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Enfoque de renormalización</a:t>
                      </a:r>
                      <a:endParaRPr lang="en-US" sz="2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Maldición de la dimensionalidad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Necesita datos exponencialmente más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Funciona con menos variables, a la escala correcta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Riesgo de sobreajuste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Alto (más características → más ruido ajustado)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Bajo (solo queda la estructura central)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Complejidad del modelo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O(n²) u O(n³) en sistemas grandes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O(log n), o modelos de tiempo constante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Entropía e información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Entropía alta, señal-ruido baja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Entropía menor, mayor densidad de información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Escalabilidad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Pobre — con cuellos de botella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Excelente — escala a sistemas grandes</a:t>
                      </a:r>
                      <a:endParaRPr lang="en-US" sz="20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30 / 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58479" y="1287213"/>
            <a:ext cx="112824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Mathematically, renormalization acts like </a:t>
            </a:r>
            <a:r>
              <a:rPr lang="en-US" sz="2800" b="1" dirty="0"/>
              <a:t>Principal Component Analysis (PCA)</a:t>
            </a:r>
            <a:r>
              <a:rPr lang="en-US" sz="2800" dirty="0"/>
              <a:t> or </a:t>
            </a:r>
            <a:r>
              <a:rPr lang="en-US" sz="2800" b="1" dirty="0"/>
              <a:t>Fourier filtering</a:t>
            </a:r>
            <a:r>
              <a:rPr lang="en-US" sz="2800" dirty="0"/>
              <a:t> — projecting data onto </a:t>
            </a:r>
            <a:r>
              <a:rPr lang="en-US" sz="2800" b="1" dirty="0"/>
              <a:t>basis states that matter most</a:t>
            </a:r>
            <a:endParaRPr lang="en-US" sz="2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58479" y="3376602"/>
            <a:ext cx="1128242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classical ML: 100 variables → model size = O(100²) = 10,000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renormalized quantum ML use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entangled states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retain only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low-rank tensor structure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Huge savings in compute + noise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57784"/>
            <a:ext cx="10515600" cy="1316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 renormalización como PCA, </a:t>
            </a:r>
            <a:r>
              <a:rPr lang="en-US" sz="2400" b="1" dirty="0" err="1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matemáticamente</a:t>
            </a:r>
            <a:endParaRPr lang="en-US" sz="2400" b="1" dirty="0">
              <a:solidFill>
                <a:srgbClr val="EEF3F8"/>
              </a:solidFill>
              <a:latin typeface="Georgia" panose="02040502050405020303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810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Matemáticamente, la renormalización actúa como el Análisis de Componentes Principales (PCA) o el filtrado de Fourier — proyectando los datos sobre los estados base que más importan.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 ML clásico: 100 variables → tamaño del modelo = O(100²) = 10.000.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 ML cuántico renormalizado: se usan estados entrelazados, conservando solo la estructura tensorial de bajo rango.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4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 ahorro enorme, tanto en cómputo como en reducción de ruido.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31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71" name="Rectangle 3687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12091" y="501651"/>
            <a:ext cx="4395340" cy="17162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Difference</a:t>
            </a:r>
          </a:p>
        </p:txBody>
      </p:sp>
      <p:sp>
        <p:nvSpPr>
          <p:cNvPr id="36873" name="Rectangle 3687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866" name="Picture 2" descr="Gener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307" y="1059872"/>
            <a:ext cx="4993503" cy="477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065165" y="2217906"/>
            <a:ext cx="5385914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Classical data science memorizes the noise.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2800" b="1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Renormalization finds the structure saving millions of computations and retaining only what actually governs the system.</a:t>
            </a:r>
          </a:p>
        </p:txBody>
      </p:sp>
      <p:cxnSp>
        <p:nvCxnSpPr>
          <p:cNvPr id="36875" name="Straight Connector 3687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28103" y="480060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Qué conserva — y qué descarta — cada enfoque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875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La ciencia de datos clásica memoriza el ruido. La renormalización encuentra la estructura — ahorrando millones de cálculos y conservando solo lo que realmente gobierna el sistema.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SISTEMA EN BRUTO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1.000 variables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BB0C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complejidad ~ O(1000²) = 1.000.000 operaciones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3383280"/>
            <a:ext cx="548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EEAD4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394960" y="269748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29718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TRAS LA RENORMALIZACIÓN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333756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3–5 variables efectivas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0" y="393192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BB0C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O(5²) = 25 operaciones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 / 60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478" y="1158059"/>
          <a:ext cx="10933255" cy="3847428"/>
        </p:xfrm>
        <a:graphic>
          <a:graphicData uri="http://schemas.openxmlformats.org/drawingml/2006/table">
            <a:tbl>
              <a:tblPr/>
              <a:tblGrid>
                <a:gridCol w="2186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Uses All Variables?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Overfits?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Generalizes?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Computational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Classical Data 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Often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🔺 O(n²) or worse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Renormalization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No — filters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Robust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🔻 O(log n) or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43751" y="5207875"/>
            <a:ext cx="88859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Raw system: 1000 variables → complexity ~ O(1000²) = 1,000,000 operations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After renormalization: 3–5 effective variables → O(5²) = 25 operations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~40,000× compression, while retaining governing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26685" y="823671"/>
            <a:ext cx="85474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Suppose you're modeling tree height in a forest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881774" y="2560997"/>
            <a:ext cx="762104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 collect data from 10,000 trees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TreeHeight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depends on: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SoilNutrients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(X₁)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Sunlight (X₂)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Rainfall (X₃)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997 other sensor variables: X₄ to X₁₀₀₀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Only X₁ to X₃ matter. The rest is noise or irrelevant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91924" y="1567065"/>
            <a:ext cx="11208152" cy="3600986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Classical Data Science Approach</a:t>
            </a:r>
          </a:p>
          <a:p>
            <a:pPr>
              <a:buNone/>
            </a:pPr>
            <a:endParaRPr lang="en-US" sz="32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latin typeface="+mj-lt"/>
              </a:rPr>
              <a:t>TreeHeight</a:t>
            </a:r>
            <a:r>
              <a:rPr lang="en-US" sz="3200" dirty="0">
                <a:latin typeface="+mj-lt"/>
              </a:rPr>
              <a:t>=f(X</a:t>
            </a:r>
            <a:r>
              <a:rPr lang="en-US" sz="3200" baseline="-25000" dirty="0">
                <a:latin typeface="+mj-lt"/>
              </a:rPr>
              <a:t>1</a:t>
            </a:r>
            <a:r>
              <a:rPr lang="en-US" sz="3200" dirty="0">
                <a:latin typeface="+mj-lt"/>
              </a:rPr>
              <a:t>,X</a:t>
            </a:r>
            <a:r>
              <a:rPr lang="en-US" sz="3200" baseline="-25000" dirty="0">
                <a:latin typeface="+mj-lt"/>
              </a:rPr>
              <a:t>2</a:t>
            </a:r>
            <a:r>
              <a:rPr lang="en-US" sz="3200" dirty="0">
                <a:latin typeface="+mj-lt"/>
              </a:rPr>
              <a:t>,...,X</a:t>
            </a:r>
            <a:r>
              <a:rPr lang="en-US" sz="3200" baseline="-25000" dirty="0"/>
              <a:t>1000</a:t>
            </a:r>
            <a:r>
              <a:rPr lang="en-US" sz="3200" dirty="0">
                <a:latin typeface="+mj-lt"/>
              </a:rPr>
              <a:t>)+</a:t>
            </a:r>
            <a:r>
              <a:rPr lang="el-GR" sz="3200" dirty="0">
                <a:latin typeface="+mj-lt"/>
              </a:rPr>
              <a:t>ϵ</a:t>
            </a:r>
            <a:endParaRPr lang="en-US" sz="32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Model tries to use all 1000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Might fit to noise in X₄ to X₁₀₀₀.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Needs O(n²) to O(n³) computations (where n = features = 1000).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Overfits. Fails to generalize.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03767" y="1059872"/>
            <a:ext cx="10255170" cy="4339650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Renormalization-Inspired Strategy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Step 1: </a:t>
            </a:r>
            <a:r>
              <a:rPr lang="en-US" sz="2400" b="1" dirty="0">
                <a:latin typeface="+mj-lt"/>
              </a:rPr>
              <a:t>Zoom Out / Reduce Dimensions</a:t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b="1" dirty="0">
                <a:latin typeface="+mj-lt"/>
              </a:rPr>
              <a:t>PCA</a:t>
            </a:r>
            <a:r>
              <a:rPr lang="en-US" sz="2400" dirty="0">
                <a:latin typeface="+mj-lt"/>
              </a:rPr>
              <a:t>, </a:t>
            </a:r>
            <a:r>
              <a:rPr lang="en-US" sz="2400" b="1" dirty="0">
                <a:latin typeface="+mj-lt"/>
              </a:rPr>
              <a:t>Fourier</a:t>
            </a:r>
            <a:r>
              <a:rPr lang="en-US" sz="2400" dirty="0">
                <a:latin typeface="+mj-lt"/>
              </a:rPr>
              <a:t>, or physics intuition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Identify only </a:t>
            </a:r>
            <a:r>
              <a:rPr lang="en-US" sz="2400" b="1" dirty="0">
                <a:latin typeface="+mj-lt"/>
              </a:rPr>
              <a:t>3 governing variables</a:t>
            </a:r>
            <a:r>
              <a:rPr lang="en-US" sz="2400" dirty="0">
                <a:latin typeface="+mj-lt"/>
              </a:rPr>
              <a:t>: X₁, X₂, X₃.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Or combine them into 1–2 </a:t>
            </a:r>
            <a:r>
              <a:rPr lang="en-US" sz="2400" b="1" dirty="0">
                <a:latin typeface="+mj-lt"/>
              </a:rPr>
              <a:t>effective variables</a:t>
            </a:r>
            <a:r>
              <a:rPr lang="en-US" sz="2400" dirty="0">
                <a:latin typeface="+mj-lt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Z1=0.5X1+0.3X2+0.2X3 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Step 2: </a:t>
            </a:r>
            <a:r>
              <a:rPr lang="en-US" sz="2400" b="1" dirty="0">
                <a:latin typeface="+mj-lt"/>
              </a:rPr>
              <a:t>Model only effective behavior</a:t>
            </a:r>
            <a:r>
              <a:rPr lang="en-US" sz="2400" dirty="0">
                <a:latin typeface="+mj-lt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j-lt"/>
              </a:rPr>
              <a:t>TreeHeight≈g</a:t>
            </a:r>
            <a:r>
              <a:rPr lang="en-US" sz="2400" dirty="0">
                <a:latin typeface="+mj-lt"/>
              </a:rPr>
              <a:t>(Z1</a:t>
            </a:r>
            <a:r>
              <a:rPr lang="en-US" sz="2400" dirty="0"/>
              <a:t> 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computation: O(3²) = 9 ops  vs. O(1000²) = 1,000,000+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No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Better generalization across zones and regions.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51203" y="93519"/>
            <a:ext cx="98225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Why Classical Memorizes Noise</a:t>
            </a:r>
          </a:p>
          <a:p>
            <a:pPr algn="ctr">
              <a:buNone/>
            </a:pPr>
            <a:endParaRPr lang="en-US" sz="3600" b="1" u="sng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Classical ML treats all input dimensions equally.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If many are irrelevant or weakly correlated, it still builds complex decision surfaces using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This "fits the training data" but learns patterns that don’t generalize — i.e., memorizes noise.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51203" y="3210186"/>
            <a:ext cx="103361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Why Renormalization Finds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assumes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Nature works at different scales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Instead of every detail, it 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combination of inputs really controls the system?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projects data onto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meaningful, low-dimensional subspaces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in: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PCA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(eigenvalue filtering),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RG 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(scale collapse),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Tensor networks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(low-rank approximations)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POR QUÉ LA DIFERENCIA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Por qué lo clásico memoriza el ruido, y el GR encuentra la estructura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166360" cy="4526280"/>
          </a:xfrm>
          <a:prstGeom prst="roundRect">
            <a:avLst>
              <a:gd name="adj" fmla="val 1818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7F9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Por qué el ML clásico memoriza el ruido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3434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</a:t>
            </a:r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ML clásico trata todas las dimensiones de entrada por igual.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 muchas son irrelevantes o están débilmente correlacionadas, igual construye superficies de decisión complejas usándolas.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Esto “se ajusta a los datos de entrenamiento”, pero aprende patrones que no generalizan — memoriza el ruido.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97880" y="1965960"/>
            <a:ext cx="5102352" cy="4389120"/>
          </a:xfrm>
          <a:prstGeom prst="roundRect">
            <a:avLst>
              <a:gd name="adj" fmla="val 1818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2194560"/>
            <a:ext cx="4828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EAD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Por qué la renormalización encuentra la estructura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72200" y="2743200"/>
            <a:ext cx="4553712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Asume</a:t>
            </a: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0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que</a:t>
            </a: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la </a:t>
            </a:r>
            <a:r>
              <a:rPr lang="en-US" sz="20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naturaleza</a:t>
            </a: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0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funciona</a:t>
            </a: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0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</a:t>
            </a: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0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distintas</a:t>
            </a: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000" dirty="0" err="1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escalas</a:t>
            </a: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 vez de rastrear cada detalle, pregunta: ¿qué combinación de entradas realmente controla el sistema?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Proyecta los datos en subespacios significativos y de baja dimensión — como en PCA, el flujo de GR y las redes tensoriales.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37 / 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85875" y="1059872"/>
            <a:ext cx="1046061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A machine learning system originally uses 1000 input variables, resulting in a complexity of O(1000^2)). After applying a renormalization-inspired reduction, the system now uses only 5 effective variables.</a:t>
            </a:r>
          </a:p>
          <a:p>
            <a:pPr>
              <a:buNone/>
            </a:pPr>
            <a:r>
              <a:rPr lang="en-US" sz="2800" dirty="0"/>
              <a:t>What is the </a:t>
            </a:r>
            <a:r>
              <a:rPr lang="en-US" sz="2800" b="1" dirty="0"/>
              <a:t>approximate percentage reduction in the number of operations</a:t>
            </a:r>
            <a:r>
              <a:rPr lang="en-US" sz="2800" dirty="0"/>
              <a:t>?</a:t>
            </a:r>
          </a:p>
          <a:p>
            <a:r>
              <a:rPr lang="en-US" sz="2800" b="1" dirty="0"/>
              <a:t>A.</a:t>
            </a:r>
            <a:r>
              <a:rPr lang="en-US" sz="2800" dirty="0"/>
              <a:t> 50%</a:t>
            </a:r>
            <a:br>
              <a:rPr lang="en-US" sz="2800" dirty="0"/>
            </a:br>
            <a:r>
              <a:rPr lang="en-US" sz="2800" b="1" dirty="0"/>
              <a:t>B.</a:t>
            </a:r>
            <a:r>
              <a:rPr lang="en-US" sz="2800" dirty="0"/>
              <a:t> 90%</a:t>
            </a:r>
            <a:br>
              <a:rPr lang="en-US" sz="2800" dirty="0"/>
            </a:br>
            <a:r>
              <a:rPr lang="en-US" sz="2800" b="1" dirty="0"/>
              <a:t>C.</a:t>
            </a:r>
            <a:r>
              <a:rPr lang="en-US" sz="2800" dirty="0"/>
              <a:t> 99.5%</a:t>
            </a:r>
            <a:br>
              <a:rPr lang="en-US" sz="2800" dirty="0"/>
            </a:br>
            <a:r>
              <a:rPr lang="en-US" sz="2800" b="1" dirty="0"/>
              <a:t>D.</a:t>
            </a:r>
            <a:r>
              <a:rPr lang="en-US" sz="2800" dirty="0"/>
              <a:t> 99.9975%</a:t>
            </a:r>
            <a:br>
              <a:rPr lang="en-US" sz="2800" dirty="0"/>
            </a:br>
            <a:r>
              <a:rPr lang="en-US" sz="2800" b="1" dirty="0"/>
              <a:t>E.</a:t>
            </a:r>
            <a:r>
              <a:rPr lang="en-US" sz="2800" dirty="0"/>
              <a:t>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4034" y="228145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Percentage reduction</a:t>
            </a:r>
            <a:endParaRPr lang="en-US" sz="4000" u="sng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PORCENTAJE DE REDUCCIÓN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52613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Porcentaje de reducción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 sistema de aprendizaje automático usa originalmente 1.000 variables de entrada, con una complejidad de O(1000²). Tras una reducción inspirada en la renormalización, usa solo 5 variables efectivas. ¿Cuál es la reducción porcentual aproximada en operaciones?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90%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99.5%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99,9975%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38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9513" y="1927946"/>
            <a:ext cx="7780506" cy="241256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58873" y="1228005"/>
            <a:ext cx="1149804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/>
              <a:t>Analytical Reasoning</a:t>
            </a:r>
          </a:p>
          <a:p>
            <a:pPr>
              <a:buNone/>
            </a:pPr>
            <a:r>
              <a:rPr lang="en-US" sz="2400" dirty="0"/>
              <a:t>Researchers studying a rainforest collect thousands of variables from sensors and species trackers. However, they discover that tree height can be effectively predicted using just three aggregate variables: rainfall, sunlight, and soil nutrients. Which of the following best explains their modeling decision?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 A. They are avoiding overfitting by applying dropout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They are using k-means clustering to reduce the sample size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They are applying renormalization to extract effective structure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They are removing bias using L1 regularization</a:t>
            </a:r>
            <a:br>
              <a:rPr lang="en-US" sz="2400" dirty="0"/>
            </a:br>
            <a:r>
              <a:rPr lang="en-US" sz="2400" b="1" dirty="0"/>
              <a:t>E.</a:t>
            </a:r>
            <a:r>
              <a:rPr lang="en-US" sz="2400" dirty="0"/>
              <a:t> They are improving interpretability using random forests</a:t>
            </a:r>
          </a:p>
          <a:p>
            <a:pPr marL="342900" indent="-342900">
              <a:buAutoNum type="alphaUcPeriod"/>
            </a:pPr>
            <a:endParaRPr lang="en-US" sz="2400" dirty="0"/>
          </a:p>
          <a:p>
            <a:r>
              <a:rPr lang="en-US" sz="2400" b="1" dirty="0"/>
              <a:t>They are applying renormalization to extract effective structure</a:t>
            </a:r>
            <a:endParaRPr lang="en-US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RAZONAMIENTO ANALÍTICO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07592" y="56692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Razonamiento analítico: predecir la altura de los árboles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Investigadores que estudian una selva tropical descubren que la altura de los árboles puede predecirse eficazmente usando solo tres variables agregadas: lluvia, luz solar y nutrientes del suelo. ¿Cuál explica mejor esta decisión de modelado?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Están evitando el sobreajuste aplicando dropout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Están usando k-means para reducir el tamaño de la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B3A38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Están aplicando renormalización para extraer la estructura efectiva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Están eliminando el sesgo con regularización L1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Están mejorando la interpretabilidad con bosques aleatorios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1B3A38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020056"/>
            <a:ext cx="9692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1300" b="1" dirty="0">
                <a:solidFill>
                  <a:srgbClr val="EAFFF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Están aplicando renormalización para extraer la estructura efectiva.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40 / 60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51704" y="1144603"/>
            <a:ext cx="11340296" cy="4893647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/>
              <a:t>Mathematical Reasoning</a:t>
            </a:r>
          </a:p>
          <a:p>
            <a:pPr>
              <a:buNone/>
            </a:pPr>
            <a:r>
              <a:rPr lang="en-US" sz="2800" dirty="0"/>
              <a:t>Let the cost of computation for a model be proportional to the square of the number of variables used: Cost=O(n2)</a:t>
            </a:r>
          </a:p>
          <a:p>
            <a:pPr>
              <a:buNone/>
            </a:pPr>
            <a:r>
              <a:rPr lang="en-US" sz="2800" dirty="0"/>
              <a:t>Which of the following variable reductions would reduce the computational cost by </a:t>
            </a:r>
            <a:r>
              <a:rPr lang="en-US" sz="2800" b="1" dirty="0"/>
              <a:t>a factor greater than 10,000</a:t>
            </a:r>
            <a:r>
              <a:rPr lang="en-US" sz="2800" dirty="0"/>
              <a:t>?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b="1" dirty="0"/>
              <a:t>A.</a:t>
            </a:r>
            <a:r>
              <a:rPr lang="en-US" sz="2800" dirty="0"/>
              <a:t> From 500 variables to 100 variables</a:t>
            </a:r>
            <a:br>
              <a:rPr lang="en-US" sz="2800" dirty="0"/>
            </a:br>
            <a:r>
              <a:rPr lang="en-US" sz="2800" b="1" dirty="0"/>
              <a:t>B.</a:t>
            </a:r>
            <a:r>
              <a:rPr lang="en-US" sz="2800" dirty="0"/>
              <a:t> From 1000 variables to 50 variables</a:t>
            </a:r>
            <a:br>
              <a:rPr lang="en-US" sz="2800" dirty="0"/>
            </a:br>
            <a:r>
              <a:rPr lang="en-US" sz="2800" b="1" dirty="0"/>
              <a:t>C.</a:t>
            </a:r>
            <a:r>
              <a:rPr lang="en-US" sz="2800" dirty="0"/>
              <a:t> From 1000 variables to 10 variables</a:t>
            </a:r>
            <a:br>
              <a:rPr lang="en-US" sz="2800" dirty="0"/>
            </a:br>
            <a:r>
              <a:rPr lang="en-US" sz="2800" b="1" dirty="0"/>
              <a:t>D.</a:t>
            </a:r>
            <a:r>
              <a:rPr lang="en-US" sz="2800" dirty="0"/>
              <a:t> From 1000 variables to 5 variables</a:t>
            </a:r>
            <a:br>
              <a:rPr lang="en-US" sz="2800" dirty="0"/>
            </a:br>
            <a:r>
              <a:rPr lang="en-US" sz="2800" b="1" dirty="0"/>
              <a:t>E.</a:t>
            </a:r>
            <a:r>
              <a:rPr lang="en-US" sz="2800" dirty="0"/>
              <a:t> From 200 variables to 20 variables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RAZONAMIENTO MATEMÁTICO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Razonamiento matemático: reducir el costo 10.000 veces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Sea el costo computacional de un modelo proporcional al cuadrado del número de variables: Costo = O(n²). ¿Qué reducción de variables recorta el costo en un factor mayor a 10.000?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 500 variables a 100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 1.000 variables a 50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 1.000 variables a 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 1.000 variables a 5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 200 variables a 20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41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RAZONAMIENTO MATEMÁTICO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Haciendo el cálculo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6035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1000² / 5² = 1.000.000 / 25 = 40.000 &gt; 10.000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32888"/>
            <a:ext cx="9875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B0C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Pasar de 1.000 variables a 5 supera el umbral de 10.000×.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42 / 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893" y="1935740"/>
            <a:ext cx="7219164" cy="159743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30753" y="135081"/>
            <a:ext cx="90832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Computational Engineering – Heat Simulation in a Complex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884" y="1508361"/>
            <a:ext cx="10907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An engineer simulates </a:t>
            </a:r>
            <a:r>
              <a:rPr lang="en-US" sz="2400" b="1" dirty="0"/>
              <a:t>heat diffusion</a:t>
            </a:r>
            <a:r>
              <a:rPr lang="en-US" sz="2400" dirty="0"/>
              <a:t> in a composite material with 1000×1000 grid points = </a:t>
            </a:r>
            <a:r>
              <a:rPr lang="en-US" sz="2400" b="1" dirty="0"/>
              <a:t>1 million nodes , </a:t>
            </a:r>
            <a:r>
              <a:rPr lang="en-US" sz="2400" dirty="0"/>
              <a:t>Each node has 10 properties (temperature, conductivity, pressure, etc.) Governing equation (e.g. Finite Element Method)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322" y="2673321"/>
            <a:ext cx="2784615" cy="1046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96972" y="3779979"/>
            <a:ext cx="93031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Tries to simulate </a:t>
            </a:r>
            <a:r>
              <a:rPr lang="en-US" sz="2400" b="1" dirty="0"/>
              <a:t>every node</a:t>
            </a:r>
            <a:r>
              <a:rPr lang="en-US" sz="2400" dirty="0"/>
              <a:t> and every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Complexity grows as O(n^2) or worse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Requires high-performance computing (HPC) cluster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❌ Expensive, slow, and hard to interpret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INGENIERÍA COMPUTACIONAL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26464" y="52578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Simulación de calor en un material complejo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0949" y="1746504"/>
            <a:ext cx="2112952" cy="77724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29844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 = −k∇T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79" y="2624328"/>
            <a:ext cx="10667017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 ingeniero simula la difusión de calor en un material compuesto con una malla de 1000×1000 — 1 millón de </a:t>
            </a:r>
            <a:r>
              <a:rPr lang="en-US" sz="2400" b="1" dirty="0" err="1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nodos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. Cada nodo tiene 10 propiedades (temperatura, conductividad, presión, etc.), gobernadas por ecuaciones como el Método de Elementos Finitos.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813048"/>
            <a:ext cx="9875520" cy="1810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El enfoque clásico intenta simular cada nodo y cada variable.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La complejidad crece como O(n²) o peor.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Requiere un clúster de computación de alto rendimiento (HPC).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Costoso, lento y difícil de interpretar.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43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62246" y="843981"/>
            <a:ext cx="86618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Renormalization-Inspired Engineering</a:t>
            </a:r>
          </a:p>
          <a:p>
            <a:pPr>
              <a:buNone/>
            </a:pPr>
            <a:r>
              <a:rPr lang="en-US" sz="2000" dirty="0"/>
              <a:t>Instead of simulating all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Group regions with similar behavior (coarse graining)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Track </a:t>
            </a:r>
            <a:r>
              <a:rPr lang="en-US" sz="2000" b="1" dirty="0"/>
              <a:t>macrozones</a:t>
            </a:r>
            <a:r>
              <a:rPr lang="en-US" sz="2000" dirty="0"/>
              <a:t> regions with similar temperature gradients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Extract </a:t>
            </a:r>
            <a:r>
              <a:rPr lang="en-US" sz="2000" b="1" dirty="0"/>
              <a:t>effective conductivity</a:t>
            </a:r>
            <a:r>
              <a:rPr lang="en-US" sz="2000" dirty="0"/>
              <a:t> </a:t>
            </a:r>
            <a:r>
              <a:rPr lang="en-US" sz="2000" dirty="0" err="1"/>
              <a:t>keffk</a:t>
            </a:r>
            <a:r>
              <a:rPr lang="en-US" sz="2000" dirty="0"/>
              <a:t>​ and macro-heat flow </a:t>
            </a:r>
            <a:r>
              <a:rPr lang="en-US" sz="2000" dirty="0" err="1"/>
              <a:t>Qeff</a:t>
            </a:r>
            <a:endParaRPr lang="en-US" sz="2000" dirty="0"/>
          </a:p>
          <a:p>
            <a:r>
              <a:rPr lang="en-US" sz="2000" dirty="0"/>
              <a:t>Use </a:t>
            </a:r>
            <a:r>
              <a:rPr lang="en-US" sz="2000" b="1" dirty="0"/>
              <a:t>multi-scale modeling</a:t>
            </a:r>
            <a:r>
              <a:rPr lang="en-US" sz="2000" dirty="0"/>
              <a:t> or </a:t>
            </a:r>
            <a:r>
              <a:rPr lang="en-US" sz="2000" b="1" dirty="0"/>
              <a:t>homogenization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219" y="3429000"/>
            <a:ext cx="3733129" cy="9376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62245" y="4629024"/>
            <a:ext cx="85160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10×10 coarse grid instead of 1000×1000</a:t>
            </a:r>
            <a:br>
              <a:rPr lang="en-US" sz="2800" dirty="0"/>
            </a:br>
            <a:r>
              <a:rPr lang="en-US" sz="2800" dirty="0"/>
              <a:t>Retains key behavior</a:t>
            </a:r>
            <a:br>
              <a:rPr lang="en-US" sz="2800" dirty="0"/>
            </a:br>
            <a:r>
              <a:rPr lang="en-US" sz="2800" dirty="0"/>
              <a:t> Simulation cost drops from O(10^6) to O(10^2)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INGENIERÍA COMPUTACIONAL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Ingeniería inspirada en la renormalización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36976" cy="457200"/>
          </a:xfrm>
          <a:prstGeom prst="roundRect">
            <a:avLst>
              <a:gd name="adj" fmla="val 16000"/>
            </a:avLst>
          </a:prstGeom>
          <a:solidFill>
            <a:srgbClr val="1B3A38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9626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Q_ef = −k_ef ∇T_macro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9875520" cy="1810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 lugar de simular cada nodo, agrupa regiones con comportamiento similar (coarse-graining).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Rastrea macro-zonas — regiones con gradientes de temperatura similares.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Extrae una conductividad efectiva k_ef y un flujo de calor macro Q_ef.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Usa modelado multiescala u homogeneización.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45720" cy="832104"/>
          </a:xfrm>
          <a:prstGeom prst="rect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9601200" cy="832104"/>
          </a:xfrm>
          <a:prstGeom prst="rect">
            <a:avLst/>
          </a:prstGeom>
          <a:solidFill>
            <a:srgbClr val="3A2E14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9235440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7E2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Una malla gruesa de 10×10 en lugar de 1000×1000 conserva el comportamiento clave — el costo de simulación baja de O(10⁶) a O(10²).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44 / 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43467" y="1200170"/>
          <a:ext cx="10905067" cy="4457660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3720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4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1070"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Classical FEM/CFD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Renormalization-inspired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Nodes Simulated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1,000,000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100–200 macro-nodes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Complexity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O(n²)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600" cap="none" spc="0">
                          <a:solidFill>
                            <a:schemeClr val="bg1"/>
                          </a:solidFill>
                        </a:rPr>
                        <a:t>O(k²), where k ≪ n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Time to Solve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Hours or days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Minutes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Interpretable Behavior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Hard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Clear macro-laws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Adaptability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Poor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Multi-scale ready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INGENIERÍA COMPUTACIONAL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FEM/CFD clásico vs. ingeniería inspirada en la renormalización</a:t>
            </a:r>
            <a:endParaRPr lang="en-US" sz="2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475790"/>
              </p:ext>
            </p:extLst>
          </p:nvPr>
        </p:nvGraphicFramePr>
        <p:xfrm>
          <a:off x="640080" y="1645920"/>
          <a:ext cx="10058400" cy="35356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5EEAD4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Característica</a:t>
                      </a:r>
                      <a:endParaRPr lang="en-US" sz="2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5EEAD4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FEM/CFD clásico</a:t>
                      </a:r>
                      <a:endParaRPr lang="en-US" sz="2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5EEAD4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Inspirado en la renormalización</a:t>
                      </a:r>
                      <a:endParaRPr lang="en-US" sz="2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Nodos simulados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1.000.000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100–200 macro-nodos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Complejidad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O(n²)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O(k²), con k ≪ n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Tiempo de solución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Horas o días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Minutos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Comportamiento interpretable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Difícil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Leyes macro claras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Adaptabilidad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Pobre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EEF3F8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Lista para multiescala</a:t>
                      </a:r>
                      <a:endParaRPr lang="en-US" sz="24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45 / 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gradFill>
            <a:gsLst>
              <a:gs pos="33566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5329" y="1607590"/>
            <a:ext cx="108657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An engineer models heat flow in a large mechanical structure using 1 million nodes. They switch to a renormalization-inspired model that clusters regions and simulates only 100 macro-nodes. Assuming computational complexity is proportional to the square of the number of nodes, what is the approximate reduction in operations?</a:t>
            </a:r>
          </a:p>
          <a:p>
            <a:r>
              <a:rPr lang="en-US" sz="2400" b="1" dirty="0"/>
              <a:t>A.</a:t>
            </a:r>
            <a:r>
              <a:rPr lang="en-US" sz="2400" dirty="0"/>
              <a:t> 10×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100×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1,000×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10,000×</a:t>
            </a:r>
            <a:br>
              <a:rPr lang="en-US" sz="2400" dirty="0"/>
            </a:br>
            <a:r>
              <a:rPr lang="en-US" sz="2400" b="1" dirty="0"/>
              <a:t>E.</a:t>
            </a:r>
            <a:r>
              <a:rPr lang="en-US" sz="2400" dirty="0"/>
              <a:t> 1,000,000×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De 1.000.000 de nodos a 100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 ingeniero modela el flujo de calor con 1 millón de nodos y luego cambia a un modelo inspirado en la renormalización con solo 100 macro-nodos. Suponiendo que el costo es proporcional al cuadrado del número de nodos, ¿cuál es la reducción aproximada en operaciones?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10×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100×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1.000×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10.000×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1.000.000×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46 / 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08" y="1154968"/>
            <a:ext cx="2712759" cy="18569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6696" y="3429000"/>
            <a:ext cx="9713584" cy="2677656"/>
          </a:xfrm>
          <a:prstGeom prst="rect">
            <a:avLst/>
          </a:prstGeom>
          <a:gradFill>
            <a:gsLst>
              <a:gs pos="33566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sz="2800" dirty="0"/>
              <a:t>In computational engineering, </a:t>
            </a:r>
            <a:r>
              <a:rPr lang="en-US" sz="2800" b="1" dirty="0"/>
              <a:t>renormalization</a:t>
            </a:r>
            <a:r>
              <a:rPr lang="en-US" sz="2800" dirty="0"/>
              <a:t> helps simplify large simulations by identifying </a:t>
            </a:r>
            <a:r>
              <a:rPr lang="en-US" sz="2800" b="1" dirty="0"/>
              <a:t>effective parameters</a:t>
            </a:r>
            <a:r>
              <a:rPr lang="en-US" sz="2800" dirty="0"/>
              <a:t> at the right scale.</a:t>
            </a:r>
          </a:p>
          <a:p>
            <a:br>
              <a:rPr lang="en-US" sz="2800" dirty="0"/>
            </a:br>
            <a:r>
              <a:rPr lang="en-US" sz="2800" dirty="0"/>
              <a:t>It allows engineers to move from </a:t>
            </a:r>
            <a:r>
              <a:rPr lang="en-US" sz="2800" b="1" dirty="0"/>
              <a:t>microscale chaos</a:t>
            </a:r>
            <a:r>
              <a:rPr lang="en-US" sz="2800" dirty="0"/>
              <a:t> to </a:t>
            </a:r>
            <a:r>
              <a:rPr lang="en-US" sz="2800" b="1" dirty="0"/>
              <a:t>macroscale insight</a:t>
            </a:r>
            <a:r>
              <a:rPr lang="en-US" sz="2800" dirty="0"/>
              <a:t> — with </a:t>
            </a:r>
            <a:r>
              <a:rPr lang="en-US" sz="2800" b="1" dirty="0"/>
              <a:t>massive computational savings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INGENIERÍA COMPUTACIONAL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Del caos microscópico al conocimiento macroscópico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8755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400" dirty="0">
                <a:solidFill>
                  <a:srgbClr val="DBE6E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 ingeniería computacional, la renormalización ayuda a simplificar grandes simulaciones al identificar parámetros efectivos en la escala correcta. Permite a los ingenieros pasar del caos microscópico al conocimiento macroscópico — con un ahorro computacional enorme.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47 / 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37F0C5-491C-8833-B3D3-20326E989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670" y="1837592"/>
            <a:ext cx="2712759" cy="1517224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85875" y="861463"/>
            <a:ext cx="103661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hospital AI is trained to detect early sepsis. It initially uses 300 signals per patient, but then applies a method to compress them into 5 latent variables while retaining 97% of predictive power. This resembles: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 Linear regression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 Decision trees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C. Renormalization group method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D. t-SNE visualization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E.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0306" y="4426877"/>
            <a:ext cx="11276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Renormalization is not just for quantum physics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It can be the foundation of a next-gen </a:t>
            </a:r>
            <a:r>
              <a:rPr lang="en-US" sz="2400" b="1" dirty="0"/>
              <a:t>medical startup</a:t>
            </a:r>
            <a:r>
              <a:rPr lang="en-US" sz="2400" dirty="0"/>
              <a:t> that deals with </a:t>
            </a:r>
            <a:r>
              <a:rPr lang="en-US" sz="2400" b="1" dirty="0"/>
              <a:t>big health data</a:t>
            </a:r>
            <a:r>
              <a:rPr lang="en-US" sz="2400" dirty="0"/>
              <a:t>, focuses on </a:t>
            </a:r>
            <a:r>
              <a:rPr lang="en-US" sz="2400" b="1" dirty="0"/>
              <a:t>emergent patterns</a:t>
            </a:r>
            <a:r>
              <a:rPr lang="en-US" sz="2400" dirty="0"/>
              <a:t>, and delivers </a:t>
            </a:r>
            <a:r>
              <a:rPr lang="en-US" sz="2400" b="1" dirty="0"/>
              <a:t>interpretable, scalable AI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Verificación rápida · Detección de sepsis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Una IA hospitalaria entrenada para detectar sepsis temprana usa inicialmente 300 señales por paciente y luego las comprime en 5 variables latentes, conservando el 97 % del poder predictivo. Esto se parece a: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Regresión lineal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2788920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Árboles de decisión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Método del grupo de renormalización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50215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9632" y="3502152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Visualización t-SNE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41F33"/>
          </a:solidFill>
          <a:ln w="1270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800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</a:t>
            </a:r>
            <a:r>
              <a:rPr lang="en-US" sz="1250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Regresión logística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45720" cy="1088136"/>
          </a:xfrm>
          <a:prstGeom prst="rect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5020056"/>
            <a:ext cx="9601200" cy="1088136"/>
          </a:xfrm>
          <a:prstGeom prst="rect">
            <a:avLst/>
          </a:prstGeom>
          <a:solidFill>
            <a:srgbClr val="3A2E14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5020056"/>
            <a:ext cx="9235440" cy="10881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7E2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La renormalización no es solo para la física cuántica — puede ser la base de una startup médica de nueva generación que maneje grandes datos de salud, se enfoque en patrones emergentes y entregue IA interpretable y escalable.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48 / 60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307" y="1607105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Supply Chain Reaction Modeling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10477" y="4373957"/>
            <a:ext cx="8287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Application</a:t>
            </a:r>
            <a:r>
              <a:rPr lang="en-US" sz="2400" dirty="0"/>
              <a:t>: Amazon, Walmart, Tesla’s EV supply optimization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847373" y="2210898"/>
            <a:ext cx="828747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Factories, logistics hubs, and retailers are like oscillators.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or disruption at one node affects the entire chain (bullwhip effect).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SHM models help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oscillation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resilience modeling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4572000" cy="4572000"/>
          </a:xfrm>
          <a:prstGeom prst="ellipse">
            <a:avLst/>
          </a:prstGeom>
          <a:solidFill>
            <a:srgbClr val="5EEAD4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82296" cy="82296"/>
          </a:xfrm>
          <a:prstGeom prst="ellipse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4B9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INGENIERÍA BASADA EN LA RENORMALIZACIÓN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3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Modelado de reacción en cadena de suministro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426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Fábricas, centros logísticos y minoristas se comportan como osciladores.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Un retraso o interrupción en un nodo afecta a toda la cadena (el efecto látigo).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2000" b="1" dirty="0">
                <a:solidFill>
                  <a:srgbClr val="EEF3F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Los modelos de monitoreo de salud estructural (SHM) ayudan a predecir la oscilación del inventario y modelar la resiliencia.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45720" cy="832104"/>
          </a:xfrm>
          <a:prstGeom prst="rect">
            <a:avLst/>
          </a:prstGeom>
          <a:solidFill>
            <a:srgbClr val="F4B94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3529584"/>
            <a:ext cx="9601200" cy="832104"/>
          </a:xfrm>
          <a:prstGeom prst="rect">
            <a:avLst/>
          </a:prstGeom>
          <a:solidFill>
            <a:srgbClr val="3A2E14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529584"/>
            <a:ext cx="9235440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E2B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Aplicación: la optimización de la cadena de suministro de Amazon, Walmart y los vehículos eléctricos de Tesla.</a:t>
            </a:r>
            <a:endParaRPr lang="en-US" sz="2000" b="1" dirty="0"/>
          </a:p>
        </p:txBody>
      </p:sp>
      <p:sp>
        <p:nvSpPr>
          <p:cNvPr id="10" name="Text 8"/>
          <p:cNvSpPr/>
          <p:nvPr/>
        </p:nvSpPr>
        <p:spPr>
          <a:xfrm>
            <a:off x="10725912" y="63550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F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49 / 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F9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Teoría de la Renormalización en la Inteligencia Cuántica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52796" y="948660"/>
            <a:ext cx="95809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Amazon , </a:t>
            </a:r>
            <a:r>
              <a:rPr lang="en-US" sz="2800" b="1" i="1" dirty="0"/>
              <a:t>Supply Chain Oscillations &amp; Demand Propagation</a:t>
            </a: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Uses </a:t>
            </a:r>
            <a:r>
              <a:rPr lang="en-US" sz="2800" b="1" dirty="0"/>
              <a:t>system dynamics</a:t>
            </a:r>
            <a:r>
              <a:rPr lang="en-US" sz="2800" dirty="0"/>
              <a:t> and </a:t>
            </a:r>
            <a:r>
              <a:rPr lang="en-US" sz="2800" b="1" dirty="0"/>
              <a:t>coupled models</a:t>
            </a:r>
            <a:r>
              <a:rPr lang="en-US" sz="2800" dirty="0"/>
              <a:t> to manage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Inventory across fulfillment centers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Delays and ripples in logistics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Customer demand response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Equivalent to </a:t>
            </a:r>
            <a:r>
              <a:rPr lang="en-US" sz="2800" b="1" dirty="0"/>
              <a:t>oscillator chains</a:t>
            </a:r>
            <a:r>
              <a:rPr lang="en-US" sz="2800" dirty="0"/>
              <a:t> a disruption at one node (delivery center) propagates</a:t>
            </a:r>
          </a:p>
          <a:p>
            <a:endParaRPr lang="en-US" sz="2800" b="1" dirty="0"/>
          </a:p>
          <a:p>
            <a:r>
              <a:rPr lang="en-US" sz="2800" b="1" dirty="0"/>
              <a:t>Renormalization Logic </a:t>
            </a:r>
            <a:r>
              <a:rPr lang="en-US" sz="2800" dirty="0"/>
              <a:t>Aggregates demand by region or category to avoid computation overload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74961" y="972811"/>
          <a:ext cx="10905067" cy="5105023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3108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6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9979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Company</a:t>
                      </a: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What They Do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Google DeepMind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Uses 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renormalization group theory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for neural net scaling (e.g., AlphaFold, AlphaGo)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IBM Quantum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Uses renormalization in 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tensor networks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for quantum circuit compression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Palantir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Aggregates low-level data into 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macro patterns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— same logic as renormalization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Airbnb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Uses zone-level market models to simplify demand/supply planning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000" y="742873"/>
            <a:ext cx="5663125" cy="2412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56" y="4696860"/>
            <a:ext cx="7348301" cy="19716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818" y="3155049"/>
            <a:ext cx="7042745" cy="15418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28990" y="96542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03" y="1551583"/>
            <a:ext cx="11517846" cy="4267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1397" y="597476"/>
            <a:ext cx="8681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80808"/>
                </a:solidFill>
                <a:effectLst/>
                <a:latin typeface="GothamSSm-light"/>
              </a:rPr>
              <a:t>Perimeter Institute Quantum Intelligence Lab (</a:t>
            </a:r>
            <a:r>
              <a:rPr lang="en-US" sz="2800" b="1" i="0" dirty="0" err="1">
                <a:solidFill>
                  <a:srgbClr val="080808"/>
                </a:solidFill>
                <a:effectLst/>
                <a:latin typeface="GothamSSm-light"/>
              </a:rPr>
              <a:t>PIQuIL</a:t>
            </a:r>
            <a:r>
              <a:rPr lang="en-US" sz="2800" b="1" i="0" dirty="0">
                <a:solidFill>
                  <a:srgbClr val="080808"/>
                </a:solidFill>
                <a:effectLst/>
                <a:latin typeface="GothamSSm-light"/>
              </a:rPr>
              <a:t>)</a:t>
            </a:r>
            <a:endParaRPr lang="en-US" sz="2800" b="1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73363" y="5346374"/>
            <a:ext cx="8932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RG Signature</a:t>
            </a:r>
            <a:r>
              <a:rPr lang="en-US" dirty="0"/>
              <a:t> They use </a:t>
            </a:r>
            <a:r>
              <a:rPr lang="en-US" b="1" dirty="0"/>
              <a:t>Matrix Product States (MPS)</a:t>
            </a:r>
            <a:r>
              <a:rPr lang="en-US" dirty="0"/>
              <a:t> and </a:t>
            </a:r>
            <a:r>
              <a:rPr lang="en-US" b="1" dirty="0"/>
              <a:t>DMRG-like structures</a:t>
            </a:r>
            <a:r>
              <a:rPr lang="en-US" dirty="0"/>
              <a:t>, which are formal RG tools from quantum physics.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3504" y="682794"/>
            <a:ext cx="7240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Multiverse Computing (Spain/Canada)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07" y="1601482"/>
            <a:ext cx="7027984" cy="27364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298" y="2206216"/>
            <a:ext cx="7350436" cy="2488784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73363" y="5346374"/>
            <a:ext cx="8932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RG Signature </a:t>
            </a:r>
            <a:r>
              <a:rPr lang="en-US" dirty="0"/>
              <a:t>They use </a:t>
            </a:r>
            <a:r>
              <a:rPr lang="en-US" b="1" dirty="0"/>
              <a:t>Matrix Product States (MPS)</a:t>
            </a:r>
            <a:r>
              <a:rPr lang="en-US" dirty="0"/>
              <a:t> and </a:t>
            </a:r>
            <a:r>
              <a:rPr lang="en-US" b="1" dirty="0"/>
              <a:t>DMRG-like structures</a:t>
            </a:r>
            <a:r>
              <a:rPr lang="en-US" dirty="0"/>
              <a:t>, which are formal RG tools from quantum physics.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(Spain/Canada)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363" y="1097250"/>
            <a:ext cx="6857518" cy="3975901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585" y="1922319"/>
            <a:ext cx="11328937" cy="29506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(Spain/Canada)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88168" y="5130513"/>
            <a:ext cx="8932762" cy="646331"/>
          </a:xfrm>
          <a:prstGeom prst="rect">
            <a:avLst/>
          </a:prstGeom>
          <a:gradFill>
            <a:gsLst>
              <a:gs pos="24000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b="1" dirty="0"/>
              <a:t>RG Signature</a:t>
            </a:r>
            <a:r>
              <a:rPr lang="en-US" dirty="0"/>
              <a:t> They use </a:t>
            </a:r>
            <a:r>
              <a:rPr lang="en-US" b="1" dirty="0"/>
              <a:t>Matrix Product States (MPS)</a:t>
            </a:r>
            <a:r>
              <a:rPr lang="en-US" dirty="0"/>
              <a:t> and </a:t>
            </a:r>
            <a:r>
              <a:rPr lang="en-US" b="1" dirty="0"/>
              <a:t>DMRG-like structures</a:t>
            </a:r>
            <a:r>
              <a:rPr lang="en-US" dirty="0"/>
              <a:t>, which are formal RG tools from quantum physics.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" y="1705603"/>
            <a:ext cx="9197580" cy="3149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(Spain/Canada)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10" y="1661619"/>
            <a:ext cx="10586815" cy="30492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38640" y="5865918"/>
            <a:ext cx="8967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RG Signature </a:t>
            </a:r>
            <a:r>
              <a:rPr lang="en-US" dirty="0"/>
              <a:t>Uses implicit scale transformations to encode physical laws across multiple biological scales (amino acid → structure → dynamics)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3365" y="597476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DeepMind (Alphabet / Google)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640" y="4901776"/>
            <a:ext cx="934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AlphaFold</a:t>
            </a:r>
            <a:r>
              <a:rPr lang="en-US" dirty="0"/>
              <a:t> protein folding tool and </a:t>
            </a:r>
            <a:r>
              <a:rPr lang="en-US" b="1" dirty="0"/>
              <a:t>physics-informed AI models</a:t>
            </a:r>
            <a:r>
              <a:rPr lang="en-US" dirty="0"/>
              <a:t> use </a:t>
            </a:r>
            <a:r>
              <a:rPr lang="en-US" b="1" dirty="0"/>
              <a:t>hierarchical representations</a:t>
            </a:r>
            <a:r>
              <a:rPr lang="en-US" dirty="0"/>
              <a:t>, mimicking </a:t>
            </a:r>
            <a:r>
              <a:rPr lang="en-US" b="1" dirty="0"/>
              <a:t>RG flow</a:t>
            </a:r>
            <a:r>
              <a:rPr lang="en-US" dirty="0"/>
              <a:t> across energy or spatial scales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NVIDIA / Schrödinger Inc. / QCWare</a:t>
            </a: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(Materials + Drug Discovery)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3809" y="953037"/>
            <a:ext cx="4036333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RG Signature</a:t>
            </a:r>
            <a:r>
              <a:rPr lang="en-US" sz="2000" b="1" dirty="0"/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Hierarchical approximations reduce compute cost while preserving chemical accuracy.</a:t>
            </a:r>
          </a:p>
        </p:txBody>
      </p:sp>
      <p:grpSp>
        <p:nvGrpSpPr>
          <p:cNvPr id="1045" name="Group 1044"/>
          <p:cNvGrpSpPr>
            <a:grpSpLocks noGrp="1" noUngrp="1" noRot="1" noChangeAspect="1" noMove="1" noResize="1"/>
          </p:cNvGrpSpPr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47" name="Rectangle 1046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4" name="Rectangle 10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85808" y="449036"/>
          <a:ext cx="5646966" cy="5848570"/>
        </p:xfrm>
        <a:graphic>
          <a:graphicData uri="http://schemas.openxmlformats.org/drawingml/2006/table">
            <a:tbl>
              <a:tblPr/>
              <a:tblGrid>
                <a:gridCol w="1876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23">
                <a:tc>
                  <a:txBody>
                    <a:bodyPr/>
                    <a:lstStyle/>
                    <a:p>
                      <a:r>
                        <a:rPr lang="en-US" sz="1400"/>
                        <a:t>Provider / Focus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Article / Resource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RG‑style Hierarchy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Schrödinger / NVIDIA (industrial)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MS CG platform documentation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Electronic → atomistic → mesoscale → macro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7960">
                <a:tc>
                  <a:txBody>
                    <a:bodyPr/>
                    <a:lstStyle/>
                    <a:p>
                      <a:r>
                        <a:rPr lang="en-US" sz="1400"/>
                        <a:t>QCWare / quantum interactions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“Coarse-grained intermolecular interactions on quantum processors” (2021)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3">
                            <a:lumMod val="7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Coarse-grained electronic response via VQA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3">
                            <a:lumMod val="7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0801">
                <a:tc>
                  <a:txBody>
                    <a:bodyPr/>
                    <a:lstStyle/>
                    <a:p>
                      <a:r>
                        <a:rPr lang="en-US" sz="1400"/>
                        <a:t>Noid et al. (2008)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Formal multiscale CG method bridging atomistic ↔ CG models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Rigorous projection / ensemble matching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Wang et al. / CGnets (2019)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Deep‑learning-based CG free‑energy model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Learned coarse forces approximating atomics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7960">
                <a:tc>
                  <a:txBody>
                    <a:bodyPr/>
                    <a:lstStyle/>
                    <a:p>
                      <a:r>
                        <a:rPr lang="en-US" sz="1400"/>
                        <a:t>Husic et al. (2020)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Graph‑neural coarse‑graining learning representations &amp; dynamics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Hierarchical learned model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Lyu &amp; Lei (2023)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Mori‑Zwanzig ML-based CG MD with memory functions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Projection retaining many‑body memory terms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450513" y="948584"/>
          <a:ext cx="10060564" cy="5296352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79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2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363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Startup</a:t>
                      </a: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Domain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RG-like Practice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 dirty="0" err="1">
                          <a:solidFill>
                            <a:schemeClr val="bg1"/>
                          </a:solidFill>
                        </a:rPr>
                        <a:t>nference</a:t>
                      </a:r>
                      <a:endParaRPr lang="en-US" sz="26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 dirty="0">
                          <a:solidFill>
                            <a:schemeClr val="bg1"/>
                          </a:solidFill>
                        </a:rPr>
                        <a:t>Biomedical data fusion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Compresses EHR + genomics into latent representations (effective variables)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bg1"/>
                          </a:solidFill>
                        </a:rPr>
                        <a:t>Tempus</a:t>
                      </a:r>
                      <a:endParaRPr lang="en-US" sz="2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Oncology AI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Reduces high-dimensional genetic + clinical data into actionable predictive scales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bg1"/>
                          </a:solidFill>
                        </a:rPr>
                        <a:t>Qure.ai</a:t>
                      </a:r>
                      <a:endParaRPr lang="en-US" sz="2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Radiology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 dirty="0">
                          <a:solidFill>
                            <a:schemeClr val="bg1"/>
                          </a:solidFill>
                        </a:rPr>
                        <a:t>Extracts hierarchical features in brain/chest images, bypassing local pixel noise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43467" y="1263480"/>
          <a:ext cx="10905067" cy="4331040"/>
        </p:xfrm>
        <a:graphic>
          <a:graphicData uri="http://schemas.openxmlformats.org/drawingml/2006/table">
            <a:tbl>
              <a:tblPr/>
              <a:tblGrid>
                <a:gridCol w="43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4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RG Theory (Physics)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Commercial Equivalent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12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Coarse-graining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Dimensionality reduction / PCA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RG Flow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Layered feature abstraction (NN)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 dirty="0"/>
                        <a:t>Fixed points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12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t="10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Disease phenotypes / outcomes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Relevant variables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Biomarkers / macro patterns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DMRG / MPS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3200" dirty="0"/>
                        <a:t>Tensor compression in QML/AI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856" y="820219"/>
            <a:ext cx="9230337" cy="28547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7856" y="4010628"/>
            <a:ext cx="8375500" cy="2494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83173" y="2528011"/>
            <a:ext cx="4333750" cy="830997"/>
          </a:xfrm>
          <a:prstGeom prst="rect">
            <a:avLst/>
          </a:prstGeom>
          <a:gradFill>
            <a:gsLst>
              <a:gs pos="12000">
                <a:schemeClr val="accent1">
                  <a:lumMod val="50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</a:gradFill>
        </p:spPr>
        <p:txBody>
          <a:bodyPr wrap="none" rtlCol="0">
            <a:spAutoFit/>
          </a:bodyPr>
          <a:lstStyle/>
          <a:p>
            <a:r>
              <a:rPr lang="en-US" sz="4800" dirty="0"/>
              <a:t>Gracias/Thanks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-154940" y="10477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7190</Words>
  <Application>Microsoft Office PowerPoint</Application>
  <PresentationFormat>Widescreen</PresentationFormat>
  <Paragraphs>799</Paragraphs>
  <Slides>100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10" baseType="lpstr">
      <vt:lpstr>ADLaM Display</vt:lpstr>
      <vt:lpstr>Amasis MT Pro Black</vt:lpstr>
      <vt:lpstr>Aptos</vt:lpstr>
      <vt:lpstr>Aptos Display</vt:lpstr>
      <vt:lpstr>Arial</vt:lpstr>
      <vt:lpstr>Calibri</vt:lpstr>
      <vt:lpstr>Consolas</vt:lpstr>
      <vt:lpstr>Georgia</vt:lpstr>
      <vt:lpstr>GothamSSm-light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 | SIT</dc:creator>
  <cp:lastModifiedBy>Saravana | SIT</cp:lastModifiedBy>
  <cp:revision>6</cp:revision>
  <dcterms:created xsi:type="dcterms:W3CDTF">2026-08-06T14:58:52Z</dcterms:created>
  <dcterms:modified xsi:type="dcterms:W3CDTF">2026-08-06T15:32:32Z</dcterms:modified>
</cp:coreProperties>
</file>