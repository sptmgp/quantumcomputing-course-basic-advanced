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00C2C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F2A34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INTELLIGENCE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Preparación de Estados con Ruido — T1 / T2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State Prep — T1 / T2  ·  Practice Questions: Answers &amp; Why They Matter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preguntas resueltas paso a paso, en español e inglés,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importancia física e industrial de cada una.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del Quindío  ·  Día 3  ·  Agosto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/ Contents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pregunta incluye: respuesta, solución analítica y relevancia. / Each question includes: answer, analytical solution, and relevance.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64792"/>
            <a:ext cx="420624" cy="420624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647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4128" y="1691640"/>
            <a:ext cx="48737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Decaimiento exponencial de T1 / T1 exponential decay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660904"/>
            <a:ext cx="420624" cy="420624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609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24128" y="2587752"/>
            <a:ext cx="48737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amortiguamiento de amplitud (σ−) / Amplitude-damping channel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3557016"/>
            <a:ext cx="420624" cy="420624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5570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4128" y="3483864"/>
            <a:ext cx="48737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de tasas: aislar Tφ / Rate algebra: isolating Tφ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57200" y="4453128"/>
            <a:ext cx="420624" cy="420624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4531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4128" y="4379976"/>
            <a:ext cx="48737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desfase puro / Pure-dephasing limit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57200" y="5349240"/>
            <a:ext cx="420624" cy="420624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3492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24128" y="5276088"/>
            <a:ext cx="48737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 de la cota T2 ≤ 2T1 / The T2 ≤ 2T1 bound myth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63640" y="1764792"/>
            <a:ext cx="420624" cy="420624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7647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30568" y="1691640"/>
            <a:ext cx="48737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Conservación de traza en Lindblad / Trace preservation in Lindblad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263640" y="2660904"/>
            <a:ext cx="420624" cy="420624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26609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30568" y="2587752"/>
            <a:ext cx="48737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T1/T2 se mide primero / Why T1/T2 is measured first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263640" y="3557016"/>
            <a:ext cx="420624" cy="420624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5570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30568" y="3483864"/>
            <a:ext cx="48737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Desacoplamiento dinámico / Dynamical decoupling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263640" y="4453128"/>
            <a:ext cx="420624" cy="420624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44531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830568" y="4379976"/>
            <a:ext cx="48737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qutip.mesolve() — simulación / simulation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263640" y="5349240"/>
            <a:ext cx="420624" cy="420624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53492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30568" y="5276088"/>
            <a:ext cx="48737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qiskit_aer thermal_relaxation_error() — modelo de ruido / noise model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2926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 Exponential Decay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Decaimiento Exponencial de T1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566928"/>
          </a:xfrm>
          <a:prstGeom prst="roundRect">
            <a:avLst>
              <a:gd name="adj" fmla="val 16129"/>
            </a:avLst>
          </a:prstGeom>
          <a:solidFill>
            <a:srgbClr val="E9FB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07008"/>
            <a:ext cx="10908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/ Respuesta:  A — 1/e ≈ 0.368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— STEP-BY-STEP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539496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Excited-state population follows P₁(t) = P₁(0)·e^(−t/T1).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 = T1 (50 μs = 50 μs): P₁(T1) = P₁(0)·e^(−1).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Numerically e^(−1) ≈ 0.368 — the defining point of the curve.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half-life: half-life would use ln(2), not 1.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53912" y="197510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— PASO A PASO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53912" y="2304288"/>
            <a:ext cx="539496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población del estado excitado sigue P₁(t) = P₁(0)·e^(−t/T1).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 = T1 (50 μs = 50 μs): P₁(T1) = P₁(0)·e^(−1).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Numéricamente e^(−1) ≈ 0.368 — el punto que define la curva.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vida media: esa usaría ln(2), no 1.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5138928"/>
            <a:ext cx="11274552" cy="1444752"/>
          </a:xfrm>
          <a:prstGeom prst="roundRect">
            <a:avLst>
              <a:gd name="adj" fmla="val 7595"/>
            </a:avLst>
          </a:prstGeom>
          <a:solidFill>
            <a:srgbClr val="FDF1E1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5330952"/>
            <a:ext cx="457200" cy="457200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98448" y="5230368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 ·  POR QUÉ ES IMPORTANTE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98448" y="5504688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literally the calibration routine every real chip runs: labs fit exactly this exponential to raw decay data to report the T1 number that appears on every hardware spec sheet.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60167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rutina de calibración real de cualquier chip: los laboratorios ajustan exactamente esta exponencial a los datos crudos para reportar el T1 que aparece en toda hoja de especificaciones.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/ 10  ·  Noisy State Prep — T1/T2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2926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Amplitude-Damping Channel (σ−)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Amortiguamiento de Amplitud (σ−)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566928"/>
          </a:xfrm>
          <a:prstGeom prst="roundRect">
            <a:avLst>
              <a:gd name="adj" fmla="val 16129"/>
            </a:avLst>
          </a:prstGeom>
          <a:solidFill>
            <a:srgbClr val="E9FB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07008"/>
            <a:ext cx="10908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/ Respuesta:  A — Energy relaxation / Relajación de energía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— STEP-BY-STEP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539496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σ− is the lowering operator: σ−|1⟩ = |0⟩, σ−|0⟩ = 0.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moves the qubit from excited to ground — spontaneous emission.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√(1/T1) reproduces the e^(−t/T1) decay seen in Q1.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σz (not σ−) would model pure dephasing instead.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53912" y="197510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— PASO A PASO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53912" y="2304288"/>
            <a:ext cx="539496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σ− es el operador de bajada: σ−|1⟩ = |0⟩, σ−|0⟩ = 0.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 al qubit de excitado a fundamental — emisión espontánea.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tasa √(1/T1) reproduce el decaimiento e^(−t/T1) de la P1.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σz (no σ−) modelaría desfase puro en su lugar.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5138928"/>
            <a:ext cx="11274552" cy="1444752"/>
          </a:xfrm>
          <a:prstGeom prst="roundRect">
            <a:avLst>
              <a:gd name="adj" fmla="val 7595"/>
            </a:avLst>
          </a:prstGeom>
          <a:solidFill>
            <a:srgbClr val="FDF1E1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5330952"/>
            <a:ext cx="457200" cy="457200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98448" y="5230368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 ·  POR QUÉ ES IMPORTANTE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98448" y="5504688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the right jump operator is exactly what you must get right to write a correct noise model in QuTiP/Qiskit — the wrong operator simulates the wrong physical error entirely.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60167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operador de salto correcto es justo lo que se necesita para un modelo de ruido correcto en QuTiP/Qiskit — el operador equivocado simula un error físico totalmente distinto.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/ 10  ·  Noisy State Prep — T1/T2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2926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Algebra — Isolating Tφ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de Tasas — Aislando Tφ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566928"/>
          </a:xfrm>
          <a:prstGeom prst="roundRect">
            <a:avLst>
              <a:gd name="adj" fmla="val 16129"/>
            </a:avLst>
          </a:prstGeom>
          <a:solidFill>
            <a:srgbClr val="E9FB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07008"/>
            <a:ext cx="10908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/ Respuesta:  A — Tφ ≈ 85.7 μs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— STEP-BY-STEP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539496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1/Tφ = 1/T2 − 1/(2T1) = 1/60 − 1/200.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denominator 600: 10/600 − 3/600 = 7/600.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Invert: Tφ = 600/7 ≈ 85.7 μs.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check: Tφ &gt; T2, as required, since T2 ≤ Tφ and T2 ≤ 2T1.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53912" y="197510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— PASO A PASO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53912" y="2304288"/>
            <a:ext cx="539496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1/Tφ = 1/T2 − 1/(2T1) = 1/60 − 1/200.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Denominador común 600: 10/600 − 3/600 = 7/600.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Invertimos: Tφ = 600/7 ≈ 85.7 μs.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Verificación: Tφ &gt; T2, como se espera, pues T2 ≤ Tφ y T2 ≤ 2T1.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5138928"/>
            <a:ext cx="11274552" cy="1444752"/>
          </a:xfrm>
          <a:prstGeom prst="roundRect">
            <a:avLst>
              <a:gd name="adj" fmla="val 7595"/>
            </a:avLst>
          </a:prstGeom>
          <a:solidFill>
            <a:srgbClr val="FDF1E1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5330952"/>
            <a:ext cx="457200" cy="457200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98448" y="5230368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 ·  POR QUÉ ES IMPORTANTE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98448" y="5504688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Fabs report T1 and T2, but engineers need Tφ isolated to diagnose the real bottleneck: fix materials/energy loss, or shield against low-frequency flux/charge noise? This algebra is the diagnostic step.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60167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fábricas reportan T1 y T2, pero los ingenieros necesitan Tφ aislado para diagnosticar el cuello de botella real: ¿mejorar materiales o blindar contra ruido de flujo/carga de baja frecuencia? Este álgebra es el paso diagnóstico.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/ 10  ·  Noisy State Prep — T1/T2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2926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Pure-Dephasing Limit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Límite de Desfase Puro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566928"/>
          </a:xfrm>
          <a:prstGeom prst="roundRect">
            <a:avLst>
              <a:gd name="adj" fmla="val 16129"/>
            </a:avLst>
          </a:prstGeom>
          <a:solidFill>
            <a:srgbClr val="E9FB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07008"/>
            <a:ext cx="10908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/ Respuesta:  A — T2 = Tφ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— STEP-BY-STEP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539496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1/T2 = 1/(2T1) + 1/Tφ.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T1 → ∞: the term 1/(2T1) → 0.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reduces to 1/T2 = 1/Tφ, so T2 = Tφ.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factor of 2 survives — that factor lived only in the 1/(2T1) term.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53912" y="197510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— PASO A PASO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53912" y="2304288"/>
            <a:ext cx="539496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Partimos de 1/T2 = 1/(2T1) + 1/Tφ.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T1 → ∞: el término 1/(2T1) → 0.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ecuación se reduce a 1/T2 = 1/Tφ, entonces T2 = Tφ.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factor 2 sobrevive — vivía solo en el término 1/(2T1).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5138928"/>
            <a:ext cx="11274552" cy="1444752"/>
          </a:xfrm>
          <a:prstGeom prst="roundRect">
            <a:avLst>
              <a:gd name="adj" fmla="val 7595"/>
            </a:avLst>
          </a:prstGeom>
          <a:solidFill>
            <a:srgbClr val="FDF1E1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5330952"/>
            <a:ext cx="457200" cy="457200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98448" y="5230368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 ·  POR QUÉ ES IMPORTANTE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98448" y="5504688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limit is the theoretical ceiling: it tells engineers exactly how much of their T2 loss is 'fixable' by reducing energy relaxation versus how much is intrinsic dephasing noise they must engineer around separately.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60167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límite es el techo teórico: indica a los ingenieros cuánta pérdida de T2 es 'corregible' reduciendo la relajación de energía y cuánta es ruido de desfase intrínseco que debe atacarse por separado.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/ 10  ·  Noisy State Prep — T1/T2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2926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T2 ≤ 2T1 Bound Myth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Mito de la Cota T2 ≤ 2T1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566928"/>
          </a:xfrm>
          <a:prstGeom prst="roundRect">
            <a:avLst>
              <a:gd name="adj" fmla="val 16129"/>
            </a:avLst>
          </a:prstGeom>
          <a:solidFill>
            <a:srgbClr val="E9FB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07008"/>
            <a:ext cx="10908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/ Respuesta:  A — False / Falso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— STEP-BY-STEP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539496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inequality is T2 ≤ 2T1 — a bound tied to 2T1, not T1.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T1 = 50 μs allows T2 up to 100 μs.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T2 = 80 μs is valid and satisfies T2 &gt; T1 (80 &gt; 50).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approaches 2T1 exactly when dephasing is negligible (Tφ large).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53912" y="197510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— PASO A PASO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53912" y="2304288"/>
            <a:ext cx="539496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desigualdad real es T2 ≤ 2T1 — cota ligada a 2T1, no a T1.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T1 = 50 μs permite T2 hasta 100 μs.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Así, T2 = 80 μs es válido y cumple T2 &gt; T1 (80 &gt; 50).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se acerca a 2T1 justamente cuando el desfase es despreciable (Tφ grande).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5138928"/>
            <a:ext cx="11274552" cy="1444752"/>
          </a:xfrm>
          <a:prstGeom prst="roundRect">
            <a:avLst>
              <a:gd name="adj" fmla="val 7595"/>
            </a:avLst>
          </a:prstGeom>
          <a:solidFill>
            <a:srgbClr val="FDF1E1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5330952"/>
            <a:ext cx="457200" cy="457200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98448" y="5230368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 ·  POR QUÉ ES IMPORTANTE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98448" y="5504688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 distinction, an engineer reading a real datasheet with T2 &gt; T1 might wrongly flag it as a measurement error — correctly interpreting vendor specs depends on knowing the true bound is 2T1.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60167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esta distinción, un ingeniero que lea una hoja de datos real con T2 &gt; T1 podría marcarla erróneamente como un error de medición — interpretar bien las especificaciones depende de saber que la cota real es 2T1.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/ 10  ·  Noisy State Prep — T1/T2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2926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Preservation in Lindblad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Conservación de Traza en Lindblad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566928"/>
          </a:xfrm>
          <a:prstGeom prst="roundRect">
            <a:avLst>
              <a:gd name="adj" fmla="val 16129"/>
            </a:avLst>
          </a:prstGeom>
          <a:solidFill>
            <a:srgbClr val="E9FB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07008"/>
            <a:ext cx="10908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/ Respuesta:  A — Yes, always / Sí, siempre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— STEP-BY-STEP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539496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Dissipator: D(ρ) = Σk (LkρLk† − {Lk†Lk,ρ}/2).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Tr([H,ρ]) = 0 always, by the cyclic property of the trace.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Tr(LkρLk†) = Tr(Lk†Lkρ) cancels exactly against the anticommutator term.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Tr(D(ρ)) = 0 for ANY choice of jump operators Lk.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53912" y="197510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— PASO A PASO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53912" y="2304288"/>
            <a:ext cx="539496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Disipador: D(ρ) = Σk (LkρLk† − {Lk†Lk,ρ}/2).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Tr([H,ρ]) = 0 siempre, por la propiedad cíclica de la traza.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Tr(LkρLk†) = Tr(Lk†Lkρ) cancela exactamente al término anticonmutador.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Entonces Tr(D(ρ)) = 0 para CUALQUIER elección de operadores Lk.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5138928"/>
            <a:ext cx="11274552" cy="1444752"/>
          </a:xfrm>
          <a:prstGeom prst="roundRect">
            <a:avLst>
              <a:gd name="adj" fmla="val 7595"/>
            </a:avLst>
          </a:prstGeom>
          <a:solidFill>
            <a:srgbClr val="FDF1E1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5330952"/>
            <a:ext cx="457200" cy="457200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98448" y="5230368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 ·  POR QUÉ ES IMPORTANTE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98448" y="5504688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guarantee is why physicists trust Lindblad simulations at all: if probability could leak out of the model, every fidelity number your simulation reports would be physically meaningless.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60167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garantía es la razón por la que se confía en las simulaciones de Lindblad: si la probabilidad pudiera 'filtrarse', cada número de fidelidad reportado por la simulación sería físicamente sin sentido.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/ 10  ·  Noisy State Prep — T1/T2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2926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T1/T2 Is Measured First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T1/T2 Se Mide Primero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566928"/>
          </a:xfrm>
          <a:prstGeom prst="roundRect">
            <a:avLst>
              <a:gd name="adj" fmla="val 16129"/>
            </a:avLst>
          </a:prstGeom>
          <a:solidFill>
            <a:srgbClr val="E9FB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07008"/>
            <a:ext cx="10908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/ Respuesta:  A — Sets the usable computation time budget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— STEP-BY-STEP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539496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algorithm needs a gate sequence to finish within a finite window.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bounds population survival; T2 bounds phase-coherence survival.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circuit runtime approaches T1/T2, information is lost mid-computation.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T1/T2 are simple, standard pulse-sequence measurements — the fastest signal of platform quality.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53912" y="197510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— PASO A PASO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53912" y="2304288"/>
            <a:ext cx="539496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algoritmo necesita que la secuencia de puertas termine en tiempo finito.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acota la supervivencia de población; T2 la de coherencia de fase.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tiempo del circuito se acerca a T1/T2, se pierde información a mitad del cálculo.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T1/T2 se miden con secuencias de pulsos simples — la señal más rápida de calidad de la plataforma.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5138928"/>
            <a:ext cx="11274552" cy="1444752"/>
          </a:xfrm>
          <a:prstGeom prst="roundRect">
            <a:avLst>
              <a:gd name="adj" fmla="val 7595"/>
            </a:avLst>
          </a:prstGeom>
          <a:solidFill>
            <a:srgbClr val="FDF1E1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5330952"/>
            <a:ext cx="457200" cy="457200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98448" y="5230368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 ·  POR QUÉ ES IMPORTANTE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98448" y="5504688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first number published whenever a new qubit modality is announced (superconducting, trapped ion, neutral atom...) — investors and researchers use it as the primary cross-platform comparison metric before any circuit even runs.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60167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primer número publicado al anunciar una nueva modalidad de qubit (superconductor, ion trap, átomo neutro...) — inversores e investigadores lo usan como la métrica principal de comparación entre plataformas antes de correr un solo circuito.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/ 10  ·  Noisy State Prep — T1/T2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2926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Dynamical Decoupling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Desacoplamiento Dinámico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566928"/>
          </a:xfrm>
          <a:prstGeom prst="roundRect">
            <a:avLst>
              <a:gd name="adj" fmla="val 16129"/>
            </a:avLst>
          </a:prstGeom>
          <a:solidFill>
            <a:srgbClr val="E9FB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07008"/>
            <a:ext cx="10908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/ Respuesta:  A — Extends effective T2 by refocusing noise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— STEP-BY-STEP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539496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of Tφ comes from slow (low-frequency) environmental drift.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π pulse (e.g. Hahn echo) inverts phase accumulation mid-interval.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drift is slow, phase 'unwinds' in the second half — partial cancellation.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longer observed coherence without touching T1 or the hardware.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53912" y="197510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— PASO A PASO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53912" y="2304288"/>
            <a:ext cx="539496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parte de Tφ proviene de deriva ambiental lenta (baja frecuencia).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pulso π (ej. eco de Hahn) invierte la acumulación de fase a mitad del intervalo.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deriva es lenta, la fase se 'desenrolla' en la segunda mitad — cancelación parcial.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neto: coherencia observada más larga, sin tocar T1 ni el hardware.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5138928"/>
            <a:ext cx="11274552" cy="1444752"/>
          </a:xfrm>
          <a:prstGeom prst="roundRect">
            <a:avLst>
              <a:gd name="adj" fmla="val 7595"/>
            </a:avLst>
          </a:prstGeom>
          <a:solidFill>
            <a:srgbClr val="FDF1E1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5330952"/>
            <a:ext cx="457200" cy="457200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98448" y="5230368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 ·  POR QUÉ ES IMPORTANTE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98448" y="5504688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sequences run today, live, on IBM and Google hardware during idle qubit time inside real circuits — a control/software fix that buys extra usable computation without any chip redesign.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60167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secuencias corren hoy, en vivo, en hardware de IBM y Google durante los tiempos de espera de qubits en circuitos reales — una solución de control/software que compra tiempo de cómputo extra sin rediseñar el chip.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/ 10  ·  Noisy State Prep — T1/T2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2926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qutip.mesolve() — Simulating Lindblad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qutip.mesolve() — Simulando Lindblad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566928"/>
          </a:xfrm>
          <a:prstGeom prst="roundRect">
            <a:avLst>
              <a:gd name="adj" fmla="val 16129"/>
            </a:avLst>
          </a:prstGeom>
          <a:solidFill>
            <a:srgbClr val="E9FB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07008"/>
            <a:ext cx="10908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/ Respuesta:  A — qutip.mesolve()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— STEP-BY-STEP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539496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H, ρ0, time list, and c_ops (the Lk collapse operators).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exactly dρ/dt = −i[H,ρ]/ℏ + Σk(LkρLk† − {Lk†Lk,ρ}/2).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c_ops → reduces to unitary evolution (like sesolve()).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sesolve() can't take c_ops; Bloch() only visualizes; correlation() is post-processing.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53912" y="197510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— PASO A PASO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53912" y="2304288"/>
            <a:ext cx="539496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H, ρ0, lista de tiempos y c_ops (los operadores de colapso Lk).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exactamente dρ/dt = −i[H,ρ]/ℏ + Σk(LkρLk† − {Lk†Lk,ρ}/2).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c_ops vacío → se reduce a evolución unitaria (como sesolve()).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sesolve() no acepta c_ops; Bloch() solo visualiza; correlation() es post-procesamiento.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5138928"/>
            <a:ext cx="11274552" cy="1444752"/>
          </a:xfrm>
          <a:prstGeom prst="roundRect">
            <a:avLst>
              <a:gd name="adj" fmla="val 7595"/>
            </a:avLst>
          </a:prstGeom>
          <a:solidFill>
            <a:srgbClr val="FDF1E1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5330952"/>
            <a:ext cx="457200" cy="457200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98448" y="5230368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 ·  POR QUÉ ES IMPORTANTE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98448" y="5504688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function used in this week's lab: it's the bridge between the Lindblad theory written on the whiteboard and the T1/T2 decay curves you'll actually generate on your computer.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60167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función exacta usada en el laboratorio de esta semana: es el puente entre la teoría de Lindblad del pizarrón y las curvas de decaimiento T1/T2 que realmente generarás en tu computador.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/ 10  ·  Noisy State Prep — T1/T2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2926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Qiskit Aer thermal_relaxation_error()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Aer thermal_relaxation_error()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566928"/>
          </a:xfrm>
          <a:prstGeom prst="roundRect">
            <a:avLst>
              <a:gd name="adj" fmla="val 16129"/>
            </a:avLst>
          </a:prstGeom>
          <a:solidFill>
            <a:srgbClr val="E9FB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07008"/>
            <a:ext cx="10908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/ Respuesta:  A — thermal_relaxation_error()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— STEP-BY-STEP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539496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t1, t2, and gate/operation duration — the exact physical parameters of this class.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a NoiseModel and attached to instructions/qubits.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Reproduces the same e^(−t/T1), e^(−t/T2) decay derived analytically in Q1–Q4.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depolarizing_error() is isotropic — can't separate T1 from T2; barrier()/transpile() add no noise at all.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53912" y="197510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— PASO A PASO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53912" y="2304288"/>
            <a:ext cx="539496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construye con t1, t2 y la duración de la puerta — los mismos parámetros físicos de esta clase.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añade a un NoiseModel y se asocia a instrucciones/qubits.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el mismo decaimiento e^(−t/T1), e^(−t/T2) derivado analíticamente en Q1–Q4.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depolarizing_error() es isotrópico — no separa T1 de T2; barrier()/transpile() no añaden ruido alguno.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5138928"/>
            <a:ext cx="11274552" cy="1444752"/>
          </a:xfrm>
          <a:prstGeom prst="roundRect">
            <a:avLst>
              <a:gd name="adj" fmla="val 7595"/>
            </a:avLst>
          </a:prstGeom>
          <a:solidFill>
            <a:srgbClr val="FDF1E1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5330952"/>
            <a:ext cx="457200" cy="457200"/>
          </a:xfrm>
          <a:prstGeom prst="ellipse">
            <a:avLst/>
          </a:prstGeom>
          <a:solidFill>
            <a:srgbClr val="F2A34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98448" y="5230368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2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 ·  POR QUÉ ES IMPORTANTE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98448" y="5504688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IBM Qiskit Developer Certification exam topic and the exact function used to make Aer simulations behave like real noisy hardware — essential for benchmarking any algorithm before it runs on a real IBM Q backend.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60167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un tema de la Certificación IBM Qiskit Developer y la función exacta para que las simulaciones de Aer se comporten como hardware ruidoso real — esencial para evaluar cualquier algoritmo antes de correrlo en un backend real de IBM Q.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/ 10  ·  Noisy State Prep — T1/T2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3291840" cy="3291840"/>
          </a:xfrm>
          <a:prstGeom prst="ellipse">
            <a:avLst/>
          </a:prstGeom>
          <a:solidFill>
            <a:srgbClr val="00C2CB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Respuestas / Answer Key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 de práctica, la opción A fue correcta en las 10 preguntas — un patrón de este set, no una regla general de examen.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4937760"/>
        </p:xfrm>
        <a:graphic>
          <a:graphicData uri="http://schemas.openxmlformats.org/drawingml/2006/table">
            <a:tbl>
              <a:tblPr/>
              <a:tblGrid>
                <a:gridCol w="1005840"/>
                <a:gridCol w="4937760"/>
                <a:gridCol w="493776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1/e ≈ 0.368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Decaimiento T1 / T1 decay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Amortiguamiento de amplitud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Amplitude damping (σ−)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Tφ ≈ 85.7 μs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Álgebra de tasas / Rate algebra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= Tφ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 de desfase puro / Pure-dephasing limit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Falso / False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puede exceder T1 (hasta 2T1)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Sí, siempre / Yes, always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Traza preservada / Trace preserved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Fija el presupuesto de cómputo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budget for computation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Extiende T2 efectivo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Extends effective T2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qutip.mesolve()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Solucionador de ec. maestra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thermal_relaxation_error()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de ruido T1/T2 en Aer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2026-08-05T17:11:55Z</dcterms:created>
  <dcterms:modified xsi:type="dcterms:W3CDTF">2026-08-05T17:11:55Z</dcterms:modified>
</cp:coreProperties>
</file>